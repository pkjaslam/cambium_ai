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Cambium Academy. This is Course 1, Intro to AI. In about an hour you will understand what AI actually is, how models like ChatGPT and Claude work under the hood, how they are trained, and which model to pick for any job. Everything is free, there is a quiz at the end, and you earn a certificate when you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promise before we start. You need no math, no programming, and no prior AI knowledge. A browser, about ninety minutes, and zero dollars. That is the whole entry 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deal we are making. By the end you can explain AI simply, picture what happens inside a model, describe how models get trained, name the major models of 2026, and choose the right one for any task you actually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we will take. Six short modules, about an hour of content. Then a twenty question quiz. Pass at seventy percent and you print your certificate immediately. No account, no email, no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one. Let us pin down what artificial intelligence actually means, because the term gets thrown around loosely.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idea in one sentence. AI is software that learns patterns from examples and uses them to make useful guesses about new things. Compare that with traditional software, where a person writes every rule by hand. With machine learning you show the computer a million examples and it works out the rules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terms get mixed up constantly, so here is the family tree. AI is the broadest term. Machine learning is the approach that dominates today. Deep learning is machine learning built on many-layered neural networks. And generative AI, the newest child, is deep learning that creates things: text, images, audio, video. ChatGPT, Claude, and Gemini all live in that innermost circle.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research started in the nineteen fifties, so the field is older than the internet. Deep Blue beat Kasparov in ninety seven. Deep learning took off in twenty twelve. Then in twenty seventeen Google published the transformer architecture, and that single invention set up the ChatGPT moment of twenty twenty two. Today AI assistants sit in about a billion pockets. The technology is old. The scale is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reframe before we go deeper. You already use AI every day. Spam filters, phone cameras, map routing, autocomplete, recommendations, voice assistants. All machine learning. Chatbots are just the newest and chattiest face of a technology you have trusted for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two. Time to open the hood. No math, I promise. Just three ideas: prediction, tokens, and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a chatbot does comes from one trick: predict the next word. The capital of France is, blank. Paris, ninety seven percent. Predict a word, append it, predict again, thousands of times. To get really good at this game on trillions of words, the model is forced to absorb grammar, facts, and reasoning patterns. Essays and code emerge from that single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do not see words or letters. Text gets chopped into tokens, chunks of roughly three quarters of a word, and each token becomes a number. Two things follow. Models have a token budget called the context window. And tokens are the currency of AI: pricing and speed are measured in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the model is a neural network. Picture columns of tiny dials, billions of them, each holding one number called a weight. Training works like this: the model guesses, the guess is scored, and every dial gets a microscopic nudge so the right answer comes out stronger next time. Repeat trillions of times and fluency emerges. Nobody hand-writes any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twenty seventeen Google researchers published a design called the transformer, built on a mechanism called attention. Every word learns which other words to pay attention to. The trophy did not fit in the suitcase because it was too big. Attention correctly links it to trophy. And because transformers read everything in parallel, training on internet-scale data became practical. That is the T in GPT.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model's working memory is its context window, measured in tokens. Typical models hold a couple hundred thousand tokens, about a novel. Claude and Gemini offer million-token tiers. Meta advertises ten million on Llama 4 Scout, though independent testing finds about half of that reliably usable. Practical tip: when the window fills, the oldest content silently falls out. If a long chat gets forgetful, start fresh.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three. Where does a model actually come from? The recipe has four steps, and you can summarize it as: read everything, learn the job, learn manners.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Gather trillions of words. Pretrain by playing predict-the-next-token on all of it, which builds a brilliant autocomplete that knows language and facts but has no manners. Then fine-tune it on example conversations so it follows instructions. Finally, human feedback: real people rank candidate answers and the model learns what helpful, honest, and safe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Pretraining is the expensive part. Months of continuous compute, tens of thousands of specialized chips, and estimated costs above a hundred million dollars for a single frontier run. That is why only a handful of labs play at this level. But the efficiency race is real: in twenty twenty six, open models like DeepSeek V4 deliver near-frontier results at roughly a tenth of the serving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why the polishing steps matter. Ask a raw base model how to bake bread and it may reply, asked Jim, who had baked for years. It is not being rude. It is autocompleting, because that is all it knows. After fine-tuning and human feedback, the same network answers the question, declines harmful requests, and admits uncertainty. That finishing school is why chatbots feel like assistants.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most important limitation. A language model always produces the most plausible next words. Plausible is not the same as true. When it hits a gap in its knowledge, it fills the gap smoothly, sometimes inventing names, dates, and citations. This is called hallucination. Search and reasoning features reduce it, but nothing eliminates it. So carry one rule out of this course: trust, but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four, the tour of who makes what in July twenty twenty six. One warning: this is the fastest-moving slide deck you will ever see. Names change monthly. The two philosophies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model you meet falls on one side of a line. Closed weights: you use it as a service and the recipe stays secret. GPT, Claude, Gemini. Open weights: you can download the actual model and run it on your own machine. Llama, DeepSeek, Qwen, Mistral. Closed usually buys polish and peak performance. Open buys freedom, privacy, and zero cost. Both philosophies are thriving in twenty twenty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frontier three in the United States. OpenAI ships GPT five point five with five point six rolling out this month, the most used AI on the planet. Anthropic's Claude is prized for careful long-form work and coding, and its new Sonnet five just became the free default. Google's Gemini is woven through Search, Docs, and Gmail and gives away the broadest free tier. All three are excellent for everyday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more heavyweights. Meta surprised everyone by making its new flagship, Muse Spark, closed weight, while keeping the open Llama four line alive, free inside WhatsApp and Instagram. Grok from xAI taps live X data. DeepSeek proved open models can match the frontier at a tenth of the cost. And Mistral carries the flag for Europe with the largest fully open Western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open-weights wave is led from Asia right now. Alibaba's Qwen family comes in every size. Moonshot's Kimi is a trillion-parameter coding favorite. And GLM five point two is MIT licensed with a million-token window. One honest caveat: their hosted apps fall under Chinese data rules, so for sensitive work, download the weights and run them locally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to feel the scale. The ChatGPT app passed a billion monthly users in June, the fastest app in history to get there. Gemini passed nine hundred million. One Google image tool generated five billion images in about two months. And Anthropic was valued at nearly a trillion dollars in May. This is why every industry is paying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open weights exist, you can run a real model on your own computer. Install a free app called Ollama, pick a small model like Qwen three, and you have a private assistant that works offline and costs nothing. Honest trade-off: local models are clearly weaker than the frontier ones. Ideal for private material and learning, not for your hardest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five, the practical payoff. People ask which AI is best. Wrong question. The right question is: best for what? Here is the cheat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of the cheat sheet, the word-and-work jobs. Everyday writing: ChatGPT's free tier is excellent, and many prefer Claude's more natural writing voice. Coding: Claude leads, with DeepSeek and Kimi as strong free options. Research with sources: Perplexity cites as it answers, and Gemini's Deep Research writes full reports. Long documents: reach for the million-token models, Claude or Gemini.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media and privacy. Images: Google's Nano Banana tool is free and shockingly good, with Midjourney the paid pick for art direction. Video: Veo three point one leads on quality, Kling on price. Voice: ElevenLabs. Privacy: run Qwen or Gemma locally through Ollama. And if you just want one free pick, Gemini's free tier is the broadest today, with ChatGPT right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in doubt, four questions beat any leaderboard. Is the data sensitive? Go local or use a plan with training off. Need sources you can check? Use a citing research tool. Is the input huge? Big context model. Otherwise, honestly, any of the big three free tiers is excellent. And the best advice in this whole course: pick one model and learn it deeply. Skill compounds. Tool-hopping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module. You now know how these systems work. Let us close with how to use them well, because the difference between an AI power user and everyone else is habits, not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habits separate power users from everyone else. Verify before you rely. Guard private data. Keep the judgment yourself, AI accelerates but you decide. Disclose AI help where it matters. And reassess monthly, because models leapfrog each other all the time. None of these require technical skill. All of them require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parting gift and a teaser for next week. Most prompt advice fits in four moves. Give the AI a role. Give it context. State the task precisely. And say what format you want back. That one habit doubles the quality of answers from any model. Course two, Prompting Essentials, goes deep on this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course lit a spark, here is where to go next, all free and all verified by hand this month. CGP Grey for a five minute mental model. Karpathy's one hour intro. Three Blue One Brown for gorgeous visuals. Elements of AI and AI for Everyone for structured courses. The links live on the course resources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course. You now understand AI better than most people using it daily. The quiz link is on the course page, twenty questions, pass at seventy percent, and your certificate prints on the spot. Next week, course two, Prompting Essentials. I will see you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slideLayout" Target="../slideLayouts/slideLayout1.xml"/><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D24"/>
        </a:solidFill>
      </p:bgPr>
    </p:bg>
    <p:spTree>
      <p:nvGrpSpPr>
        <p:cNvPr id="1" name=""/>
        <p:cNvGrpSpPr/>
        <p:nvPr/>
      </p:nvGrpSpPr>
      <p:grpSpPr>
        <a:xfrm>
          <a:off x="0" y="0"/>
          <a:ext cx="0" cy="0"/>
          <a:chOff x="0" y="0"/>
          <a:chExt cx="0" cy="0"/>
        </a:xfrm>
      </p:grpSpPr>
      <p:sp>
        <p:nvSpPr>
          <p:cNvPr id="2" name="Text 0"/>
          <p:cNvSpPr/>
          <p:nvPr/>
        </p:nvSpPr>
        <p:spPr>
          <a:xfrm>
            <a:off x="548640" y="960120"/>
            <a:ext cx="8046720" cy="320040"/>
          </a:xfrm>
          <a:prstGeom prst="rect">
            <a:avLst/>
          </a:prstGeom>
          <a:noFill/>
          <a:ln/>
        </p:spPr>
        <p:txBody>
          <a:bodyPr wrap="square" lIns="0" tIns="0" rIns="0" bIns="0" rtlCol="0" anchor="ctr"/>
          <a:lstStyle/>
          <a:p>
            <a:pPr indent="0" marL="0">
              <a:buNone/>
            </a:pPr>
            <a:r>
              <a:rPr lang="en-US" sz="1300" b="1" spc="400" kern="0" dirty="0">
                <a:solidFill>
                  <a:srgbClr val="97BC62"/>
                </a:solidFill>
                <a:latin typeface="Calibri" pitchFamily="34" charset="0"/>
                <a:ea typeface="Calibri" pitchFamily="34" charset="-122"/>
                <a:cs typeface="Calibri" pitchFamily="34" charset="-120"/>
              </a:rPr>
              <a:t>CAMBIUM ACADEMY · COURSE 01</a:t>
            </a:r>
            <a:endParaRPr lang="en-US" sz="1300" dirty="0"/>
          </a:p>
        </p:txBody>
      </p:sp>
      <p:sp>
        <p:nvSpPr>
          <p:cNvPr id="3" name="Text 1"/>
          <p:cNvSpPr/>
          <p:nvPr/>
        </p:nvSpPr>
        <p:spPr>
          <a:xfrm>
            <a:off x="548640" y="1371600"/>
            <a:ext cx="8046720" cy="96012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Intro to AI</a:t>
            </a:r>
            <a:endParaRPr lang="en-US" sz="6000" dirty="0"/>
          </a:p>
        </p:txBody>
      </p:sp>
      <p:sp>
        <p:nvSpPr>
          <p:cNvPr id="4" name="Text 2"/>
          <p:cNvSpPr/>
          <p:nvPr/>
        </p:nvSpPr>
        <p:spPr>
          <a:xfrm>
            <a:off x="548640" y="2514600"/>
            <a:ext cx="7132320" cy="457200"/>
          </a:xfrm>
          <a:prstGeom prst="rect">
            <a:avLst/>
          </a:prstGeom>
          <a:noFill/>
          <a:ln/>
        </p:spPr>
        <p:txBody>
          <a:bodyPr wrap="square" lIns="0" tIns="0" rIns="0" bIns="0" rtlCol="0" anchor="ctr"/>
          <a:lstStyle/>
          <a:p>
            <a:pPr indent="0" marL="0">
              <a:buNone/>
            </a:pPr>
            <a:r>
              <a:rPr lang="en-US" sz="2000" i="1" dirty="0">
                <a:solidFill>
                  <a:srgbClr val="CFE3BF"/>
                </a:solidFill>
                <a:latin typeface="Cambria" pitchFamily="34" charset="0"/>
                <a:ea typeface="Cambria" pitchFamily="34" charset="-122"/>
                <a:cs typeface="Cambria" pitchFamily="34" charset="-120"/>
              </a:rPr>
              <a:t>How AI works, how it is trained, and which model to use</a:t>
            </a:r>
            <a:endParaRPr lang="en-US" sz="2000" dirty="0"/>
          </a:p>
        </p:txBody>
      </p:sp>
      <p:sp>
        <p:nvSpPr>
          <p:cNvPr id="5" name="Shape 3"/>
          <p:cNvSpPr/>
          <p:nvPr/>
        </p:nvSpPr>
        <p:spPr>
          <a:xfrm>
            <a:off x="548640" y="3291840"/>
            <a:ext cx="868680" cy="868680"/>
          </a:xfrm>
          <a:prstGeom prst="ellipse">
            <a:avLst/>
          </a:prstGeom>
          <a:solidFill>
            <a:srgbClr val="FFFFFF"/>
          </a:solidFill>
          <a:ln/>
        </p:spPr>
      </p:sp>
      <p:pic>
        <p:nvPicPr>
          <p:cNvPr id="6" name="Image 0" descr="/sessions/jolly-optimistic-euler/build/logo-mark.png">    </p:cNvPr>
          <p:cNvPicPr>
            <a:picLocks noChangeAspect="1"/>
          </p:cNvPicPr>
          <p:nvPr/>
        </p:nvPicPr>
        <p:blipFill>
          <a:blip r:embed="rId1"/>
          <a:stretch>
            <a:fillRect/>
          </a:stretch>
        </p:blipFill>
        <p:spPr>
          <a:xfrm>
            <a:off x="603504" y="3346704"/>
            <a:ext cx="758952" cy="758952"/>
          </a:xfrm>
          <a:prstGeom prst="rect">
            <a:avLst/>
          </a:prstGeom>
        </p:spPr>
      </p:pic>
      <p:sp>
        <p:nvSpPr>
          <p:cNvPr id="7" name="Text 4"/>
          <p:cNvSpPr/>
          <p:nvPr/>
        </p:nvSpPr>
        <p:spPr>
          <a:xfrm>
            <a:off x="1600200" y="3566160"/>
            <a:ext cx="6217920" cy="365760"/>
          </a:xfrm>
          <a:prstGeom prst="rect">
            <a:avLst/>
          </a:prstGeom>
          <a:noFill/>
          <a:ln/>
        </p:spPr>
        <p:txBody>
          <a:bodyPr wrap="square" lIns="0" tIns="0" rIns="0" bIns="0" rtlCol="0" anchor="ctr"/>
          <a:lstStyle/>
          <a:p>
            <a:pPr indent="0" marL="0">
              <a:buNone/>
            </a:pPr>
            <a:r>
              <a:rPr lang="en-US" sz="1300" dirty="0">
                <a:solidFill>
                  <a:srgbClr val="CFE3BF"/>
                </a:solidFill>
                <a:latin typeface="Calibri" pitchFamily="34" charset="0"/>
                <a:ea typeface="Calibri" pitchFamily="34" charset="-122"/>
                <a:cs typeface="Calibri" pitchFamily="34" charset="-120"/>
              </a:rPr>
              <a:t>Free forever. No signup. </a:t>
            </a:r>
            <a:pPr indent="0" marL="0">
              <a:buNone/>
            </a:pPr>
            <a:r>
              <a:rPr lang="en-US" sz="1300" b="1" dirty="0">
                <a:solidFill>
                  <a:srgbClr val="97BC62"/>
                </a:solidFill>
                <a:latin typeface="Calibri" pitchFamily="34" charset="0"/>
                <a:ea typeface="Calibri" pitchFamily="34" charset="-122"/>
                <a:cs typeface="Calibri" pitchFamily="34" charset="-120"/>
              </a:rPr>
              <a:t>cambium ai research institution</a:t>
            </a:r>
            <a:endParaRPr lang="en-US" sz="1300" dirty="0"/>
          </a:p>
        </p:txBody>
      </p:sp>
      <p:sp>
        <p:nvSpPr>
          <p:cNvPr id="8" name="Text 5"/>
          <p:cNvSpPr/>
          <p:nvPr/>
        </p:nvSpPr>
        <p:spPr>
          <a:xfrm>
            <a:off x="548640" y="4617720"/>
            <a:ext cx="8046720" cy="274320"/>
          </a:xfrm>
          <a:prstGeom prst="rect">
            <a:avLst/>
          </a:prstGeom>
          <a:noFill/>
          <a:ln/>
        </p:spPr>
        <p:txBody>
          <a:bodyPr wrap="square" lIns="0" tIns="0" rIns="0" bIns="0" rtlCol="0" anchor="ctr"/>
          <a:lstStyle/>
          <a:p>
            <a:pPr indent="0" marL="0">
              <a:buNone/>
            </a:pPr>
            <a:r>
              <a:rPr lang="en-US" sz="1050" dirty="0">
                <a:solidFill>
                  <a:srgbClr val="7FA06F"/>
                </a:solidFill>
                <a:latin typeface="Calibri" pitchFamily="34" charset="0"/>
                <a:ea typeface="Calibri" pitchFamily="34" charset="-122"/>
                <a:cs typeface="Calibri" pitchFamily="34" charset="-120"/>
              </a:rPr>
              <a:t>July 2026 edition. The AI world moves fast, so facts carry dates.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WELCOME</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3100" b="1" dirty="0">
                <a:solidFill>
                  <a:srgbClr val="1F2A20"/>
                </a:solidFill>
                <a:latin typeface="Cambria" pitchFamily="34" charset="0"/>
                <a:ea typeface="Cambria" pitchFamily="34" charset="-122"/>
                <a:cs typeface="Cambria" pitchFamily="34" charset="-120"/>
              </a:rPr>
              <a:t>This course was built for beginners</a:t>
            </a:r>
            <a:endParaRPr lang="en-US" sz="3100" dirty="0"/>
          </a:p>
        </p:txBody>
      </p:sp>
      <p:sp>
        <p:nvSpPr>
          <p:cNvPr id="4" name="Shape 2"/>
          <p:cNvSpPr/>
          <p:nvPr/>
        </p:nvSpPr>
        <p:spPr>
          <a:xfrm>
            <a:off x="548640" y="1600200"/>
            <a:ext cx="420624" cy="420624"/>
          </a:xfrm>
          <a:prstGeom prst="ellipse">
            <a:avLst/>
          </a:prstGeom>
          <a:solidFill>
            <a:srgbClr val="F0F5EC"/>
          </a:solidFill>
          <a:ln/>
        </p:spPr>
      </p:sp>
      <p:pic>
        <p:nvPicPr>
          <p:cNvPr id="5" name="Image 0" descr="preencoded.png">    </p:cNvPr>
          <p:cNvPicPr>
            <a:picLocks noChangeAspect="1"/>
          </p:cNvPicPr>
          <p:nvPr/>
        </p:nvPicPr>
        <p:blipFill>
          <a:blip r:embed="rId1"/>
          <a:stretch>
            <a:fillRect/>
          </a:stretch>
        </p:blipFill>
        <p:spPr>
          <a:xfrm>
            <a:off x="658002" y="1709562"/>
            <a:ext cx="201900" cy="201900"/>
          </a:xfrm>
          <a:prstGeom prst="rect">
            <a:avLst/>
          </a:prstGeom>
        </p:spPr>
      </p:pic>
      <p:sp>
        <p:nvSpPr>
          <p:cNvPr id="6" name="Text 3"/>
          <p:cNvSpPr/>
          <p:nvPr/>
        </p:nvSpPr>
        <p:spPr>
          <a:xfrm>
            <a:off x="1115568" y="1527048"/>
            <a:ext cx="373075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No background needed</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If you can use a web browser, you are qualified.</a:t>
            </a:r>
            <a:endParaRPr lang="en-US" sz="1350" dirty="0"/>
          </a:p>
        </p:txBody>
      </p:sp>
      <p:sp>
        <p:nvSpPr>
          <p:cNvPr id="7" name="Shape 4"/>
          <p:cNvSpPr/>
          <p:nvPr/>
        </p:nvSpPr>
        <p:spPr>
          <a:xfrm>
            <a:off x="548640" y="2468880"/>
            <a:ext cx="420624" cy="420624"/>
          </a:xfrm>
          <a:prstGeom prst="ellipse">
            <a:avLst/>
          </a:prstGeom>
          <a:solidFill>
            <a:srgbClr val="F0F5EC"/>
          </a:solidFill>
          <a:ln/>
        </p:spPr>
      </p:sp>
      <p:pic>
        <p:nvPicPr>
          <p:cNvPr id="8" name="Image 1" descr="preencoded.png">    </p:cNvPr>
          <p:cNvPicPr>
            <a:picLocks noChangeAspect="1"/>
          </p:cNvPicPr>
          <p:nvPr/>
        </p:nvPicPr>
        <p:blipFill>
          <a:blip r:embed="rId2"/>
          <a:stretch>
            <a:fillRect/>
          </a:stretch>
        </p:blipFill>
        <p:spPr>
          <a:xfrm>
            <a:off x="658002" y="2578242"/>
            <a:ext cx="201900" cy="201900"/>
          </a:xfrm>
          <a:prstGeom prst="rect">
            <a:avLst/>
          </a:prstGeom>
        </p:spPr>
      </p:pic>
      <p:sp>
        <p:nvSpPr>
          <p:cNvPr id="9" name="Text 5"/>
          <p:cNvSpPr/>
          <p:nvPr/>
        </p:nvSpPr>
        <p:spPr>
          <a:xfrm>
            <a:off x="1115568" y="2395728"/>
            <a:ext cx="373075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No math, no code</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We build intuition with pictures and plain English.</a:t>
            </a:r>
            <a:endParaRPr lang="en-US" sz="1350" dirty="0"/>
          </a:p>
        </p:txBody>
      </p:sp>
      <p:sp>
        <p:nvSpPr>
          <p:cNvPr id="10" name="Shape 6"/>
          <p:cNvSpPr/>
          <p:nvPr/>
        </p:nvSpPr>
        <p:spPr>
          <a:xfrm>
            <a:off x="548640" y="3337560"/>
            <a:ext cx="420624" cy="420624"/>
          </a:xfrm>
          <a:prstGeom prst="ellipse">
            <a:avLst/>
          </a:prstGeom>
          <a:solidFill>
            <a:srgbClr val="F0F5EC"/>
          </a:solidFill>
          <a:ln/>
        </p:spPr>
      </p:sp>
      <p:pic>
        <p:nvPicPr>
          <p:cNvPr id="11" name="Image 2" descr="preencoded.png">    </p:cNvPr>
          <p:cNvPicPr>
            <a:picLocks noChangeAspect="1"/>
          </p:cNvPicPr>
          <p:nvPr/>
        </p:nvPicPr>
        <p:blipFill>
          <a:blip r:embed="rId3"/>
          <a:stretch>
            <a:fillRect/>
          </a:stretch>
        </p:blipFill>
        <p:spPr>
          <a:xfrm>
            <a:off x="658002" y="3446922"/>
            <a:ext cx="201900" cy="201900"/>
          </a:xfrm>
          <a:prstGeom prst="rect">
            <a:avLst/>
          </a:prstGeom>
        </p:spPr>
      </p:pic>
      <p:sp>
        <p:nvSpPr>
          <p:cNvPr id="12" name="Text 7"/>
          <p:cNvSpPr/>
          <p:nvPr/>
        </p:nvSpPr>
        <p:spPr>
          <a:xfrm>
            <a:off x="1115568" y="3264408"/>
            <a:ext cx="373075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Jargon gets translated</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Every technical term arrives with a one-line meaning.</a:t>
            </a:r>
            <a:endParaRPr lang="en-US" sz="1350" dirty="0"/>
          </a:p>
        </p:txBody>
      </p:sp>
      <p:sp>
        <p:nvSpPr>
          <p:cNvPr id="13" name="Shape 8"/>
          <p:cNvSpPr/>
          <p:nvPr/>
        </p:nvSpPr>
        <p:spPr>
          <a:xfrm>
            <a:off x="5212080" y="1554480"/>
            <a:ext cx="3383280" cy="2651760"/>
          </a:xfrm>
          <a:prstGeom prst="roundRect">
            <a:avLst>
              <a:gd name="adj" fmla="val 2414"/>
            </a:avLst>
          </a:prstGeom>
          <a:solidFill>
            <a:srgbClr val="F0F5EC"/>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14" name="Text 9"/>
          <p:cNvSpPr/>
          <p:nvPr/>
        </p:nvSpPr>
        <p:spPr>
          <a:xfrm>
            <a:off x="5486400" y="1828800"/>
            <a:ext cx="2834640" cy="274320"/>
          </a:xfrm>
          <a:prstGeom prst="rect">
            <a:avLst/>
          </a:prstGeom>
          <a:noFill/>
          <a:ln/>
        </p:spPr>
        <p:txBody>
          <a:bodyPr wrap="square" lIns="0" tIns="0" rIns="0" bIns="0" rtlCol="0" anchor="ctr"/>
          <a:lstStyle/>
          <a:p>
            <a:pPr indent="0" marL="0">
              <a:buNone/>
            </a:pPr>
            <a:r>
              <a:rPr lang="en-US" sz="1100" b="1" spc="200" kern="0" dirty="0">
                <a:solidFill>
                  <a:srgbClr val="2C5F2D"/>
                </a:solidFill>
                <a:latin typeface="Calibri" pitchFamily="34" charset="0"/>
                <a:ea typeface="Calibri" pitchFamily="34" charset="-122"/>
                <a:cs typeface="Calibri" pitchFamily="34" charset="-120"/>
              </a:rPr>
              <a:t>WHAT YOU NEED</a:t>
            </a:r>
            <a:endParaRPr lang="en-US" sz="1100" dirty="0"/>
          </a:p>
        </p:txBody>
      </p:sp>
      <p:sp>
        <p:nvSpPr>
          <p:cNvPr id="15" name="Shape 10"/>
          <p:cNvSpPr/>
          <p:nvPr/>
        </p:nvSpPr>
        <p:spPr>
          <a:xfrm>
            <a:off x="5486400" y="2240280"/>
            <a:ext cx="384048" cy="384048"/>
          </a:xfrm>
          <a:prstGeom prst="ellipse">
            <a:avLst/>
          </a:prstGeom>
          <a:solidFill>
            <a:srgbClr val="FFFFFF"/>
          </a:solidFill>
          <a:ln/>
        </p:spPr>
      </p:sp>
      <p:pic>
        <p:nvPicPr>
          <p:cNvPr id="16" name="Image 3" descr="preencoded.png">    </p:cNvPr>
          <p:cNvPicPr>
            <a:picLocks noChangeAspect="1"/>
          </p:cNvPicPr>
          <p:nvPr/>
        </p:nvPicPr>
        <p:blipFill>
          <a:blip r:embed="rId4"/>
          <a:stretch>
            <a:fillRect/>
          </a:stretch>
        </p:blipFill>
        <p:spPr>
          <a:xfrm>
            <a:off x="5586252" y="2340132"/>
            <a:ext cx="184343" cy="184343"/>
          </a:xfrm>
          <a:prstGeom prst="rect">
            <a:avLst/>
          </a:prstGeom>
        </p:spPr>
      </p:pic>
      <p:sp>
        <p:nvSpPr>
          <p:cNvPr id="17" name="Text 11"/>
          <p:cNvSpPr/>
          <p:nvPr/>
        </p:nvSpPr>
        <p:spPr>
          <a:xfrm>
            <a:off x="5989320" y="2267712"/>
            <a:ext cx="2468880" cy="320040"/>
          </a:xfrm>
          <a:prstGeom prst="rect">
            <a:avLst/>
          </a:prstGeom>
          <a:noFill/>
          <a:ln/>
        </p:spPr>
        <p:txBody>
          <a:bodyPr wrap="square" lIns="0" tIns="0" rIns="0" bIns="0" rtlCol="0" anchor="ctr"/>
          <a:lstStyle/>
          <a:p>
            <a:pPr indent="0" marL="0">
              <a:buNone/>
            </a:pPr>
            <a:r>
              <a:rPr lang="en-US" sz="1300" dirty="0">
                <a:solidFill>
                  <a:srgbClr val="1F2A20"/>
                </a:solidFill>
                <a:latin typeface="Calibri" pitchFamily="34" charset="0"/>
                <a:ea typeface="Calibri" pitchFamily="34" charset="-122"/>
                <a:cs typeface="Calibri" pitchFamily="34" charset="-120"/>
              </a:rPr>
              <a:t>A web browser</a:t>
            </a:r>
            <a:endParaRPr lang="en-US" sz="1300" dirty="0"/>
          </a:p>
        </p:txBody>
      </p:sp>
      <p:sp>
        <p:nvSpPr>
          <p:cNvPr id="18" name="Shape 12"/>
          <p:cNvSpPr/>
          <p:nvPr/>
        </p:nvSpPr>
        <p:spPr>
          <a:xfrm>
            <a:off x="5486400" y="2862072"/>
            <a:ext cx="384048" cy="384048"/>
          </a:xfrm>
          <a:prstGeom prst="ellipse">
            <a:avLst/>
          </a:prstGeom>
          <a:solidFill>
            <a:srgbClr val="FFFFFF"/>
          </a:solidFill>
          <a:ln/>
        </p:spPr>
      </p:sp>
      <p:pic>
        <p:nvPicPr>
          <p:cNvPr id="19" name="Image 4" descr="preencoded.png">    </p:cNvPr>
          <p:cNvPicPr>
            <a:picLocks noChangeAspect="1"/>
          </p:cNvPicPr>
          <p:nvPr/>
        </p:nvPicPr>
        <p:blipFill>
          <a:blip r:embed="rId5"/>
          <a:stretch>
            <a:fillRect/>
          </a:stretch>
        </p:blipFill>
        <p:spPr>
          <a:xfrm>
            <a:off x="5586252" y="2961924"/>
            <a:ext cx="184343" cy="184343"/>
          </a:xfrm>
          <a:prstGeom prst="rect">
            <a:avLst/>
          </a:prstGeom>
        </p:spPr>
      </p:pic>
      <p:sp>
        <p:nvSpPr>
          <p:cNvPr id="20" name="Text 13"/>
          <p:cNvSpPr/>
          <p:nvPr/>
        </p:nvSpPr>
        <p:spPr>
          <a:xfrm>
            <a:off x="5989320" y="2889504"/>
            <a:ext cx="2468880" cy="320040"/>
          </a:xfrm>
          <a:prstGeom prst="rect">
            <a:avLst/>
          </a:prstGeom>
          <a:noFill/>
          <a:ln/>
        </p:spPr>
        <p:txBody>
          <a:bodyPr wrap="square" lIns="0" tIns="0" rIns="0" bIns="0" rtlCol="0" anchor="ctr"/>
          <a:lstStyle/>
          <a:p>
            <a:pPr indent="0" marL="0">
              <a:buNone/>
            </a:pPr>
            <a:r>
              <a:rPr lang="en-US" sz="1300" dirty="0">
                <a:solidFill>
                  <a:srgbClr val="1F2A20"/>
                </a:solidFill>
                <a:latin typeface="Calibri" pitchFamily="34" charset="0"/>
                <a:ea typeface="Calibri" pitchFamily="34" charset="-122"/>
                <a:cs typeface="Calibri" pitchFamily="34" charset="-120"/>
              </a:rPr>
              <a:t>About 90 minutes</a:t>
            </a:r>
            <a:endParaRPr lang="en-US" sz="1300" dirty="0"/>
          </a:p>
        </p:txBody>
      </p:sp>
      <p:sp>
        <p:nvSpPr>
          <p:cNvPr id="21" name="Shape 14"/>
          <p:cNvSpPr/>
          <p:nvPr/>
        </p:nvSpPr>
        <p:spPr>
          <a:xfrm>
            <a:off x="5486400" y="3483864"/>
            <a:ext cx="384048" cy="384048"/>
          </a:xfrm>
          <a:prstGeom prst="ellipse">
            <a:avLst/>
          </a:prstGeom>
          <a:solidFill>
            <a:srgbClr val="FFFFFF"/>
          </a:solidFill>
          <a:ln/>
        </p:spPr>
      </p:sp>
      <p:pic>
        <p:nvPicPr>
          <p:cNvPr id="22" name="Image 5" descr="preencoded.png">    </p:cNvPr>
          <p:cNvPicPr>
            <a:picLocks noChangeAspect="1"/>
          </p:cNvPicPr>
          <p:nvPr/>
        </p:nvPicPr>
        <p:blipFill>
          <a:blip r:embed="rId6"/>
          <a:stretch>
            <a:fillRect/>
          </a:stretch>
        </p:blipFill>
        <p:spPr>
          <a:xfrm>
            <a:off x="5586252" y="3583716"/>
            <a:ext cx="184343" cy="184343"/>
          </a:xfrm>
          <a:prstGeom prst="rect">
            <a:avLst/>
          </a:prstGeom>
        </p:spPr>
      </p:pic>
      <p:sp>
        <p:nvSpPr>
          <p:cNvPr id="23" name="Text 15"/>
          <p:cNvSpPr/>
          <p:nvPr/>
        </p:nvSpPr>
        <p:spPr>
          <a:xfrm>
            <a:off x="5989320" y="3511296"/>
            <a:ext cx="2468880" cy="320040"/>
          </a:xfrm>
          <a:prstGeom prst="rect">
            <a:avLst/>
          </a:prstGeom>
          <a:noFill/>
          <a:ln/>
        </p:spPr>
        <p:txBody>
          <a:bodyPr wrap="square" lIns="0" tIns="0" rIns="0" bIns="0" rtlCol="0" anchor="ctr"/>
          <a:lstStyle/>
          <a:p>
            <a:pPr indent="0" marL="0">
              <a:buNone/>
            </a:pPr>
            <a:r>
              <a:rPr lang="en-US" sz="1300" dirty="0">
                <a:solidFill>
                  <a:srgbClr val="1F2A20"/>
                </a:solidFill>
                <a:latin typeface="Calibri" pitchFamily="34" charset="0"/>
                <a:ea typeface="Calibri" pitchFamily="34" charset="-122"/>
                <a:cs typeface="Calibri" pitchFamily="34" charset="-120"/>
              </a:rPr>
              <a:t>Zero dollars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OUTCOMES</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3100" b="1" dirty="0">
                <a:solidFill>
                  <a:srgbClr val="1F2A20"/>
                </a:solidFill>
                <a:latin typeface="Cambria" pitchFamily="34" charset="0"/>
                <a:ea typeface="Cambria" pitchFamily="34" charset="-122"/>
                <a:cs typeface="Cambria" pitchFamily="34" charset="-120"/>
              </a:rPr>
              <a:t>Five things you will walk away with</a:t>
            </a:r>
            <a:endParaRPr lang="en-US" sz="3100" dirty="0"/>
          </a:p>
        </p:txBody>
      </p:sp>
      <p:sp>
        <p:nvSpPr>
          <p:cNvPr id="4" name="Shape 2"/>
          <p:cNvSpPr/>
          <p:nvPr/>
        </p:nvSpPr>
        <p:spPr>
          <a:xfrm>
            <a:off x="548640" y="1481328"/>
            <a:ext cx="420624" cy="420624"/>
          </a:xfrm>
          <a:prstGeom prst="ellipse">
            <a:avLst/>
          </a:prstGeom>
          <a:solidFill>
            <a:srgbClr val="F0F5EC"/>
          </a:solidFill>
          <a:ln/>
        </p:spPr>
      </p:sp>
      <p:pic>
        <p:nvPicPr>
          <p:cNvPr id="5" name="Image 0" descr="preencoded.png">    </p:cNvPr>
          <p:cNvPicPr>
            <a:picLocks noChangeAspect="1"/>
          </p:cNvPicPr>
          <p:nvPr/>
        </p:nvPicPr>
        <p:blipFill>
          <a:blip r:embed="rId1"/>
          <a:stretch>
            <a:fillRect/>
          </a:stretch>
        </p:blipFill>
        <p:spPr>
          <a:xfrm>
            <a:off x="658002" y="1590690"/>
            <a:ext cx="201900" cy="201900"/>
          </a:xfrm>
          <a:prstGeom prst="rect">
            <a:avLst/>
          </a:prstGeom>
        </p:spPr>
      </p:pic>
      <p:sp>
        <p:nvSpPr>
          <p:cNvPr id="6" name="Text 3"/>
          <p:cNvSpPr/>
          <p:nvPr/>
        </p:nvSpPr>
        <p:spPr>
          <a:xfrm>
            <a:off x="1115568" y="1408176"/>
            <a:ext cx="341071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Explain AI in one sentence</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And know how AI, machine learning, and generative AI relate.</a:t>
            </a:r>
            <a:endParaRPr lang="en-US" sz="1350" dirty="0"/>
          </a:p>
        </p:txBody>
      </p:sp>
      <p:sp>
        <p:nvSpPr>
          <p:cNvPr id="7" name="Shape 4"/>
          <p:cNvSpPr/>
          <p:nvPr/>
        </p:nvSpPr>
        <p:spPr>
          <a:xfrm>
            <a:off x="4709160" y="1481328"/>
            <a:ext cx="420624" cy="420624"/>
          </a:xfrm>
          <a:prstGeom prst="ellipse">
            <a:avLst/>
          </a:prstGeom>
          <a:solidFill>
            <a:srgbClr val="F0F5EC"/>
          </a:solidFill>
          <a:ln/>
        </p:spPr>
      </p:sp>
      <p:pic>
        <p:nvPicPr>
          <p:cNvPr id="8" name="Image 1" descr="preencoded.png">    </p:cNvPr>
          <p:cNvPicPr>
            <a:picLocks noChangeAspect="1"/>
          </p:cNvPicPr>
          <p:nvPr/>
        </p:nvPicPr>
        <p:blipFill>
          <a:blip r:embed="rId2"/>
          <a:stretch>
            <a:fillRect/>
          </a:stretch>
        </p:blipFill>
        <p:spPr>
          <a:xfrm>
            <a:off x="4818522" y="1590690"/>
            <a:ext cx="201900" cy="201900"/>
          </a:xfrm>
          <a:prstGeom prst="rect">
            <a:avLst/>
          </a:prstGeom>
        </p:spPr>
      </p:pic>
      <p:sp>
        <p:nvSpPr>
          <p:cNvPr id="9" name="Text 5"/>
          <p:cNvSpPr/>
          <p:nvPr/>
        </p:nvSpPr>
        <p:spPr>
          <a:xfrm>
            <a:off x="5276088" y="1408176"/>
            <a:ext cx="341071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See how models really work</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Tokens, neural networks, and the transformer, minus the math.</a:t>
            </a:r>
            <a:endParaRPr lang="en-US" sz="1350" dirty="0"/>
          </a:p>
        </p:txBody>
      </p:sp>
      <p:sp>
        <p:nvSpPr>
          <p:cNvPr id="10" name="Shape 6"/>
          <p:cNvSpPr/>
          <p:nvPr/>
        </p:nvSpPr>
        <p:spPr>
          <a:xfrm>
            <a:off x="548640" y="2395728"/>
            <a:ext cx="420624" cy="420624"/>
          </a:xfrm>
          <a:prstGeom prst="ellipse">
            <a:avLst/>
          </a:prstGeom>
          <a:solidFill>
            <a:srgbClr val="F0F5EC"/>
          </a:solidFill>
          <a:ln/>
        </p:spPr>
      </p:sp>
      <p:pic>
        <p:nvPicPr>
          <p:cNvPr id="11" name="Image 2" descr="preencoded.png">    </p:cNvPr>
          <p:cNvPicPr>
            <a:picLocks noChangeAspect="1"/>
          </p:cNvPicPr>
          <p:nvPr/>
        </p:nvPicPr>
        <p:blipFill>
          <a:blip r:embed="rId3"/>
          <a:stretch>
            <a:fillRect/>
          </a:stretch>
        </p:blipFill>
        <p:spPr>
          <a:xfrm>
            <a:off x="658002" y="2505090"/>
            <a:ext cx="201900" cy="201900"/>
          </a:xfrm>
          <a:prstGeom prst="rect">
            <a:avLst/>
          </a:prstGeom>
        </p:spPr>
      </p:pic>
      <p:sp>
        <p:nvSpPr>
          <p:cNvPr id="12" name="Text 7"/>
          <p:cNvSpPr/>
          <p:nvPr/>
        </p:nvSpPr>
        <p:spPr>
          <a:xfrm>
            <a:off x="1115568" y="2322576"/>
            <a:ext cx="341071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Understand training</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From a mountain of text to a helpful assistant, in four steps.</a:t>
            </a:r>
            <a:endParaRPr lang="en-US" sz="1350" dirty="0"/>
          </a:p>
        </p:txBody>
      </p:sp>
      <p:sp>
        <p:nvSpPr>
          <p:cNvPr id="13" name="Shape 8"/>
          <p:cNvSpPr/>
          <p:nvPr/>
        </p:nvSpPr>
        <p:spPr>
          <a:xfrm>
            <a:off x="4709160" y="2395728"/>
            <a:ext cx="420624" cy="420624"/>
          </a:xfrm>
          <a:prstGeom prst="ellipse">
            <a:avLst/>
          </a:prstGeom>
          <a:solidFill>
            <a:srgbClr val="F0F5EC"/>
          </a:solidFill>
          <a:ln/>
        </p:spPr>
      </p:sp>
      <p:pic>
        <p:nvPicPr>
          <p:cNvPr id="14" name="Image 3" descr="preencoded.png">    </p:cNvPr>
          <p:cNvPicPr>
            <a:picLocks noChangeAspect="1"/>
          </p:cNvPicPr>
          <p:nvPr/>
        </p:nvPicPr>
        <p:blipFill>
          <a:blip r:embed="rId4"/>
          <a:stretch>
            <a:fillRect/>
          </a:stretch>
        </p:blipFill>
        <p:spPr>
          <a:xfrm>
            <a:off x="4818522" y="2505090"/>
            <a:ext cx="201900" cy="201900"/>
          </a:xfrm>
          <a:prstGeom prst="rect">
            <a:avLst/>
          </a:prstGeom>
        </p:spPr>
      </p:pic>
      <p:sp>
        <p:nvSpPr>
          <p:cNvPr id="15" name="Text 9"/>
          <p:cNvSpPr/>
          <p:nvPr/>
        </p:nvSpPr>
        <p:spPr>
          <a:xfrm>
            <a:off x="5276088" y="2322576"/>
            <a:ext cx="341071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Know the 2026 landscape</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Who makes the top models and what makes each one special.</a:t>
            </a:r>
            <a:endParaRPr lang="en-US" sz="1350" dirty="0"/>
          </a:p>
        </p:txBody>
      </p:sp>
      <p:sp>
        <p:nvSpPr>
          <p:cNvPr id="16" name="Shape 10"/>
          <p:cNvSpPr/>
          <p:nvPr/>
        </p:nvSpPr>
        <p:spPr>
          <a:xfrm>
            <a:off x="548640" y="3310128"/>
            <a:ext cx="420624" cy="420624"/>
          </a:xfrm>
          <a:prstGeom prst="ellipse">
            <a:avLst/>
          </a:prstGeom>
          <a:solidFill>
            <a:srgbClr val="F0F5EC"/>
          </a:solidFill>
          <a:ln/>
        </p:spPr>
      </p:sp>
      <p:pic>
        <p:nvPicPr>
          <p:cNvPr id="17" name="Image 4" descr="preencoded.png">    </p:cNvPr>
          <p:cNvPicPr>
            <a:picLocks noChangeAspect="1"/>
          </p:cNvPicPr>
          <p:nvPr/>
        </p:nvPicPr>
        <p:blipFill>
          <a:blip r:embed="rId5"/>
          <a:stretch>
            <a:fillRect/>
          </a:stretch>
        </p:blipFill>
        <p:spPr>
          <a:xfrm>
            <a:off x="658002" y="3419490"/>
            <a:ext cx="201900" cy="201900"/>
          </a:xfrm>
          <a:prstGeom prst="rect">
            <a:avLst/>
          </a:prstGeom>
        </p:spPr>
      </p:pic>
      <p:sp>
        <p:nvSpPr>
          <p:cNvPr id="18" name="Text 11"/>
          <p:cNvSpPr/>
          <p:nvPr/>
        </p:nvSpPr>
        <p:spPr>
          <a:xfrm>
            <a:off x="1115568" y="3236976"/>
            <a:ext cx="720547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Pick the right model</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A practical cheat sheet for writing, coding, research, and more.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COURSE MAP</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2800" b="1" dirty="0">
                <a:solidFill>
                  <a:srgbClr val="1F2A20"/>
                </a:solidFill>
                <a:latin typeface="Cambria" pitchFamily="34" charset="0"/>
                <a:ea typeface="Cambria" pitchFamily="34" charset="-122"/>
                <a:cs typeface="Cambria" pitchFamily="34" charset="-120"/>
              </a:rPr>
              <a:t>Six short modules, one quiz, one certificate</a:t>
            </a:r>
            <a:endParaRPr lang="en-US" sz="2800" dirty="0"/>
          </a:p>
        </p:txBody>
      </p:sp>
      <p:sp>
        <p:nvSpPr>
          <p:cNvPr id="4" name="Shape 2"/>
          <p:cNvSpPr/>
          <p:nvPr/>
        </p:nvSpPr>
        <p:spPr>
          <a:xfrm>
            <a:off x="548640" y="1508760"/>
            <a:ext cx="2606040" cy="1170432"/>
          </a:xfrm>
          <a:prstGeom prst="roundRect">
            <a:avLst>
              <a:gd name="adj" fmla="val 5469"/>
            </a:avLst>
          </a:prstGeom>
          <a:solidFill>
            <a:srgbClr val="F0F5EC"/>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5" name="Text 3"/>
          <p:cNvSpPr/>
          <p:nvPr/>
        </p:nvSpPr>
        <p:spPr>
          <a:xfrm>
            <a:off x="713232" y="1636776"/>
            <a:ext cx="548640" cy="502920"/>
          </a:xfrm>
          <a:prstGeom prst="rect">
            <a:avLst/>
          </a:prstGeom>
          <a:noFill/>
          <a:ln/>
        </p:spPr>
        <p:txBody>
          <a:bodyPr wrap="square" lIns="0" tIns="0" rIns="0" bIns="0" rtlCol="0" anchor="ctr"/>
          <a:lstStyle/>
          <a:p>
            <a:pPr indent="0" marL="0">
              <a:buNone/>
            </a:pPr>
            <a:r>
              <a:rPr lang="en-US" sz="2600" b="1" dirty="0">
                <a:solidFill>
                  <a:srgbClr val="97BC62"/>
                </a:solidFill>
                <a:latin typeface="Cambria" pitchFamily="34" charset="0"/>
                <a:ea typeface="Cambria" pitchFamily="34" charset="-122"/>
                <a:cs typeface="Cambria" pitchFamily="34" charset="-120"/>
              </a:rPr>
              <a:t>1</a:t>
            </a:r>
            <a:endParaRPr lang="en-US" sz="2600" dirty="0"/>
          </a:p>
        </p:txBody>
      </p:sp>
      <p:sp>
        <p:nvSpPr>
          <p:cNvPr id="6" name="Text 4"/>
          <p:cNvSpPr/>
          <p:nvPr/>
        </p:nvSpPr>
        <p:spPr>
          <a:xfrm>
            <a:off x="1170432" y="1673352"/>
            <a:ext cx="1874520" cy="594360"/>
          </a:xfrm>
          <a:prstGeom prst="rect">
            <a:avLst/>
          </a:prstGeom>
          <a:noFill/>
          <a:ln/>
        </p:spPr>
        <p:txBody>
          <a:bodyPr wrap="square" lIns="0" tIns="0" rIns="0" bIns="0" rtlCol="0" anchor="ctr"/>
          <a:lstStyle/>
          <a:p>
            <a:pPr indent="0" marL="0">
              <a:buNone/>
            </a:pPr>
            <a:r>
              <a:rPr lang="en-US" sz="1250" b="1" dirty="0">
                <a:solidFill>
                  <a:srgbClr val="1F2A20"/>
                </a:solidFill>
                <a:latin typeface="Calibri" pitchFamily="34" charset="0"/>
                <a:ea typeface="Calibri" pitchFamily="34" charset="-122"/>
                <a:cs typeface="Calibri" pitchFamily="34" charset="-120"/>
              </a:rPr>
              <a:t>What is AI?</a:t>
            </a:r>
            <a:endParaRPr lang="en-US" sz="1250" dirty="0"/>
          </a:p>
        </p:txBody>
      </p:sp>
      <p:sp>
        <p:nvSpPr>
          <p:cNvPr id="7" name="Text 5"/>
          <p:cNvSpPr/>
          <p:nvPr/>
        </p:nvSpPr>
        <p:spPr>
          <a:xfrm>
            <a:off x="1170432" y="2313432"/>
            <a:ext cx="1737360" cy="274320"/>
          </a:xfrm>
          <a:prstGeom prst="rect">
            <a:avLst/>
          </a:prstGeom>
          <a:noFill/>
          <a:ln/>
        </p:spPr>
        <p:txBody>
          <a:bodyPr wrap="square" lIns="0" tIns="0" rIns="0" bIns="0" rtlCol="0" anchor="ctr"/>
          <a:lstStyle/>
          <a:p>
            <a:pPr indent="0" marL="0">
              <a:buNone/>
            </a:pPr>
            <a:r>
              <a:rPr lang="en-US" sz="1000" dirty="0">
                <a:solidFill>
                  <a:srgbClr val="5C6B5A"/>
                </a:solidFill>
                <a:latin typeface="Calibri" pitchFamily="34" charset="0"/>
                <a:ea typeface="Calibri" pitchFamily="34" charset="-122"/>
                <a:cs typeface="Calibri" pitchFamily="34" charset="-120"/>
              </a:rPr>
              <a:t>10 min</a:t>
            </a:r>
            <a:endParaRPr lang="en-US" sz="1000" dirty="0"/>
          </a:p>
        </p:txBody>
      </p:sp>
      <p:sp>
        <p:nvSpPr>
          <p:cNvPr id="8" name="Shape 6"/>
          <p:cNvSpPr/>
          <p:nvPr/>
        </p:nvSpPr>
        <p:spPr>
          <a:xfrm>
            <a:off x="3291840" y="1508760"/>
            <a:ext cx="2606040" cy="1170432"/>
          </a:xfrm>
          <a:prstGeom prst="roundRect">
            <a:avLst>
              <a:gd name="adj" fmla="val 5469"/>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9" name="Text 7"/>
          <p:cNvSpPr/>
          <p:nvPr/>
        </p:nvSpPr>
        <p:spPr>
          <a:xfrm>
            <a:off x="3456432" y="1636776"/>
            <a:ext cx="548640" cy="502920"/>
          </a:xfrm>
          <a:prstGeom prst="rect">
            <a:avLst/>
          </a:prstGeom>
          <a:noFill/>
          <a:ln/>
        </p:spPr>
        <p:txBody>
          <a:bodyPr wrap="square" lIns="0" tIns="0" rIns="0" bIns="0" rtlCol="0" anchor="ctr"/>
          <a:lstStyle/>
          <a:p>
            <a:pPr indent="0" marL="0">
              <a:buNone/>
            </a:pPr>
            <a:r>
              <a:rPr lang="en-US" sz="2600" b="1" dirty="0">
                <a:solidFill>
                  <a:srgbClr val="97BC62"/>
                </a:solidFill>
                <a:latin typeface="Cambria" pitchFamily="34" charset="0"/>
                <a:ea typeface="Cambria" pitchFamily="34" charset="-122"/>
                <a:cs typeface="Cambria" pitchFamily="34" charset="-120"/>
              </a:rPr>
              <a:t>2</a:t>
            </a:r>
            <a:endParaRPr lang="en-US" sz="2600" dirty="0"/>
          </a:p>
        </p:txBody>
      </p:sp>
      <p:sp>
        <p:nvSpPr>
          <p:cNvPr id="10" name="Text 8"/>
          <p:cNvSpPr/>
          <p:nvPr/>
        </p:nvSpPr>
        <p:spPr>
          <a:xfrm>
            <a:off x="3913632" y="1673352"/>
            <a:ext cx="1874520" cy="594360"/>
          </a:xfrm>
          <a:prstGeom prst="rect">
            <a:avLst/>
          </a:prstGeom>
          <a:noFill/>
          <a:ln/>
        </p:spPr>
        <p:txBody>
          <a:bodyPr wrap="square" lIns="0" tIns="0" rIns="0" bIns="0" rtlCol="0" anchor="ctr"/>
          <a:lstStyle/>
          <a:p>
            <a:pPr indent="0" marL="0">
              <a:buNone/>
            </a:pPr>
            <a:r>
              <a:rPr lang="en-US" sz="1250" b="1" dirty="0">
                <a:solidFill>
                  <a:srgbClr val="1F2A20"/>
                </a:solidFill>
                <a:latin typeface="Calibri" pitchFamily="34" charset="0"/>
                <a:ea typeface="Calibri" pitchFamily="34" charset="-122"/>
                <a:cs typeface="Calibri" pitchFamily="34" charset="-120"/>
              </a:rPr>
              <a:t>How models work</a:t>
            </a:r>
            <a:endParaRPr lang="en-US" sz="1250" dirty="0"/>
          </a:p>
        </p:txBody>
      </p:sp>
      <p:sp>
        <p:nvSpPr>
          <p:cNvPr id="11" name="Text 9"/>
          <p:cNvSpPr/>
          <p:nvPr/>
        </p:nvSpPr>
        <p:spPr>
          <a:xfrm>
            <a:off x="3913632" y="2313432"/>
            <a:ext cx="1737360" cy="274320"/>
          </a:xfrm>
          <a:prstGeom prst="rect">
            <a:avLst/>
          </a:prstGeom>
          <a:noFill/>
          <a:ln/>
        </p:spPr>
        <p:txBody>
          <a:bodyPr wrap="square" lIns="0" tIns="0" rIns="0" bIns="0" rtlCol="0" anchor="ctr"/>
          <a:lstStyle/>
          <a:p>
            <a:pPr indent="0" marL="0">
              <a:buNone/>
            </a:pPr>
            <a:r>
              <a:rPr lang="en-US" sz="1000" dirty="0">
                <a:solidFill>
                  <a:srgbClr val="5C6B5A"/>
                </a:solidFill>
                <a:latin typeface="Calibri" pitchFamily="34" charset="0"/>
                <a:ea typeface="Calibri" pitchFamily="34" charset="-122"/>
                <a:cs typeface="Calibri" pitchFamily="34" charset="-120"/>
              </a:rPr>
              <a:t>12 min</a:t>
            </a:r>
            <a:endParaRPr lang="en-US" sz="1000" dirty="0"/>
          </a:p>
        </p:txBody>
      </p:sp>
      <p:sp>
        <p:nvSpPr>
          <p:cNvPr id="12" name="Shape 10"/>
          <p:cNvSpPr/>
          <p:nvPr/>
        </p:nvSpPr>
        <p:spPr>
          <a:xfrm>
            <a:off x="6035040" y="1508760"/>
            <a:ext cx="2606040" cy="1170432"/>
          </a:xfrm>
          <a:prstGeom prst="roundRect">
            <a:avLst>
              <a:gd name="adj" fmla="val 5469"/>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13" name="Text 11"/>
          <p:cNvSpPr/>
          <p:nvPr/>
        </p:nvSpPr>
        <p:spPr>
          <a:xfrm>
            <a:off x="6199632" y="1636776"/>
            <a:ext cx="548640" cy="502920"/>
          </a:xfrm>
          <a:prstGeom prst="rect">
            <a:avLst/>
          </a:prstGeom>
          <a:noFill/>
          <a:ln/>
        </p:spPr>
        <p:txBody>
          <a:bodyPr wrap="square" lIns="0" tIns="0" rIns="0" bIns="0" rtlCol="0" anchor="ctr"/>
          <a:lstStyle/>
          <a:p>
            <a:pPr indent="0" marL="0">
              <a:buNone/>
            </a:pPr>
            <a:r>
              <a:rPr lang="en-US" sz="2600" b="1" dirty="0">
                <a:solidFill>
                  <a:srgbClr val="97BC62"/>
                </a:solidFill>
                <a:latin typeface="Cambria" pitchFamily="34" charset="0"/>
                <a:ea typeface="Cambria" pitchFamily="34" charset="-122"/>
                <a:cs typeface="Cambria" pitchFamily="34" charset="-120"/>
              </a:rPr>
              <a:t>3</a:t>
            </a:r>
            <a:endParaRPr lang="en-US" sz="2600" dirty="0"/>
          </a:p>
        </p:txBody>
      </p:sp>
      <p:sp>
        <p:nvSpPr>
          <p:cNvPr id="14" name="Text 12"/>
          <p:cNvSpPr/>
          <p:nvPr/>
        </p:nvSpPr>
        <p:spPr>
          <a:xfrm>
            <a:off x="6656832" y="1673352"/>
            <a:ext cx="1874520" cy="594360"/>
          </a:xfrm>
          <a:prstGeom prst="rect">
            <a:avLst/>
          </a:prstGeom>
          <a:noFill/>
          <a:ln/>
        </p:spPr>
        <p:txBody>
          <a:bodyPr wrap="square" lIns="0" tIns="0" rIns="0" bIns="0" rtlCol="0" anchor="ctr"/>
          <a:lstStyle/>
          <a:p>
            <a:pPr indent="0" marL="0">
              <a:buNone/>
            </a:pPr>
            <a:r>
              <a:rPr lang="en-US" sz="1250" b="1" dirty="0">
                <a:solidFill>
                  <a:srgbClr val="1F2A20"/>
                </a:solidFill>
                <a:latin typeface="Calibri" pitchFamily="34" charset="0"/>
                <a:ea typeface="Calibri" pitchFamily="34" charset="-122"/>
                <a:cs typeface="Calibri" pitchFamily="34" charset="-120"/>
              </a:rPr>
              <a:t>How models are trained</a:t>
            </a:r>
            <a:endParaRPr lang="en-US" sz="1250" dirty="0"/>
          </a:p>
        </p:txBody>
      </p:sp>
      <p:sp>
        <p:nvSpPr>
          <p:cNvPr id="15" name="Text 13"/>
          <p:cNvSpPr/>
          <p:nvPr/>
        </p:nvSpPr>
        <p:spPr>
          <a:xfrm>
            <a:off x="6656832" y="2313432"/>
            <a:ext cx="1737360" cy="274320"/>
          </a:xfrm>
          <a:prstGeom prst="rect">
            <a:avLst/>
          </a:prstGeom>
          <a:noFill/>
          <a:ln/>
        </p:spPr>
        <p:txBody>
          <a:bodyPr wrap="square" lIns="0" tIns="0" rIns="0" bIns="0" rtlCol="0" anchor="ctr"/>
          <a:lstStyle/>
          <a:p>
            <a:pPr indent="0" marL="0">
              <a:buNone/>
            </a:pPr>
            <a:r>
              <a:rPr lang="en-US" sz="1000" dirty="0">
                <a:solidFill>
                  <a:srgbClr val="5C6B5A"/>
                </a:solidFill>
                <a:latin typeface="Calibri" pitchFamily="34" charset="0"/>
                <a:ea typeface="Calibri" pitchFamily="34" charset="-122"/>
                <a:cs typeface="Calibri" pitchFamily="34" charset="-120"/>
              </a:rPr>
              <a:t>12 min</a:t>
            </a:r>
            <a:endParaRPr lang="en-US" sz="1000" dirty="0"/>
          </a:p>
        </p:txBody>
      </p:sp>
      <p:sp>
        <p:nvSpPr>
          <p:cNvPr id="16" name="Shape 14"/>
          <p:cNvSpPr/>
          <p:nvPr/>
        </p:nvSpPr>
        <p:spPr>
          <a:xfrm>
            <a:off x="548640" y="2862072"/>
            <a:ext cx="2606040" cy="1170432"/>
          </a:xfrm>
          <a:prstGeom prst="roundRect">
            <a:avLst>
              <a:gd name="adj" fmla="val 5469"/>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17" name="Text 15"/>
          <p:cNvSpPr/>
          <p:nvPr/>
        </p:nvSpPr>
        <p:spPr>
          <a:xfrm>
            <a:off x="713232" y="2990088"/>
            <a:ext cx="548640" cy="502920"/>
          </a:xfrm>
          <a:prstGeom prst="rect">
            <a:avLst/>
          </a:prstGeom>
          <a:noFill/>
          <a:ln/>
        </p:spPr>
        <p:txBody>
          <a:bodyPr wrap="square" lIns="0" tIns="0" rIns="0" bIns="0" rtlCol="0" anchor="ctr"/>
          <a:lstStyle/>
          <a:p>
            <a:pPr indent="0" marL="0">
              <a:buNone/>
            </a:pPr>
            <a:r>
              <a:rPr lang="en-US" sz="2600" b="1" dirty="0">
                <a:solidFill>
                  <a:srgbClr val="97BC62"/>
                </a:solidFill>
                <a:latin typeface="Cambria" pitchFamily="34" charset="0"/>
                <a:ea typeface="Cambria" pitchFamily="34" charset="-122"/>
                <a:cs typeface="Cambria" pitchFamily="34" charset="-120"/>
              </a:rPr>
              <a:t>4</a:t>
            </a:r>
            <a:endParaRPr lang="en-US" sz="2600" dirty="0"/>
          </a:p>
        </p:txBody>
      </p:sp>
      <p:sp>
        <p:nvSpPr>
          <p:cNvPr id="18" name="Text 16"/>
          <p:cNvSpPr/>
          <p:nvPr/>
        </p:nvSpPr>
        <p:spPr>
          <a:xfrm>
            <a:off x="1170432" y="3026664"/>
            <a:ext cx="1874520" cy="594360"/>
          </a:xfrm>
          <a:prstGeom prst="rect">
            <a:avLst/>
          </a:prstGeom>
          <a:noFill/>
          <a:ln/>
        </p:spPr>
        <p:txBody>
          <a:bodyPr wrap="square" lIns="0" tIns="0" rIns="0" bIns="0" rtlCol="0" anchor="ctr"/>
          <a:lstStyle/>
          <a:p>
            <a:pPr indent="0" marL="0">
              <a:buNone/>
            </a:pPr>
            <a:r>
              <a:rPr lang="en-US" sz="1250" b="1" dirty="0">
                <a:solidFill>
                  <a:srgbClr val="1F2A20"/>
                </a:solidFill>
                <a:latin typeface="Calibri" pitchFamily="34" charset="0"/>
                <a:ea typeface="Calibri" pitchFamily="34" charset="-122"/>
                <a:cs typeface="Calibri" pitchFamily="34" charset="-120"/>
              </a:rPr>
              <a:t>The 2026 model landscape</a:t>
            </a:r>
            <a:endParaRPr lang="en-US" sz="1250" dirty="0"/>
          </a:p>
        </p:txBody>
      </p:sp>
      <p:sp>
        <p:nvSpPr>
          <p:cNvPr id="19" name="Text 17"/>
          <p:cNvSpPr/>
          <p:nvPr/>
        </p:nvSpPr>
        <p:spPr>
          <a:xfrm>
            <a:off x="1170432" y="3666744"/>
            <a:ext cx="1737360" cy="274320"/>
          </a:xfrm>
          <a:prstGeom prst="rect">
            <a:avLst/>
          </a:prstGeom>
          <a:noFill/>
          <a:ln/>
        </p:spPr>
        <p:txBody>
          <a:bodyPr wrap="square" lIns="0" tIns="0" rIns="0" bIns="0" rtlCol="0" anchor="ctr"/>
          <a:lstStyle/>
          <a:p>
            <a:pPr indent="0" marL="0">
              <a:buNone/>
            </a:pPr>
            <a:r>
              <a:rPr lang="en-US" sz="1000" dirty="0">
                <a:solidFill>
                  <a:srgbClr val="5C6B5A"/>
                </a:solidFill>
                <a:latin typeface="Calibri" pitchFamily="34" charset="0"/>
                <a:ea typeface="Calibri" pitchFamily="34" charset="-122"/>
                <a:cs typeface="Calibri" pitchFamily="34" charset="-120"/>
              </a:rPr>
              <a:t>12 min</a:t>
            </a:r>
            <a:endParaRPr lang="en-US" sz="1000" dirty="0"/>
          </a:p>
        </p:txBody>
      </p:sp>
      <p:sp>
        <p:nvSpPr>
          <p:cNvPr id="20" name="Shape 18"/>
          <p:cNvSpPr/>
          <p:nvPr/>
        </p:nvSpPr>
        <p:spPr>
          <a:xfrm>
            <a:off x="3291840" y="2862072"/>
            <a:ext cx="2606040" cy="1170432"/>
          </a:xfrm>
          <a:prstGeom prst="roundRect">
            <a:avLst>
              <a:gd name="adj" fmla="val 5469"/>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21" name="Text 19"/>
          <p:cNvSpPr/>
          <p:nvPr/>
        </p:nvSpPr>
        <p:spPr>
          <a:xfrm>
            <a:off x="3456432" y="2990088"/>
            <a:ext cx="548640" cy="502920"/>
          </a:xfrm>
          <a:prstGeom prst="rect">
            <a:avLst/>
          </a:prstGeom>
          <a:noFill/>
          <a:ln/>
        </p:spPr>
        <p:txBody>
          <a:bodyPr wrap="square" lIns="0" tIns="0" rIns="0" bIns="0" rtlCol="0" anchor="ctr"/>
          <a:lstStyle/>
          <a:p>
            <a:pPr indent="0" marL="0">
              <a:buNone/>
            </a:pPr>
            <a:r>
              <a:rPr lang="en-US" sz="2600" b="1" dirty="0">
                <a:solidFill>
                  <a:srgbClr val="97BC62"/>
                </a:solidFill>
                <a:latin typeface="Cambria" pitchFamily="34" charset="0"/>
                <a:ea typeface="Cambria" pitchFamily="34" charset="-122"/>
                <a:cs typeface="Cambria" pitchFamily="34" charset="-120"/>
              </a:rPr>
              <a:t>5</a:t>
            </a:r>
            <a:endParaRPr lang="en-US" sz="2600" dirty="0"/>
          </a:p>
        </p:txBody>
      </p:sp>
      <p:sp>
        <p:nvSpPr>
          <p:cNvPr id="22" name="Text 20"/>
          <p:cNvSpPr/>
          <p:nvPr/>
        </p:nvSpPr>
        <p:spPr>
          <a:xfrm>
            <a:off x="3913632" y="3026664"/>
            <a:ext cx="1874520" cy="594360"/>
          </a:xfrm>
          <a:prstGeom prst="rect">
            <a:avLst/>
          </a:prstGeom>
          <a:noFill/>
          <a:ln/>
        </p:spPr>
        <p:txBody>
          <a:bodyPr wrap="square" lIns="0" tIns="0" rIns="0" bIns="0" rtlCol="0" anchor="ctr"/>
          <a:lstStyle/>
          <a:p>
            <a:pPr indent="0" marL="0">
              <a:buNone/>
            </a:pPr>
            <a:r>
              <a:rPr lang="en-US" sz="1250" b="1" dirty="0">
                <a:solidFill>
                  <a:srgbClr val="1F2A20"/>
                </a:solidFill>
                <a:latin typeface="Calibri" pitchFamily="34" charset="0"/>
                <a:ea typeface="Calibri" pitchFamily="34" charset="-122"/>
                <a:cs typeface="Calibri" pitchFamily="34" charset="-120"/>
              </a:rPr>
              <a:t>Which model for which job</a:t>
            </a:r>
            <a:endParaRPr lang="en-US" sz="1250" dirty="0"/>
          </a:p>
        </p:txBody>
      </p:sp>
      <p:sp>
        <p:nvSpPr>
          <p:cNvPr id="23" name="Text 21"/>
          <p:cNvSpPr/>
          <p:nvPr/>
        </p:nvSpPr>
        <p:spPr>
          <a:xfrm>
            <a:off x="3913632" y="3666744"/>
            <a:ext cx="1737360" cy="274320"/>
          </a:xfrm>
          <a:prstGeom prst="rect">
            <a:avLst/>
          </a:prstGeom>
          <a:noFill/>
          <a:ln/>
        </p:spPr>
        <p:txBody>
          <a:bodyPr wrap="square" lIns="0" tIns="0" rIns="0" bIns="0" rtlCol="0" anchor="ctr"/>
          <a:lstStyle/>
          <a:p>
            <a:pPr indent="0" marL="0">
              <a:buNone/>
            </a:pPr>
            <a:r>
              <a:rPr lang="en-US" sz="1000" dirty="0">
                <a:solidFill>
                  <a:srgbClr val="5C6B5A"/>
                </a:solidFill>
                <a:latin typeface="Calibri" pitchFamily="34" charset="0"/>
                <a:ea typeface="Calibri" pitchFamily="34" charset="-122"/>
                <a:cs typeface="Calibri" pitchFamily="34" charset="-120"/>
              </a:rPr>
              <a:t>8 min</a:t>
            </a:r>
            <a:endParaRPr lang="en-US" sz="1000" dirty="0"/>
          </a:p>
        </p:txBody>
      </p:sp>
      <p:sp>
        <p:nvSpPr>
          <p:cNvPr id="24" name="Shape 22"/>
          <p:cNvSpPr/>
          <p:nvPr/>
        </p:nvSpPr>
        <p:spPr>
          <a:xfrm>
            <a:off x="6035040" y="2862072"/>
            <a:ext cx="2606040" cy="1170432"/>
          </a:xfrm>
          <a:prstGeom prst="roundRect">
            <a:avLst>
              <a:gd name="adj" fmla="val 5469"/>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25" name="Text 23"/>
          <p:cNvSpPr/>
          <p:nvPr/>
        </p:nvSpPr>
        <p:spPr>
          <a:xfrm>
            <a:off x="6199632" y="2990088"/>
            <a:ext cx="548640" cy="502920"/>
          </a:xfrm>
          <a:prstGeom prst="rect">
            <a:avLst/>
          </a:prstGeom>
          <a:noFill/>
          <a:ln/>
        </p:spPr>
        <p:txBody>
          <a:bodyPr wrap="square" lIns="0" tIns="0" rIns="0" bIns="0" rtlCol="0" anchor="ctr"/>
          <a:lstStyle/>
          <a:p>
            <a:pPr indent="0" marL="0">
              <a:buNone/>
            </a:pPr>
            <a:r>
              <a:rPr lang="en-US" sz="2600" b="1" dirty="0">
                <a:solidFill>
                  <a:srgbClr val="97BC62"/>
                </a:solidFill>
                <a:latin typeface="Cambria" pitchFamily="34" charset="0"/>
                <a:ea typeface="Cambria" pitchFamily="34" charset="-122"/>
                <a:cs typeface="Cambria" pitchFamily="34" charset="-120"/>
              </a:rPr>
              <a:t>6</a:t>
            </a:r>
            <a:endParaRPr lang="en-US" sz="2600" dirty="0"/>
          </a:p>
        </p:txBody>
      </p:sp>
      <p:sp>
        <p:nvSpPr>
          <p:cNvPr id="26" name="Text 24"/>
          <p:cNvSpPr/>
          <p:nvPr/>
        </p:nvSpPr>
        <p:spPr>
          <a:xfrm>
            <a:off x="6656832" y="3026664"/>
            <a:ext cx="1874520" cy="594360"/>
          </a:xfrm>
          <a:prstGeom prst="rect">
            <a:avLst/>
          </a:prstGeom>
          <a:noFill/>
          <a:ln/>
        </p:spPr>
        <p:txBody>
          <a:bodyPr wrap="square" lIns="0" tIns="0" rIns="0" bIns="0" rtlCol="0" anchor="ctr"/>
          <a:lstStyle/>
          <a:p>
            <a:pPr indent="0" marL="0">
              <a:buNone/>
            </a:pPr>
            <a:r>
              <a:rPr lang="en-US" sz="1250" b="1" dirty="0">
                <a:solidFill>
                  <a:srgbClr val="1F2A20"/>
                </a:solidFill>
                <a:latin typeface="Calibri" pitchFamily="34" charset="0"/>
                <a:ea typeface="Calibri" pitchFamily="34" charset="-122"/>
                <a:cs typeface="Calibri" pitchFamily="34" charset="-120"/>
              </a:rPr>
              <a:t>Using AI well</a:t>
            </a:r>
            <a:endParaRPr lang="en-US" sz="1250" dirty="0"/>
          </a:p>
        </p:txBody>
      </p:sp>
      <p:sp>
        <p:nvSpPr>
          <p:cNvPr id="27" name="Text 25"/>
          <p:cNvSpPr/>
          <p:nvPr/>
        </p:nvSpPr>
        <p:spPr>
          <a:xfrm>
            <a:off x="6656832" y="3666744"/>
            <a:ext cx="1737360" cy="274320"/>
          </a:xfrm>
          <a:prstGeom prst="rect">
            <a:avLst/>
          </a:prstGeom>
          <a:noFill/>
          <a:ln/>
        </p:spPr>
        <p:txBody>
          <a:bodyPr wrap="square" lIns="0" tIns="0" rIns="0" bIns="0" rtlCol="0" anchor="ctr"/>
          <a:lstStyle/>
          <a:p>
            <a:pPr indent="0" marL="0">
              <a:buNone/>
            </a:pPr>
            <a:r>
              <a:rPr lang="en-US" sz="1000" dirty="0">
                <a:solidFill>
                  <a:srgbClr val="5C6B5A"/>
                </a:solidFill>
                <a:latin typeface="Calibri" pitchFamily="34" charset="0"/>
                <a:ea typeface="Calibri" pitchFamily="34" charset="-122"/>
                <a:cs typeface="Calibri" pitchFamily="34" charset="-120"/>
              </a:rPr>
              <a:t>8 min</a:t>
            </a:r>
            <a:endParaRPr lang="en-US" sz="1000" dirty="0"/>
          </a:p>
        </p:txBody>
      </p:sp>
      <p:sp>
        <p:nvSpPr>
          <p:cNvPr id="28" name="Text 26"/>
          <p:cNvSpPr/>
          <p:nvPr/>
        </p:nvSpPr>
        <p:spPr>
          <a:xfrm>
            <a:off x="548640" y="4343400"/>
            <a:ext cx="8046720" cy="320040"/>
          </a:xfrm>
          <a:prstGeom prst="rect">
            <a:avLst/>
          </a:prstGeom>
          <a:noFill/>
          <a:ln/>
        </p:spPr>
        <p:txBody>
          <a:bodyPr wrap="square" lIns="0" tIns="0" rIns="0" bIns="0" rtlCol="0" anchor="ctr"/>
          <a:lstStyle/>
          <a:p>
            <a:pPr indent="0" marL="0">
              <a:buNone/>
            </a:pPr>
            <a:r>
              <a:rPr lang="en-US" sz="1250" b="1" dirty="0">
                <a:solidFill>
                  <a:srgbClr val="2C5F2D"/>
                </a:solidFill>
                <a:latin typeface="Calibri" pitchFamily="34" charset="0"/>
                <a:ea typeface="Calibri" pitchFamily="34" charset="-122"/>
                <a:cs typeface="Calibri" pitchFamily="34" charset="-120"/>
              </a:rPr>
              <a:t>Then: </a:t>
            </a:r>
            <a:pPr indent="0" marL="0">
              <a:buNone/>
            </a:pPr>
            <a:r>
              <a:rPr lang="en-US" sz="1250" dirty="0">
                <a:solidFill>
                  <a:srgbClr val="5C6B5A"/>
                </a:solidFill>
                <a:latin typeface="Calibri" pitchFamily="34" charset="0"/>
                <a:ea typeface="Calibri" pitchFamily="34" charset="-122"/>
                <a:cs typeface="Calibri" pitchFamily="34" charset="-120"/>
              </a:rPr>
              <a:t>a 20 question quiz. Score 70% or better and print your certificate on the spot.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3D24"/>
        </a:solidFill>
      </p:bgPr>
    </p:bg>
    <p:spTree>
      <p:nvGrpSpPr>
        <p:cNvPr id="1" name=""/>
        <p:cNvGrpSpPr/>
        <p:nvPr/>
      </p:nvGrpSpPr>
      <p:grpSpPr>
        <a:xfrm>
          <a:off x="0" y="0"/>
          <a:ext cx="0" cy="0"/>
          <a:chOff x="0" y="0"/>
          <a:chExt cx="0" cy="0"/>
        </a:xfrm>
      </p:grpSpPr>
      <p:sp>
        <p:nvSpPr>
          <p:cNvPr id="2" name="Text 0"/>
          <p:cNvSpPr/>
          <p:nvPr/>
        </p:nvSpPr>
        <p:spPr>
          <a:xfrm>
            <a:off x="548640" y="1371600"/>
            <a:ext cx="8046720" cy="365760"/>
          </a:xfrm>
          <a:prstGeom prst="rect">
            <a:avLst/>
          </a:prstGeom>
          <a:noFill/>
          <a:ln/>
        </p:spPr>
        <p:txBody>
          <a:bodyPr wrap="square" lIns="0" tIns="0" rIns="0" bIns="0" rtlCol="0" anchor="ctr"/>
          <a:lstStyle/>
          <a:p>
            <a:pPr indent="0" marL="0">
              <a:buNone/>
            </a:pPr>
            <a:r>
              <a:rPr lang="en-US" sz="1400" b="1" spc="400" kern="0" dirty="0">
                <a:solidFill>
                  <a:srgbClr val="97BC62"/>
                </a:solidFill>
                <a:latin typeface="Calibri" pitchFamily="34" charset="0"/>
                <a:ea typeface="Calibri" pitchFamily="34" charset="-122"/>
                <a:cs typeface="Calibri" pitchFamily="34" charset="-120"/>
              </a:rPr>
              <a:t>MODULE 1</a:t>
            </a:r>
            <a:endParaRPr lang="en-US" sz="1400" dirty="0"/>
          </a:p>
        </p:txBody>
      </p:sp>
      <p:sp>
        <p:nvSpPr>
          <p:cNvPr id="3" name="Text 1"/>
          <p:cNvSpPr/>
          <p:nvPr/>
        </p:nvSpPr>
        <p:spPr>
          <a:xfrm>
            <a:off x="548640" y="1783080"/>
            <a:ext cx="804672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What is AI?</a:t>
            </a:r>
            <a:endParaRPr lang="en-US" sz="4000" dirty="0"/>
          </a:p>
        </p:txBody>
      </p:sp>
      <p:sp>
        <p:nvSpPr>
          <p:cNvPr id="4" name="Text 2"/>
          <p:cNvSpPr/>
          <p:nvPr/>
        </p:nvSpPr>
        <p:spPr>
          <a:xfrm>
            <a:off x="548640" y="2788920"/>
            <a:ext cx="6949440" cy="548640"/>
          </a:xfrm>
          <a:prstGeom prst="rect">
            <a:avLst/>
          </a:prstGeom>
          <a:noFill/>
          <a:ln/>
        </p:spPr>
        <p:txBody>
          <a:bodyPr wrap="square" lIns="0" tIns="0" rIns="0" bIns="0" rtlCol="0" anchor="ctr"/>
          <a:lstStyle/>
          <a:p>
            <a:pPr indent="0" marL="0">
              <a:buNone/>
            </a:pPr>
            <a:r>
              <a:rPr lang="en-US" sz="1700" i="1" dirty="0">
                <a:solidFill>
                  <a:srgbClr val="97BC62"/>
                </a:solidFill>
                <a:latin typeface="Cambria" pitchFamily="34" charset="0"/>
                <a:ea typeface="Cambria" pitchFamily="34" charset="-122"/>
                <a:cs typeface="Cambria" pitchFamily="34" charset="-120"/>
              </a:rPr>
              <a:t>Software that learns from examples instead of following hand-written rules.</a:t>
            </a:r>
            <a:endParaRPr lang="en-US" sz="1700" dirty="0"/>
          </a:p>
        </p:txBody>
      </p:sp>
      <p:sp>
        <p:nvSpPr>
          <p:cNvPr id="5" name="Shape 3"/>
          <p:cNvSpPr/>
          <p:nvPr/>
        </p:nvSpPr>
        <p:spPr>
          <a:xfrm>
            <a:off x="7772400" y="3913632"/>
            <a:ext cx="868680" cy="868680"/>
          </a:xfrm>
          <a:prstGeom prst="ellipse">
            <a:avLst/>
          </a:prstGeom>
          <a:solidFill>
            <a:srgbClr val="FFFFFF"/>
          </a:solidFill>
          <a:ln/>
        </p:spPr>
      </p:sp>
      <p:pic>
        <p:nvPicPr>
          <p:cNvPr id="6" name="Image 0" descr="/sessions/jolly-optimistic-euler/build/logo-mark.png">    </p:cNvPr>
          <p:cNvPicPr>
            <a:picLocks noChangeAspect="1"/>
          </p:cNvPicPr>
          <p:nvPr/>
        </p:nvPicPr>
        <p:blipFill>
          <a:blip r:embed="rId1"/>
          <a:stretch>
            <a:fillRect/>
          </a:stretch>
        </p:blipFill>
        <p:spPr>
          <a:xfrm>
            <a:off x="7827264" y="3968496"/>
            <a:ext cx="758952" cy="758952"/>
          </a:xfrm>
          <a:prstGeom prst="rect">
            <a:avLst/>
          </a:prstGeom>
        </p:spPr>
      </p:pic>
      <p:sp>
        <p:nvSpPr>
          <p:cNvPr id="7" name="Text 4"/>
          <p:cNvSpPr/>
          <p:nvPr/>
        </p:nvSpPr>
        <p:spPr>
          <a:xfrm>
            <a:off x="548640" y="4617720"/>
            <a:ext cx="4572000" cy="274320"/>
          </a:xfrm>
          <a:prstGeom prst="rect">
            <a:avLst/>
          </a:prstGeom>
          <a:noFill/>
          <a:ln/>
        </p:spPr>
        <p:txBody>
          <a:bodyPr wrap="square" lIns="0" tIns="0" rIns="0" bIns="0" rtlCol="0" anchor="ctr"/>
          <a:lstStyle/>
          <a:p>
            <a:pPr indent="0" marL="0">
              <a:buNone/>
            </a:pPr>
            <a:r>
              <a:rPr lang="en-US" sz="1000" dirty="0">
                <a:solidFill>
                  <a:srgbClr val="7FA06F"/>
                </a:solidFill>
                <a:latin typeface="Calibri" pitchFamily="34" charset="0"/>
                <a:ea typeface="Calibri" pitchFamily="34" charset="-122"/>
                <a:cs typeface="Calibri" pitchFamily="34" charset="-120"/>
              </a:rPr>
              <a:t>Cambium Academy · Course 01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MODULE 1 · DEFINITION</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3100" b="1" dirty="0">
                <a:solidFill>
                  <a:srgbClr val="1F2A20"/>
                </a:solidFill>
                <a:latin typeface="Cambria" pitchFamily="34" charset="0"/>
                <a:ea typeface="Cambria" pitchFamily="34" charset="-122"/>
                <a:cs typeface="Cambria" pitchFamily="34" charset="-120"/>
              </a:rPr>
              <a:t>AI in one sentence</a:t>
            </a:r>
            <a:endParaRPr lang="en-US" sz="3100" dirty="0"/>
          </a:p>
        </p:txBody>
      </p:sp>
      <p:sp>
        <p:nvSpPr>
          <p:cNvPr id="4" name="Shape 2"/>
          <p:cNvSpPr/>
          <p:nvPr/>
        </p:nvSpPr>
        <p:spPr>
          <a:xfrm>
            <a:off x="548640" y="1417320"/>
            <a:ext cx="8046720" cy="868680"/>
          </a:xfrm>
          <a:prstGeom prst="roundRect">
            <a:avLst>
              <a:gd name="adj" fmla="val 7368"/>
            </a:avLst>
          </a:prstGeom>
          <a:solidFill>
            <a:srgbClr val="F0F5EC"/>
          </a:solidFill>
          <a:ln w="12700">
            <a:solidFill>
              <a:srgbClr val="DFE9D8"/>
            </a:solidFill>
            <a:prstDash val="solid"/>
          </a:ln>
        </p:spPr>
      </p:sp>
      <p:sp>
        <p:nvSpPr>
          <p:cNvPr id="5" name="Text 3"/>
          <p:cNvSpPr/>
          <p:nvPr/>
        </p:nvSpPr>
        <p:spPr>
          <a:xfrm>
            <a:off x="822960" y="1572768"/>
            <a:ext cx="7498080" cy="566928"/>
          </a:xfrm>
          <a:prstGeom prst="rect">
            <a:avLst/>
          </a:prstGeom>
          <a:noFill/>
          <a:ln/>
        </p:spPr>
        <p:txBody>
          <a:bodyPr wrap="square" lIns="0" tIns="0" rIns="0" bIns="0" rtlCol="0" anchor="ctr"/>
          <a:lstStyle/>
          <a:p>
            <a:pPr indent="0" marL="0">
              <a:buNone/>
            </a:pPr>
            <a:r>
              <a:rPr lang="en-US" sz="1700" i="1" dirty="0">
                <a:solidFill>
                  <a:srgbClr val="1F2A20"/>
                </a:solidFill>
                <a:latin typeface="Cambria" pitchFamily="34" charset="0"/>
                <a:ea typeface="Cambria" pitchFamily="34" charset="-122"/>
                <a:cs typeface="Cambria" pitchFamily="34" charset="-120"/>
              </a:rPr>
              <a:t>Artificial intelligence is software that </a:t>
            </a:r>
            <a:pPr indent="0" marL="0">
              <a:buNone/>
            </a:pPr>
            <a:r>
              <a:rPr lang="en-US" sz="1700" b="1" i="1" dirty="0">
                <a:solidFill>
                  <a:srgbClr val="2C5F2D"/>
                </a:solidFill>
                <a:latin typeface="Cambria" pitchFamily="34" charset="0"/>
                <a:ea typeface="Cambria" pitchFamily="34" charset="-122"/>
                <a:cs typeface="Cambria" pitchFamily="34" charset="-120"/>
              </a:rPr>
              <a:t>learns patterns from examples</a:t>
            </a:r>
            <a:pPr indent="0" marL="0">
              <a:buNone/>
            </a:pPr>
            <a:r>
              <a:rPr lang="en-US" sz="1700" i="1" dirty="0">
                <a:solidFill>
                  <a:srgbClr val="1F2A20"/>
                </a:solidFill>
                <a:latin typeface="Cambria" pitchFamily="34" charset="0"/>
                <a:ea typeface="Cambria" pitchFamily="34" charset="-122"/>
                <a:cs typeface="Cambria" pitchFamily="34" charset="-120"/>
              </a:rPr>
              <a:t> and uses them to make useful guesses about things it has never seen.</a:t>
            </a:r>
            <a:endParaRPr lang="en-US" sz="1700" dirty="0"/>
          </a:p>
        </p:txBody>
      </p:sp>
      <p:sp>
        <p:nvSpPr>
          <p:cNvPr id="6" name="Shape 4"/>
          <p:cNvSpPr/>
          <p:nvPr/>
        </p:nvSpPr>
        <p:spPr>
          <a:xfrm>
            <a:off x="548640" y="2606040"/>
            <a:ext cx="3886200" cy="2057400"/>
          </a:xfrm>
          <a:prstGeom prst="roundRect">
            <a:avLst>
              <a:gd name="adj" fmla="val 3111"/>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7" name="Shape 5"/>
          <p:cNvSpPr/>
          <p:nvPr/>
        </p:nvSpPr>
        <p:spPr>
          <a:xfrm>
            <a:off x="822960" y="2834640"/>
            <a:ext cx="420624" cy="420624"/>
          </a:xfrm>
          <a:prstGeom prst="ellipse">
            <a:avLst/>
          </a:prstGeom>
          <a:solidFill>
            <a:srgbClr val="F0F5EC"/>
          </a:solidFill>
          <a:ln/>
        </p:spPr>
      </p:sp>
      <p:pic>
        <p:nvPicPr>
          <p:cNvPr id="8" name="Image 0" descr="preencoded.png">    </p:cNvPr>
          <p:cNvPicPr>
            <a:picLocks noChangeAspect="1"/>
          </p:cNvPicPr>
          <p:nvPr/>
        </p:nvPicPr>
        <p:blipFill>
          <a:blip r:embed="rId1"/>
          <a:stretch>
            <a:fillRect/>
          </a:stretch>
        </p:blipFill>
        <p:spPr>
          <a:xfrm>
            <a:off x="932322" y="2944002"/>
            <a:ext cx="201900" cy="201900"/>
          </a:xfrm>
          <a:prstGeom prst="rect">
            <a:avLst/>
          </a:prstGeom>
        </p:spPr>
      </p:pic>
      <p:sp>
        <p:nvSpPr>
          <p:cNvPr id="9" name="Text 6"/>
          <p:cNvSpPr/>
          <p:nvPr/>
        </p:nvSpPr>
        <p:spPr>
          <a:xfrm>
            <a:off x="1371600" y="2871216"/>
            <a:ext cx="2926080" cy="320040"/>
          </a:xfrm>
          <a:prstGeom prst="rect">
            <a:avLst/>
          </a:prstGeom>
          <a:noFill/>
          <a:ln/>
        </p:spPr>
        <p:txBody>
          <a:bodyPr wrap="square" lIns="0" tIns="0" rIns="0" bIns="0" rtlCol="0" anchor="ctr"/>
          <a:lstStyle/>
          <a:p>
            <a:pPr indent="0" marL="0">
              <a:buNone/>
            </a:pPr>
            <a:r>
              <a:rPr lang="en-US" sz="1400" b="1" dirty="0">
                <a:solidFill>
                  <a:srgbClr val="1F2A20"/>
                </a:solidFill>
                <a:latin typeface="Calibri" pitchFamily="34" charset="0"/>
                <a:ea typeface="Calibri" pitchFamily="34" charset="-122"/>
                <a:cs typeface="Calibri" pitchFamily="34" charset="-120"/>
              </a:rPr>
              <a:t>Traditional software</a:t>
            </a:r>
            <a:endParaRPr lang="en-US" sz="1400" dirty="0"/>
          </a:p>
        </p:txBody>
      </p:sp>
      <p:sp>
        <p:nvSpPr>
          <p:cNvPr id="10" name="Text 7"/>
          <p:cNvSpPr/>
          <p:nvPr/>
        </p:nvSpPr>
        <p:spPr>
          <a:xfrm>
            <a:off x="822960" y="3310128"/>
            <a:ext cx="3383280" cy="1188720"/>
          </a:xfrm>
          <a:prstGeom prst="rect">
            <a:avLst/>
          </a:prstGeom>
          <a:noFill/>
          <a:ln/>
        </p:spPr>
        <p:txBody>
          <a:bodyPr wrap="square" lIns="0" tIns="0" rIns="0" bIns="0" rtlCol="0" anchor="ctr"/>
          <a:lstStyle/>
          <a:p>
            <a:pPr indent="0" marL="0">
              <a:buNone/>
            </a:pPr>
            <a:r>
              <a:rPr lang="en-US" sz="1200" dirty="0">
                <a:solidFill>
                  <a:srgbClr val="5C6B5A"/>
                </a:solidFill>
                <a:latin typeface="Calibri" pitchFamily="34" charset="0"/>
                <a:ea typeface="Calibri" pitchFamily="34" charset="-122"/>
                <a:cs typeface="Calibri" pitchFamily="34" charset="-120"/>
              </a:rPr>
              <a:t>A person writes every rule by hand. "If the email says WIN CASH, mark it as spam." Breaks the moment reality gets messy.</a:t>
            </a:r>
            <a:endParaRPr lang="en-US" sz="1200" dirty="0"/>
          </a:p>
        </p:txBody>
      </p:sp>
      <p:sp>
        <p:nvSpPr>
          <p:cNvPr id="11" name="Shape 8"/>
          <p:cNvSpPr/>
          <p:nvPr/>
        </p:nvSpPr>
        <p:spPr>
          <a:xfrm>
            <a:off x="4709160" y="2606040"/>
            <a:ext cx="3886200" cy="2057400"/>
          </a:xfrm>
          <a:prstGeom prst="roundRect">
            <a:avLst>
              <a:gd name="adj" fmla="val 3111"/>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12" name="Shape 9"/>
          <p:cNvSpPr/>
          <p:nvPr/>
        </p:nvSpPr>
        <p:spPr>
          <a:xfrm>
            <a:off x="4983480" y="2834640"/>
            <a:ext cx="420624" cy="420624"/>
          </a:xfrm>
          <a:prstGeom prst="ellipse">
            <a:avLst/>
          </a:prstGeom>
          <a:solidFill>
            <a:srgbClr val="F0F5EC"/>
          </a:solidFill>
          <a:ln/>
        </p:spPr>
      </p:sp>
      <p:pic>
        <p:nvPicPr>
          <p:cNvPr id="13" name="Image 1" descr="preencoded.png">    </p:cNvPr>
          <p:cNvPicPr>
            <a:picLocks noChangeAspect="1"/>
          </p:cNvPicPr>
          <p:nvPr/>
        </p:nvPicPr>
        <p:blipFill>
          <a:blip r:embed="rId2"/>
          <a:stretch>
            <a:fillRect/>
          </a:stretch>
        </p:blipFill>
        <p:spPr>
          <a:xfrm>
            <a:off x="5092842" y="2944002"/>
            <a:ext cx="201900" cy="201900"/>
          </a:xfrm>
          <a:prstGeom prst="rect">
            <a:avLst/>
          </a:prstGeom>
        </p:spPr>
      </p:pic>
      <p:sp>
        <p:nvSpPr>
          <p:cNvPr id="14" name="Text 10"/>
          <p:cNvSpPr/>
          <p:nvPr/>
        </p:nvSpPr>
        <p:spPr>
          <a:xfrm>
            <a:off x="5532120" y="2871216"/>
            <a:ext cx="2926080" cy="320040"/>
          </a:xfrm>
          <a:prstGeom prst="rect">
            <a:avLst/>
          </a:prstGeom>
          <a:noFill/>
          <a:ln/>
        </p:spPr>
        <p:txBody>
          <a:bodyPr wrap="square" lIns="0" tIns="0" rIns="0" bIns="0" rtlCol="0" anchor="ctr"/>
          <a:lstStyle/>
          <a:p>
            <a:pPr indent="0" marL="0">
              <a:buNone/>
            </a:pPr>
            <a:r>
              <a:rPr lang="en-US" sz="1400" b="1" dirty="0">
                <a:solidFill>
                  <a:srgbClr val="1F2A20"/>
                </a:solidFill>
                <a:latin typeface="Calibri" pitchFamily="34" charset="0"/>
                <a:ea typeface="Calibri" pitchFamily="34" charset="-122"/>
                <a:cs typeface="Calibri" pitchFamily="34" charset="-120"/>
              </a:rPr>
              <a:t>AI / machine learning</a:t>
            </a:r>
            <a:endParaRPr lang="en-US" sz="1400" dirty="0"/>
          </a:p>
        </p:txBody>
      </p:sp>
      <p:sp>
        <p:nvSpPr>
          <p:cNvPr id="15" name="Text 11"/>
          <p:cNvSpPr/>
          <p:nvPr/>
        </p:nvSpPr>
        <p:spPr>
          <a:xfrm>
            <a:off x="4983480" y="3310128"/>
            <a:ext cx="3383280" cy="1188720"/>
          </a:xfrm>
          <a:prstGeom prst="rect">
            <a:avLst/>
          </a:prstGeom>
          <a:noFill/>
          <a:ln/>
        </p:spPr>
        <p:txBody>
          <a:bodyPr wrap="square" lIns="0" tIns="0" rIns="0" bIns="0" rtlCol="0" anchor="ctr"/>
          <a:lstStyle/>
          <a:p>
            <a:pPr indent="0" marL="0">
              <a:buNone/>
            </a:pPr>
            <a:r>
              <a:rPr lang="en-US" sz="1200" dirty="0">
                <a:solidFill>
                  <a:srgbClr val="5C6B5A"/>
                </a:solidFill>
                <a:latin typeface="Calibri" pitchFamily="34" charset="0"/>
                <a:ea typeface="Calibri" pitchFamily="34" charset="-122"/>
                <a:cs typeface="Calibri" pitchFamily="34" charset="-120"/>
              </a:rPr>
              <a:t>Show it a million spam emails and a million real ones. It finds the telltale patterns itself, including ones no human ever wrote down.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MODULE 1 · THE FAMILY TREE</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2600" b="1" dirty="0">
                <a:solidFill>
                  <a:srgbClr val="1F2A20"/>
                </a:solidFill>
                <a:latin typeface="Cambria" pitchFamily="34" charset="0"/>
                <a:ea typeface="Cambria" pitchFamily="34" charset="-122"/>
                <a:cs typeface="Cambria" pitchFamily="34" charset="-120"/>
              </a:rPr>
              <a:t>AI is the family. Generative AI is the newest child.</a:t>
            </a:r>
            <a:endParaRPr lang="en-US" sz="2600" dirty="0"/>
          </a:p>
        </p:txBody>
      </p:sp>
      <p:sp>
        <p:nvSpPr>
          <p:cNvPr id="4" name="Shape 2"/>
          <p:cNvSpPr/>
          <p:nvPr/>
        </p:nvSpPr>
        <p:spPr>
          <a:xfrm>
            <a:off x="548640" y="1463040"/>
            <a:ext cx="3749040" cy="3383280"/>
          </a:xfrm>
          <a:prstGeom prst="roundRect">
            <a:avLst>
              <a:gd name="adj" fmla="val 1892"/>
            </a:avLst>
          </a:prstGeom>
          <a:solidFill>
            <a:srgbClr val="F7FAF4"/>
          </a:solidFill>
          <a:ln w="12700">
            <a:solidFill>
              <a:srgbClr val="DFE9D8"/>
            </a:solidFill>
            <a:prstDash val="solid"/>
          </a:ln>
        </p:spPr>
      </p:sp>
      <p:sp>
        <p:nvSpPr>
          <p:cNvPr id="5" name="Text 3"/>
          <p:cNvSpPr/>
          <p:nvPr/>
        </p:nvSpPr>
        <p:spPr>
          <a:xfrm>
            <a:off x="731520" y="1572768"/>
            <a:ext cx="3291840" cy="256032"/>
          </a:xfrm>
          <a:prstGeom prst="rect">
            <a:avLst/>
          </a:prstGeom>
          <a:noFill/>
          <a:ln/>
        </p:spPr>
        <p:txBody>
          <a:bodyPr wrap="square" lIns="0" tIns="0" rIns="0" bIns="0" rtlCol="0" anchor="ctr"/>
          <a:lstStyle/>
          <a:p>
            <a:pPr indent="0" marL="0">
              <a:buNone/>
            </a:pPr>
            <a:r>
              <a:rPr lang="en-US" sz="1050" b="1" spc="100" kern="0" dirty="0">
                <a:solidFill>
                  <a:srgbClr val="2C5F2D"/>
                </a:solidFill>
                <a:latin typeface="Calibri" pitchFamily="34" charset="0"/>
                <a:ea typeface="Calibri" pitchFamily="34" charset="-122"/>
                <a:cs typeface="Calibri" pitchFamily="34" charset="-120"/>
              </a:rPr>
              <a:t>ARTIFICIAL INTELLIGENCE</a:t>
            </a:r>
            <a:endParaRPr lang="en-US" sz="1050" dirty="0"/>
          </a:p>
        </p:txBody>
      </p:sp>
      <p:sp>
        <p:nvSpPr>
          <p:cNvPr id="6" name="Shape 4"/>
          <p:cNvSpPr/>
          <p:nvPr/>
        </p:nvSpPr>
        <p:spPr>
          <a:xfrm>
            <a:off x="822960" y="1920240"/>
            <a:ext cx="3200400" cy="2743200"/>
          </a:xfrm>
          <a:prstGeom prst="roundRect">
            <a:avLst>
              <a:gd name="adj" fmla="val 2333"/>
            </a:avLst>
          </a:prstGeom>
          <a:solidFill>
            <a:srgbClr val="EDF4E5"/>
          </a:solidFill>
          <a:ln w="12700">
            <a:solidFill>
              <a:srgbClr val="DFE9D8"/>
            </a:solidFill>
            <a:prstDash val="solid"/>
          </a:ln>
        </p:spPr>
      </p:sp>
      <p:sp>
        <p:nvSpPr>
          <p:cNvPr id="7" name="Text 5"/>
          <p:cNvSpPr/>
          <p:nvPr/>
        </p:nvSpPr>
        <p:spPr>
          <a:xfrm>
            <a:off x="1005840" y="2011680"/>
            <a:ext cx="2834640" cy="237744"/>
          </a:xfrm>
          <a:prstGeom prst="rect">
            <a:avLst/>
          </a:prstGeom>
          <a:noFill/>
          <a:ln/>
        </p:spPr>
        <p:txBody>
          <a:bodyPr wrap="square" lIns="0" tIns="0" rIns="0" bIns="0" rtlCol="0" anchor="ctr"/>
          <a:lstStyle/>
          <a:p>
            <a:pPr indent="0" marL="0">
              <a:buNone/>
            </a:pPr>
            <a:r>
              <a:rPr lang="en-US" sz="1050" b="1" spc="100" kern="0" dirty="0">
                <a:solidFill>
                  <a:srgbClr val="2C5F2D"/>
                </a:solidFill>
                <a:latin typeface="Calibri" pitchFamily="34" charset="0"/>
                <a:ea typeface="Calibri" pitchFamily="34" charset="-122"/>
                <a:cs typeface="Calibri" pitchFamily="34" charset="-120"/>
              </a:rPr>
              <a:t>MACHINE LEARNING</a:t>
            </a:r>
            <a:endParaRPr lang="en-US" sz="1050" dirty="0"/>
          </a:p>
        </p:txBody>
      </p:sp>
      <p:sp>
        <p:nvSpPr>
          <p:cNvPr id="8" name="Shape 6"/>
          <p:cNvSpPr/>
          <p:nvPr/>
        </p:nvSpPr>
        <p:spPr>
          <a:xfrm>
            <a:off x="1097280" y="2340864"/>
            <a:ext cx="2651760" cy="2103120"/>
          </a:xfrm>
          <a:prstGeom prst="roundRect">
            <a:avLst>
              <a:gd name="adj" fmla="val 3043"/>
            </a:avLst>
          </a:prstGeom>
          <a:solidFill>
            <a:srgbClr val="E2EDD5"/>
          </a:solidFill>
          <a:ln w="12700">
            <a:solidFill>
              <a:srgbClr val="DFE9D8"/>
            </a:solidFill>
            <a:prstDash val="solid"/>
          </a:ln>
        </p:spPr>
      </p:sp>
      <p:sp>
        <p:nvSpPr>
          <p:cNvPr id="9" name="Text 7"/>
          <p:cNvSpPr/>
          <p:nvPr/>
        </p:nvSpPr>
        <p:spPr>
          <a:xfrm>
            <a:off x="1280160" y="2432304"/>
            <a:ext cx="2377440" cy="237744"/>
          </a:xfrm>
          <a:prstGeom prst="rect">
            <a:avLst/>
          </a:prstGeom>
          <a:noFill/>
          <a:ln/>
        </p:spPr>
        <p:txBody>
          <a:bodyPr wrap="square" lIns="0" tIns="0" rIns="0" bIns="0" rtlCol="0" anchor="ctr"/>
          <a:lstStyle/>
          <a:p>
            <a:pPr indent="0" marL="0">
              <a:buNone/>
            </a:pPr>
            <a:r>
              <a:rPr lang="en-US" sz="1050" b="1" spc="100" kern="0" dirty="0">
                <a:solidFill>
                  <a:srgbClr val="2C5F2D"/>
                </a:solidFill>
                <a:latin typeface="Calibri" pitchFamily="34" charset="0"/>
                <a:ea typeface="Calibri" pitchFamily="34" charset="-122"/>
                <a:cs typeface="Calibri" pitchFamily="34" charset="-120"/>
              </a:rPr>
              <a:t>DEEP LEARNING</a:t>
            </a:r>
            <a:endParaRPr lang="en-US" sz="1050" dirty="0"/>
          </a:p>
        </p:txBody>
      </p:sp>
      <p:sp>
        <p:nvSpPr>
          <p:cNvPr id="10" name="Shape 8"/>
          <p:cNvSpPr/>
          <p:nvPr/>
        </p:nvSpPr>
        <p:spPr>
          <a:xfrm>
            <a:off x="1371600" y="2761488"/>
            <a:ext cx="2103120" cy="1463040"/>
          </a:xfrm>
          <a:prstGeom prst="roundRect">
            <a:avLst>
              <a:gd name="adj" fmla="val 4375"/>
            </a:avLst>
          </a:prstGeom>
          <a:solidFill>
            <a:srgbClr val="97BC62"/>
          </a:solidFill>
          <a:ln w="12700">
            <a:solidFill>
              <a:srgbClr val="DFE9D8"/>
            </a:solidFill>
            <a:prstDash val="solid"/>
          </a:ln>
        </p:spPr>
      </p:sp>
      <p:sp>
        <p:nvSpPr>
          <p:cNvPr id="11" name="Text 9"/>
          <p:cNvSpPr/>
          <p:nvPr/>
        </p:nvSpPr>
        <p:spPr>
          <a:xfrm>
            <a:off x="1508760" y="3063240"/>
            <a:ext cx="1828800"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GENERATIVE AI</a:t>
            </a:r>
            <a:endParaRPr lang="en-US" sz="1100" dirty="0"/>
          </a:p>
        </p:txBody>
      </p:sp>
      <p:sp>
        <p:nvSpPr>
          <p:cNvPr id="12" name="Text 10"/>
          <p:cNvSpPr/>
          <p:nvPr/>
        </p:nvSpPr>
        <p:spPr>
          <a:xfrm>
            <a:off x="1508760" y="3383280"/>
            <a:ext cx="1828800" cy="548640"/>
          </a:xfrm>
          <a:prstGeom prst="rect">
            <a:avLst/>
          </a:prstGeom>
          <a:noFill/>
          <a:ln/>
        </p:spPr>
        <p:txBody>
          <a:bodyPr wrap="square" lIns="0" tIns="0" rIns="0" bIns="0" rtlCol="0" anchor="ctr"/>
          <a:lstStyle/>
          <a:p>
            <a:pPr algn="ctr" indent="0" marL="0">
              <a:buNone/>
            </a:pPr>
            <a:r>
              <a:rPr lang="en-US" sz="1000" dirty="0">
                <a:solidFill>
                  <a:srgbClr val="F2F8EA"/>
                </a:solidFill>
                <a:latin typeface="Calibri" pitchFamily="34" charset="0"/>
                <a:ea typeface="Calibri" pitchFamily="34" charset="-122"/>
                <a:cs typeface="Calibri" pitchFamily="34" charset="-120"/>
              </a:rPr>
              <a:t>ChatGPT, Claude,</a:t>
            </a:r>
            <a:endParaRPr lang="en-US" sz="1000" dirty="0"/>
          </a:p>
          <a:p>
            <a:pPr algn="ctr" indent="0" marL="0">
              <a:buNone/>
            </a:pPr>
            <a:r>
              <a:rPr lang="en-US" sz="1000" dirty="0">
                <a:solidFill>
                  <a:srgbClr val="F2F8EA"/>
                </a:solidFill>
                <a:latin typeface="Calibri" pitchFamily="34" charset="0"/>
                <a:ea typeface="Calibri" pitchFamily="34" charset="-122"/>
                <a:cs typeface="Calibri" pitchFamily="34" charset="-120"/>
              </a:rPr>
              <a:t>Gemini live here</a:t>
            </a:r>
            <a:endParaRPr lang="en-US" sz="1000" dirty="0"/>
          </a:p>
        </p:txBody>
      </p:sp>
      <p:sp>
        <p:nvSpPr>
          <p:cNvPr id="13" name="Text 11"/>
          <p:cNvSpPr/>
          <p:nvPr/>
        </p:nvSpPr>
        <p:spPr>
          <a:xfrm>
            <a:off x="4617720" y="1600200"/>
            <a:ext cx="3977640" cy="777240"/>
          </a:xfrm>
          <a:prstGeom prst="rect">
            <a:avLst/>
          </a:prstGeom>
          <a:noFill/>
          <a:ln/>
        </p:spPr>
        <p:txBody>
          <a:bodyPr wrap="square" lIns="0" tIns="0" rIns="0" bIns="0" rtlCol="0" anchor="ctr"/>
          <a:lstStyle/>
          <a:p>
            <a:pPr indent="0" marL="0">
              <a:buNone/>
            </a:pPr>
            <a:r>
              <a:rPr lang="en-US" sz="1300" b="1" dirty="0">
                <a:solidFill>
                  <a:srgbClr val="1F2A20"/>
                </a:solidFill>
                <a:latin typeface="Calibri" pitchFamily="34" charset="0"/>
                <a:ea typeface="Calibri" pitchFamily="34" charset="-122"/>
                <a:cs typeface="Calibri" pitchFamily="34" charset="-120"/>
              </a:rPr>
              <a:t>Artificial intelligence</a:t>
            </a:r>
            <a:endParaRPr lang="en-US" sz="1300" dirty="0"/>
          </a:p>
          <a:p>
            <a:pPr indent="0" marL="0">
              <a:buNone/>
            </a:pPr>
            <a:r>
              <a:rPr lang="en-US" sz="1150" dirty="0">
                <a:solidFill>
                  <a:srgbClr val="5C6B5A"/>
                </a:solidFill>
                <a:latin typeface="Calibri" pitchFamily="34" charset="0"/>
                <a:ea typeface="Calibri" pitchFamily="34" charset="-122"/>
                <a:cs typeface="Calibri" pitchFamily="34" charset="-120"/>
              </a:rPr>
              <a:t>Any technique that makes machines act smart, from chess engines to chatbots.</a:t>
            </a:r>
            <a:endParaRPr lang="en-US" sz="1300" dirty="0"/>
          </a:p>
        </p:txBody>
      </p:sp>
      <p:sp>
        <p:nvSpPr>
          <p:cNvPr id="14" name="Text 12"/>
          <p:cNvSpPr/>
          <p:nvPr/>
        </p:nvSpPr>
        <p:spPr>
          <a:xfrm>
            <a:off x="4617720" y="2450592"/>
            <a:ext cx="3977640" cy="777240"/>
          </a:xfrm>
          <a:prstGeom prst="rect">
            <a:avLst/>
          </a:prstGeom>
          <a:noFill/>
          <a:ln/>
        </p:spPr>
        <p:txBody>
          <a:bodyPr wrap="square" lIns="0" tIns="0" rIns="0" bIns="0" rtlCol="0" anchor="ctr"/>
          <a:lstStyle/>
          <a:p>
            <a:pPr indent="0" marL="0">
              <a:buNone/>
            </a:pPr>
            <a:r>
              <a:rPr lang="en-US" sz="1300" b="1" dirty="0">
                <a:solidFill>
                  <a:srgbClr val="1F2A20"/>
                </a:solidFill>
                <a:latin typeface="Calibri" pitchFamily="34" charset="0"/>
                <a:ea typeface="Calibri" pitchFamily="34" charset="-122"/>
                <a:cs typeface="Calibri" pitchFamily="34" charset="-120"/>
              </a:rPr>
              <a:t>Machine learning</a:t>
            </a:r>
            <a:endParaRPr lang="en-US" sz="1300" dirty="0"/>
          </a:p>
          <a:p>
            <a:pPr indent="0" marL="0">
              <a:buNone/>
            </a:pPr>
            <a:r>
              <a:rPr lang="en-US" sz="1150" dirty="0">
                <a:solidFill>
                  <a:srgbClr val="5C6B5A"/>
                </a:solidFill>
                <a:latin typeface="Calibri" pitchFamily="34" charset="0"/>
                <a:ea typeface="Calibri" pitchFamily="34" charset="-122"/>
                <a:cs typeface="Calibri" pitchFamily="34" charset="-120"/>
              </a:rPr>
              <a:t>The dominant technique: learn patterns from data instead of hand-written rules.</a:t>
            </a:r>
            <a:endParaRPr lang="en-US" sz="1300" dirty="0"/>
          </a:p>
        </p:txBody>
      </p:sp>
      <p:sp>
        <p:nvSpPr>
          <p:cNvPr id="15" name="Text 13"/>
          <p:cNvSpPr/>
          <p:nvPr/>
        </p:nvSpPr>
        <p:spPr>
          <a:xfrm>
            <a:off x="4617720" y="3300984"/>
            <a:ext cx="3977640" cy="777240"/>
          </a:xfrm>
          <a:prstGeom prst="rect">
            <a:avLst/>
          </a:prstGeom>
          <a:noFill/>
          <a:ln/>
        </p:spPr>
        <p:txBody>
          <a:bodyPr wrap="square" lIns="0" tIns="0" rIns="0" bIns="0" rtlCol="0" anchor="ctr"/>
          <a:lstStyle/>
          <a:p>
            <a:pPr indent="0" marL="0">
              <a:buNone/>
            </a:pPr>
            <a:r>
              <a:rPr lang="en-US" sz="1300" b="1" dirty="0">
                <a:solidFill>
                  <a:srgbClr val="1F2A20"/>
                </a:solidFill>
                <a:latin typeface="Calibri" pitchFamily="34" charset="0"/>
                <a:ea typeface="Calibri" pitchFamily="34" charset="-122"/>
                <a:cs typeface="Calibri" pitchFamily="34" charset="-120"/>
              </a:rPr>
              <a:t>Deep learning</a:t>
            </a:r>
            <a:endParaRPr lang="en-US" sz="1300" dirty="0"/>
          </a:p>
          <a:p>
            <a:pPr indent="0" marL="0">
              <a:buNone/>
            </a:pPr>
            <a:r>
              <a:rPr lang="en-US" sz="1150" dirty="0">
                <a:solidFill>
                  <a:srgbClr val="5C6B5A"/>
                </a:solidFill>
                <a:latin typeface="Calibri" pitchFamily="34" charset="0"/>
                <a:ea typeface="Calibri" pitchFamily="34" charset="-122"/>
                <a:cs typeface="Calibri" pitchFamily="34" charset="-120"/>
              </a:rPr>
              <a:t>Machine learning with many-layered neural networks. Took off in 2012.</a:t>
            </a:r>
            <a:endParaRPr lang="en-US" sz="1300" dirty="0"/>
          </a:p>
        </p:txBody>
      </p:sp>
      <p:sp>
        <p:nvSpPr>
          <p:cNvPr id="16" name="Text 14"/>
          <p:cNvSpPr/>
          <p:nvPr/>
        </p:nvSpPr>
        <p:spPr>
          <a:xfrm>
            <a:off x="4617720" y="4151376"/>
            <a:ext cx="3977640" cy="777240"/>
          </a:xfrm>
          <a:prstGeom prst="rect">
            <a:avLst/>
          </a:prstGeom>
          <a:noFill/>
          <a:ln/>
        </p:spPr>
        <p:txBody>
          <a:bodyPr wrap="square" lIns="0" tIns="0" rIns="0" bIns="0" rtlCol="0" anchor="ctr"/>
          <a:lstStyle/>
          <a:p>
            <a:pPr indent="0" marL="0">
              <a:buNone/>
            </a:pPr>
            <a:r>
              <a:rPr lang="en-US" sz="1300" b="1" dirty="0">
                <a:solidFill>
                  <a:srgbClr val="1F2A20"/>
                </a:solidFill>
                <a:latin typeface="Calibri" pitchFamily="34" charset="0"/>
                <a:ea typeface="Calibri" pitchFamily="34" charset="-122"/>
                <a:cs typeface="Calibri" pitchFamily="34" charset="-120"/>
              </a:rPr>
              <a:t>Generative AI</a:t>
            </a:r>
            <a:endParaRPr lang="en-US" sz="1300" dirty="0"/>
          </a:p>
          <a:p>
            <a:pPr indent="0" marL="0">
              <a:buNone/>
            </a:pPr>
            <a:r>
              <a:rPr lang="en-US" sz="1150" dirty="0">
                <a:solidFill>
                  <a:srgbClr val="5C6B5A"/>
                </a:solidFill>
                <a:latin typeface="Calibri" pitchFamily="34" charset="0"/>
                <a:ea typeface="Calibri" pitchFamily="34" charset="-122"/>
                <a:cs typeface="Calibri" pitchFamily="34" charset="-120"/>
              </a:rPr>
              <a:t>Deep learning that creates new text, images, audio, and video. The 2022 breakthrough.</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MODULE 1 · A SHORT HISTORY</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3100" b="1" dirty="0">
                <a:solidFill>
                  <a:srgbClr val="1F2A20"/>
                </a:solidFill>
                <a:latin typeface="Cambria" pitchFamily="34" charset="0"/>
                <a:ea typeface="Cambria" pitchFamily="34" charset="-122"/>
                <a:cs typeface="Cambria" pitchFamily="34" charset="-120"/>
              </a:rPr>
              <a:t>Seventy-five years in one slide</a:t>
            </a:r>
            <a:endParaRPr lang="en-US" sz="3100" dirty="0"/>
          </a:p>
        </p:txBody>
      </p:sp>
      <p:sp>
        <p:nvSpPr>
          <p:cNvPr id="4" name="Shape 2"/>
          <p:cNvSpPr/>
          <p:nvPr/>
        </p:nvSpPr>
        <p:spPr>
          <a:xfrm>
            <a:off x="777240" y="2788920"/>
            <a:ext cx="7589520" cy="0"/>
          </a:xfrm>
          <a:prstGeom prst="line">
            <a:avLst/>
          </a:prstGeom>
          <a:noFill/>
          <a:ln w="31750">
            <a:solidFill>
              <a:srgbClr val="97BC62"/>
            </a:solidFill>
            <a:prstDash val="solid"/>
          </a:ln>
        </p:spPr>
      </p:sp>
      <p:sp>
        <p:nvSpPr>
          <p:cNvPr id="5" name="Shape 3"/>
          <p:cNvSpPr/>
          <p:nvPr/>
        </p:nvSpPr>
        <p:spPr>
          <a:xfrm>
            <a:off x="694944" y="2706624"/>
            <a:ext cx="164592" cy="164592"/>
          </a:xfrm>
          <a:prstGeom prst="ellipse">
            <a:avLst/>
          </a:prstGeom>
          <a:solidFill>
            <a:srgbClr val="2C5F2D"/>
          </a:solidFill>
          <a:ln/>
        </p:spPr>
      </p:sp>
      <p:sp>
        <p:nvSpPr>
          <p:cNvPr id="6" name="Text 4"/>
          <p:cNvSpPr/>
          <p:nvPr/>
        </p:nvSpPr>
        <p:spPr>
          <a:xfrm>
            <a:off x="91440" y="2212848"/>
            <a:ext cx="1371600" cy="274320"/>
          </a:xfrm>
          <a:prstGeom prst="rect">
            <a:avLst/>
          </a:prstGeom>
          <a:noFill/>
          <a:ln/>
        </p:spPr>
        <p:txBody>
          <a:bodyPr wrap="square" lIns="0" tIns="0" rIns="0" bIns="0" rtlCol="0" anchor="ctr"/>
          <a:lstStyle/>
          <a:p>
            <a:pPr algn="ctr" indent="0" marL="0">
              <a:buNone/>
            </a:pPr>
            <a:r>
              <a:rPr lang="en-US" sz="1600" b="1" dirty="0">
                <a:solidFill>
                  <a:srgbClr val="2C5F2D"/>
                </a:solidFill>
                <a:latin typeface="Cambria" pitchFamily="34" charset="0"/>
                <a:ea typeface="Cambria" pitchFamily="34" charset="-122"/>
                <a:cs typeface="Cambria" pitchFamily="34" charset="-120"/>
              </a:rPr>
              <a:t>1950</a:t>
            </a:r>
            <a:endParaRPr lang="en-US" sz="1600" dirty="0"/>
          </a:p>
        </p:txBody>
      </p:sp>
      <p:sp>
        <p:nvSpPr>
          <p:cNvPr id="7" name="Text 5"/>
          <p:cNvSpPr/>
          <p:nvPr/>
        </p:nvSpPr>
        <p:spPr>
          <a:xfrm>
            <a:off x="64008" y="1481328"/>
            <a:ext cx="1426464" cy="777240"/>
          </a:xfrm>
          <a:prstGeom prst="rect">
            <a:avLst/>
          </a:prstGeom>
          <a:noFill/>
          <a:ln/>
        </p:spPr>
        <p:txBody>
          <a:bodyPr wrap="square" lIns="0" tIns="0" rIns="0" bIns="0" rtlCol="0" anchor="b"/>
          <a:lstStyle/>
          <a:p>
            <a:pPr algn="ctr" indent="0" marL="0">
              <a:buNone/>
            </a:pPr>
            <a:r>
              <a:rPr lang="en-US" sz="1000" dirty="0">
                <a:solidFill>
                  <a:srgbClr val="5C6B5A"/>
                </a:solidFill>
                <a:latin typeface="Calibri" pitchFamily="34" charset="0"/>
                <a:ea typeface="Calibri" pitchFamily="34" charset="-122"/>
                <a:cs typeface="Calibri" pitchFamily="34" charset="-120"/>
              </a:rPr>
              <a:t>Alan Turing asks: can machines think?</a:t>
            </a:r>
            <a:endParaRPr lang="en-US" sz="1000" dirty="0"/>
          </a:p>
        </p:txBody>
      </p:sp>
      <p:sp>
        <p:nvSpPr>
          <p:cNvPr id="8" name="Shape 6"/>
          <p:cNvSpPr/>
          <p:nvPr/>
        </p:nvSpPr>
        <p:spPr>
          <a:xfrm>
            <a:off x="2212848" y="2706624"/>
            <a:ext cx="164592" cy="164592"/>
          </a:xfrm>
          <a:prstGeom prst="ellipse">
            <a:avLst/>
          </a:prstGeom>
          <a:solidFill>
            <a:srgbClr val="2C5F2D"/>
          </a:solidFill>
          <a:ln/>
        </p:spPr>
      </p:sp>
      <p:sp>
        <p:nvSpPr>
          <p:cNvPr id="9" name="Text 7"/>
          <p:cNvSpPr/>
          <p:nvPr/>
        </p:nvSpPr>
        <p:spPr>
          <a:xfrm>
            <a:off x="1609344" y="3017520"/>
            <a:ext cx="1371600" cy="274320"/>
          </a:xfrm>
          <a:prstGeom prst="rect">
            <a:avLst/>
          </a:prstGeom>
          <a:noFill/>
          <a:ln/>
        </p:spPr>
        <p:txBody>
          <a:bodyPr wrap="square" lIns="0" tIns="0" rIns="0" bIns="0" rtlCol="0" anchor="ctr"/>
          <a:lstStyle/>
          <a:p>
            <a:pPr algn="ctr" indent="0" marL="0">
              <a:buNone/>
            </a:pPr>
            <a:r>
              <a:rPr lang="en-US" sz="1600" b="1" dirty="0">
                <a:solidFill>
                  <a:srgbClr val="2C5F2D"/>
                </a:solidFill>
                <a:latin typeface="Cambria" pitchFamily="34" charset="0"/>
                <a:ea typeface="Cambria" pitchFamily="34" charset="-122"/>
                <a:cs typeface="Cambria" pitchFamily="34" charset="-120"/>
              </a:rPr>
              <a:t>1997</a:t>
            </a:r>
            <a:endParaRPr lang="en-US" sz="1600" dirty="0"/>
          </a:p>
        </p:txBody>
      </p:sp>
      <p:sp>
        <p:nvSpPr>
          <p:cNvPr id="10" name="Text 8"/>
          <p:cNvSpPr/>
          <p:nvPr/>
        </p:nvSpPr>
        <p:spPr>
          <a:xfrm>
            <a:off x="1581912" y="3346704"/>
            <a:ext cx="1426464" cy="777240"/>
          </a:xfrm>
          <a:prstGeom prst="rect">
            <a:avLst/>
          </a:prstGeom>
          <a:noFill/>
          <a:ln/>
        </p:spPr>
        <p:txBody>
          <a:bodyPr wrap="square" lIns="0" tIns="0" rIns="0" bIns="0" rtlCol="0" anchor="t"/>
          <a:lstStyle/>
          <a:p>
            <a:pPr algn="ctr" indent="0" marL="0">
              <a:buNone/>
            </a:pPr>
            <a:r>
              <a:rPr lang="en-US" sz="1000" dirty="0">
                <a:solidFill>
                  <a:srgbClr val="5C6B5A"/>
                </a:solidFill>
                <a:latin typeface="Calibri" pitchFamily="34" charset="0"/>
                <a:ea typeface="Calibri" pitchFamily="34" charset="-122"/>
                <a:cs typeface="Calibri" pitchFamily="34" charset="-120"/>
              </a:rPr>
              <a:t>Deep Blue beats the world chess champion</a:t>
            </a:r>
            <a:endParaRPr lang="en-US" sz="1000" dirty="0"/>
          </a:p>
        </p:txBody>
      </p:sp>
      <p:sp>
        <p:nvSpPr>
          <p:cNvPr id="11" name="Shape 9"/>
          <p:cNvSpPr/>
          <p:nvPr/>
        </p:nvSpPr>
        <p:spPr>
          <a:xfrm>
            <a:off x="3730752" y="2706624"/>
            <a:ext cx="164592" cy="164592"/>
          </a:xfrm>
          <a:prstGeom prst="ellipse">
            <a:avLst/>
          </a:prstGeom>
          <a:solidFill>
            <a:srgbClr val="2C5F2D"/>
          </a:solidFill>
          <a:ln/>
        </p:spPr>
      </p:sp>
      <p:sp>
        <p:nvSpPr>
          <p:cNvPr id="12" name="Text 10"/>
          <p:cNvSpPr/>
          <p:nvPr/>
        </p:nvSpPr>
        <p:spPr>
          <a:xfrm>
            <a:off x="3127248" y="2212848"/>
            <a:ext cx="1371600" cy="274320"/>
          </a:xfrm>
          <a:prstGeom prst="rect">
            <a:avLst/>
          </a:prstGeom>
          <a:noFill/>
          <a:ln/>
        </p:spPr>
        <p:txBody>
          <a:bodyPr wrap="square" lIns="0" tIns="0" rIns="0" bIns="0" rtlCol="0" anchor="ctr"/>
          <a:lstStyle/>
          <a:p>
            <a:pPr algn="ctr" indent="0" marL="0">
              <a:buNone/>
            </a:pPr>
            <a:r>
              <a:rPr lang="en-US" sz="1600" b="1" dirty="0">
                <a:solidFill>
                  <a:srgbClr val="2C5F2D"/>
                </a:solidFill>
                <a:latin typeface="Cambria" pitchFamily="34" charset="0"/>
                <a:ea typeface="Cambria" pitchFamily="34" charset="-122"/>
                <a:cs typeface="Cambria" pitchFamily="34" charset="-120"/>
              </a:rPr>
              <a:t>2012</a:t>
            </a:r>
            <a:endParaRPr lang="en-US" sz="1600" dirty="0"/>
          </a:p>
        </p:txBody>
      </p:sp>
      <p:sp>
        <p:nvSpPr>
          <p:cNvPr id="13" name="Text 11"/>
          <p:cNvSpPr/>
          <p:nvPr/>
        </p:nvSpPr>
        <p:spPr>
          <a:xfrm>
            <a:off x="3099816" y="1481328"/>
            <a:ext cx="1426464" cy="777240"/>
          </a:xfrm>
          <a:prstGeom prst="rect">
            <a:avLst/>
          </a:prstGeom>
          <a:noFill/>
          <a:ln/>
        </p:spPr>
        <p:txBody>
          <a:bodyPr wrap="square" lIns="0" tIns="0" rIns="0" bIns="0" rtlCol="0" anchor="b"/>
          <a:lstStyle/>
          <a:p>
            <a:pPr algn="ctr" indent="0" marL="0">
              <a:buNone/>
            </a:pPr>
            <a:r>
              <a:rPr lang="en-US" sz="1000" dirty="0">
                <a:solidFill>
                  <a:srgbClr val="5C6B5A"/>
                </a:solidFill>
                <a:latin typeface="Calibri" pitchFamily="34" charset="0"/>
                <a:ea typeface="Calibri" pitchFamily="34" charset="-122"/>
                <a:cs typeface="Calibri" pitchFamily="34" charset="-120"/>
              </a:rPr>
              <a:t>Deep learning wins the ImageNet vision contest</a:t>
            </a:r>
            <a:endParaRPr lang="en-US" sz="1000" dirty="0"/>
          </a:p>
        </p:txBody>
      </p:sp>
      <p:sp>
        <p:nvSpPr>
          <p:cNvPr id="14" name="Shape 12"/>
          <p:cNvSpPr/>
          <p:nvPr/>
        </p:nvSpPr>
        <p:spPr>
          <a:xfrm>
            <a:off x="5248656" y="2706624"/>
            <a:ext cx="164592" cy="164592"/>
          </a:xfrm>
          <a:prstGeom prst="ellipse">
            <a:avLst/>
          </a:prstGeom>
          <a:solidFill>
            <a:srgbClr val="2C5F2D"/>
          </a:solidFill>
          <a:ln/>
        </p:spPr>
      </p:sp>
      <p:sp>
        <p:nvSpPr>
          <p:cNvPr id="15" name="Text 13"/>
          <p:cNvSpPr/>
          <p:nvPr/>
        </p:nvSpPr>
        <p:spPr>
          <a:xfrm>
            <a:off x="4645152" y="3017520"/>
            <a:ext cx="1371600" cy="274320"/>
          </a:xfrm>
          <a:prstGeom prst="rect">
            <a:avLst/>
          </a:prstGeom>
          <a:noFill/>
          <a:ln/>
        </p:spPr>
        <p:txBody>
          <a:bodyPr wrap="square" lIns="0" tIns="0" rIns="0" bIns="0" rtlCol="0" anchor="ctr"/>
          <a:lstStyle/>
          <a:p>
            <a:pPr algn="ctr" indent="0" marL="0">
              <a:buNone/>
            </a:pPr>
            <a:r>
              <a:rPr lang="en-US" sz="1600" b="1" dirty="0">
                <a:solidFill>
                  <a:srgbClr val="2C5F2D"/>
                </a:solidFill>
                <a:latin typeface="Cambria" pitchFamily="34" charset="0"/>
                <a:ea typeface="Cambria" pitchFamily="34" charset="-122"/>
                <a:cs typeface="Cambria" pitchFamily="34" charset="-120"/>
              </a:rPr>
              <a:t>2017</a:t>
            </a:r>
            <a:endParaRPr lang="en-US" sz="1600" dirty="0"/>
          </a:p>
        </p:txBody>
      </p:sp>
      <p:sp>
        <p:nvSpPr>
          <p:cNvPr id="16" name="Text 14"/>
          <p:cNvSpPr/>
          <p:nvPr/>
        </p:nvSpPr>
        <p:spPr>
          <a:xfrm>
            <a:off x="4617720" y="3346704"/>
            <a:ext cx="1426464" cy="777240"/>
          </a:xfrm>
          <a:prstGeom prst="rect">
            <a:avLst/>
          </a:prstGeom>
          <a:noFill/>
          <a:ln/>
        </p:spPr>
        <p:txBody>
          <a:bodyPr wrap="square" lIns="0" tIns="0" rIns="0" bIns="0" rtlCol="0" anchor="t"/>
          <a:lstStyle/>
          <a:p>
            <a:pPr algn="ctr" indent="0" marL="0">
              <a:buNone/>
            </a:pPr>
            <a:r>
              <a:rPr lang="en-US" sz="1000" dirty="0">
                <a:solidFill>
                  <a:srgbClr val="5C6B5A"/>
                </a:solidFill>
                <a:latin typeface="Calibri" pitchFamily="34" charset="0"/>
                <a:ea typeface="Calibri" pitchFamily="34" charset="-122"/>
                <a:cs typeface="Calibri" pitchFamily="34" charset="-120"/>
              </a:rPr>
              <a:t>Google publishes the Transformer paper</a:t>
            </a:r>
            <a:endParaRPr lang="en-US" sz="1000" dirty="0"/>
          </a:p>
        </p:txBody>
      </p:sp>
      <p:sp>
        <p:nvSpPr>
          <p:cNvPr id="17" name="Shape 15"/>
          <p:cNvSpPr/>
          <p:nvPr/>
        </p:nvSpPr>
        <p:spPr>
          <a:xfrm>
            <a:off x="6766560" y="2706624"/>
            <a:ext cx="164592" cy="164592"/>
          </a:xfrm>
          <a:prstGeom prst="ellipse">
            <a:avLst/>
          </a:prstGeom>
          <a:solidFill>
            <a:srgbClr val="2C5F2D"/>
          </a:solidFill>
          <a:ln/>
        </p:spPr>
      </p:sp>
      <p:sp>
        <p:nvSpPr>
          <p:cNvPr id="18" name="Text 16"/>
          <p:cNvSpPr/>
          <p:nvPr/>
        </p:nvSpPr>
        <p:spPr>
          <a:xfrm>
            <a:off x="6163056" y="2212848"/>
            <a:ext cx="1371600" cy="274320"/>
          </a:xfrm>
          <a:prstGeom prst="rect">
            <a:avLst/>
          </a:prstGeom>
          <a:noFill/>
          <a:ln/>
        </p:spPr>
        <p:txBody>
          <a:bodyPr wrap="square" lIns="0" tIns="0" rIns="0" bIns="0" rtlCol="0" anchor="ctr"/>
          <a:lstStyle/>
          <a:p>
            <a:pPr algn="ctr" indent="0" marL="0">
              <a:buNone/>
            </a:pPr>
            <a:r>
              <a:rPr lang="en-US" sz="1600" b="1" dirty="0">
                <a:solidFill>
                  <a:srgbClr val="2C5F2D"/>
                </a:solidFill>
                <a:latin typeface="Cambria" pitchFamily="34" charset="0"/>
                <a:ea typeface="Cambria" pitchFamily="34" charset="-122"/>
                <a:cs typeface="Cambria" pitchFamily="34" charset="-120"/>
              </a:rPr>
              <a:t>2022</a:t>
            </a:r>
            <a:endParaRPr lang="en-US" sz="1600" dirty="0"/>
          </a:p>
        </p:txBody>
      </p:sp>
      <p:sp>
        <p:nvSpPr>
          <p:cNvPr id="19" name="Text 17"/>
          <p:cNvSpPr/>
          <p:nvPr/>
        </p:nvSpPr>
        <p:spPr>
          <a:xfrm>
            <a:off x="6135624" y="1481328"/>
            <a:ext cx="1426464" cy="777240"/>
          </a:xfrm>
          <a:prstGeom prst="rect">
            <a:avLst/>
          </a:prstGeom>
          <a:noFill/>
          <a:ln/>
        </p:spPr>
        <p:txBody>
          <a:bodyPr wrap="square" lIns="0" tIns="0" rIns="0" bIns="0" rtlCol="0" anchor="b"/>
          <a:lstStyle/>
          <a:p>
            <a:pPr algn="ctr" indent="0" marL="0">
              <a:buNone/>
            </a:pPr>
            <a:r>
              <a:rPr lang="en-US" sz="1000" dirty="0">
                <a:solidFill>
                  <a:srgbClr val="5C6B5A"/>
                </a:solidFill>
                <a:latin typeface="Calibri" pitchFamily="34" charset="0"/>
                <a:ea typeface="Calibri" pitchFamily="34" charset="-122"/>
                <a:cs typeface="Calibri" pitchFamily="34" charset="-120"/>
              </a:rPr>
              <a:t>ChatGPT brings AI to everyone</a:t>
            </a:r>
            <a:endParaRPr lang="en-US" sz="1000" dirty="0"/>
          </a:p>
        </p:txBody>
      </p:sp>
      <p:sp>
        <p:nvSpPr>
          <p:cNvPr id="20" name="Shape 18"/>
          <p:cNvSpPr/>
          <p:nvPr/>
        </p:nvSpPr>
        <p:spPr>
          <a:xfrm>
            <a:off x="8284464" y="2706624"/>
            <a:ext cx="164592" cy="164592"/>
          </a:xfrm>
          <a:prstGeom prst="ellipse">
            <a:avLst/>
          </a:prstGeom>
          <a:solidFill>
            <a:srgbClr val="D97706"/>
          </a:solidFill>
          <a:ln/>
        </p:spPr>
      </p:sp>
      <p:sp>
        <p:nvSpPr>
          <p:cNvPr id="21" name="Text 19"/>
          <p:cNvSpPr/>
          <p:nvPr/>
        </p:nvSpPr>
        <p:spPr>
          <a:xfrm>
            <a:off x="7680960" y="3017520"/>
            <a:ext cx="1371600" cy="274320"/>
          </a:xfrm>
          <a:prstGeom prst="rect">
            <a:avLst/>
          </a:prstGeom>
          <a:noFill/>
          <a:ln/>
        </p:spPr>
        <p:txBody>
          <a:bodyPr wrap="square" lIns="0" tIns="0" rIns="0" bIns="0" rtlCol="0" anchor="ctr"/>
          <a:lstStyle/>
          <a:p>
            <a:pPr algn="ctr" indent="0" marL="0">
              <a:buNone/>
            </a:pPr>
            <a:r>
              <a:rPr lang="en-US" sz="1600" b="1" dirty="0">
                <a:solidFill>
                  <a:srgbClr val="D97706"/>
                </a:solidFill>
                <a:latin typeface="Cambria" pitchFamily="34" charset="0"/>
                <a:ea typeface="Cambria" pitchFamily="34" charset="-122"/>
                <a:cs typeface="Cambria" pitchFamily="34" charset="-120"/>
              </a:rPr>
              <a:t>2026</a:t>
            </a:r>
            <a:endParaRPr lang="en-US" sz="1600" dirty="0"/>
          </a:p>
        </p:txBody>
      </p:sp>
      <p:sp>
        <p:nvSpPr>
          <p:cNvPr id="22" name="Text 20"/>
          <p:cNvSpPr/>
          <p:nvPr/>
        </p:nvSpPr>
        <p:spPr>
          <a:xfrm>
            <a:off x="7653528" y="3346704"/>
            <a:ext cx="1426464" cy="777240"/>
          </a:xfrm>
          <a:prstGeom prst="rect">
            <a:avLst/>
          </a:prstGeom>
          <a:noFill/>
          <a:ln/>
        </p:spPr>
        <p:txBody>
          <a:bodyPr wrap="square" lIns="0" tIns="0" rIns="0" bIns="0" rtlCol="0" anchor="t"/>
          <a:lstStyle/>
          <a:p>
            <a:pPr algn="ctr" indent="0" marL="0">
              <a:buNone/>
            </a:pPr>
            <a:r>
              <a:rPr lang="en-US" sz="1000" dirty="0">
                <a:solidFill>
                  <a:srgbClr val="5C6B5A"/>
                </a:solidFill>
                <a:latin typeface="Calibri" pitchFamily="34" charset="0"/>
                <a:ea typeface="Calibri" pitchFamily="34" charset="-122"/>
                <a:cs typeface="Calibri" pitchFamily="34" charset="-120"/>
              </a:rPr>
              <a:t>AI assistants in a billion pockets</a:t>
            </a:r>
            <a:endParaRPr lang="en-US" sz="1000" dirty="0"/>
          </a:p>
        </p:txBody>
      </p:sp>
      <p:sp>
        <p:nvSpPr>
          <p:cNvPr id="23" name="Text 21"/>
          <p:cNvSpPr/>
          <p:nvPr/>
        </p:nvSpPr>
        <p:spPr>
          <a:xfrm>
            <a:off x="548640" y="4434840"/>
            <a:ext cx="8046720" cy="365760"/>
          </a:xfrm>
          <a:prstGeom prst="rect">
            <a:avLst/>
          </a:prstGeom>
          <a:noFill/>
          <a:ln/>
        </p:spPr>
        <p:txBody>
          <a:bodyPr wrap="square" lIns="0" tIns="0" rIns="0" bIns="0" rtlCol="0" anchor="ctr"/>
          <a:lstStyle/>
          <a:p>
            <a:pPr algn="ctr" indent="0" marL="0">
              <a:buNone/>
            </a:pPr>
            <a:r>
              <a:rPr lang="en-US" sz="1250" i="1" dirty="0">
                <a:solidFill>
                  <a:srgbClr val="1F2A20"/>
                </a:solidFill>
                <a:latin typeface="Calibri" pitchFamily="34" charset="0"/>
                <a:ea typeface="Calibri" pitchFamily="34" charset="-122"/>
                <a:cs typeface="Calibri" pitchFamily="34" charset="-120"/>
              </a:rPr>
              <a:t>The lesson: AI is not new. What changed recently is scale, data, and a 2017 invention called the transformer.</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MODULE 1 · ALREADY EVERYWHERE</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3100" b="1" dirty="0">
                <a:solidFill>
                  <a:srgbClr val="1F2A20"/>
                </a:solidFill>
                <a:latin typeface="Cambria" pitchFamily="34" charset="0"/>
                <a:ea typeface="Cambria" pitchFamily="34" charset="-122"/>
                <a:cs typeface="Cambria" pitchFamily="34" charset="-120"/>
              </a:rPr>
              <a:t>You used AI before breakfast</a:t>
            </a:r>
            <a:endParaRPr lang="en-US" sz="3100" dirty="0"/>
          </a:p>
        </p:txBody>
      </p:sp>
      <p:sp>
        <p:nvSpPr>
          <p:cNvPr id="4" name="Shape 2"/>
          <p:cNvSpPr/>
          <p:nvPr/>
        </p:nvSpPr>
        <p:spPr>
          <a:xfrm>
            <a:off x="548640" y="1554480"/>
            <a:ext cx="2606040" cy="1234440"/>
          </a:xfrm>
          <a:prstGeom prst="roundRect">
            <a:avLst>
              <a:gd name="adj" fmla="val 5185"/>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5" name="Shape 3"/>
          <p:cNvSpPr/>
          <p:nvPr/>
        </p:nvSpPr>
        <p:spPr>
          <a:xfrm>
            <a:off x="749808" y="1755648"/>
            <a:ext cx="420624" cy="420624"/>
          </a:xfrm>
          <a:prstGeom prst="ellipse">
            <a:avLst/>
          </a:prstGeom>
          <a:solidFill>
            <a:srgbClr val="F0F5EC"/>
          </a:solidFill>
          <a:ln/>
        </p:spPr>
      </p:sp>
      <p:pic>
        <p:nvPicPr>
          <p:cNvPr id="6" name="Image 0" descr="preencoded.png">    </p:cNvPr>
          <p:cNvPicPr>
            <a:picLocks noChangeAspect="1"/>
          </p:cNvPicPr>
          <p:nvPr/>
        </p:nvPicPr>
        <p:blipFill>
          <a:blip r:embed="rId1"/>
          <a:stretch>
            <a:fillRect/>
          </a:stretch>
        </p:blipFill>
        <p:spPr>
          <a:xfrm>
            <a:off x="859170" y="1865010"/>
            <a:ext cx="201900" cy="201900"/>
          </a:xfrm>
          <a:prstGeom prst="rect">
            <a:avLst/>
          </a:prstGeom>
        </p:spPr>
      </p:pic>
      <p:sp>
        <p:nvSpPr>
          <p:cNvPr id="7" name="Text 4"/>
          <p:cNvSpPr/>
          <p:nvPr/>
        </p:nvSpPr>
        <p:spPr>
          <a:xfrm>
            <a:off x="1298448" y="1783080"/>
            <a:ext cx="1783080" cy="365760"/>
          </a:xfrm>
          <a:prstGeom prst="rect">
            <a:avLst/>
          </a:prstGeom>
          <a:noFill/>
          <a:ln/>
        </p:spPr>
        <p:txBody>
          <a:bodyPr wrap="square" lIns="0" tIns="0" rIns="0" bIns="0" rtlCol="0" anchor="ctr"/>
          <a:lstStyle/>
          <a:p>
            <a:pPr indent="0" marL="0">
              <a:buNone/>
            </a:pPr>
            <a:r>
              <a:rPr lang="en-US" sz="1250" b="1" dirty="0">
                <a:solidFill>
                  <a:srgbClr val="1F2A20"/>
                </a:solidFill>
                <a:latin typeface="Calibri" pitchFamily="34" charset="0"/>
                <a:ea typeface="Calibri" pitchFamily="34" charset="-122"/>
                <a:cs typeface="Calibri" pitchFamily="34" charset="-120"/>
              </a:rPr>
              <a:t>Spam filters</a:t>
            </a:r>
            <a:endParaRPr lang="en-US" sz="1250" dirty="0"/>
          </a:p>
        </p:txBody>
      </p:sp>
      <p:sp>
        <p:nvSpPr>
          <p:cNvPr id="8" name="Text 5"/>
          <p:cNvSpPr/>
          <p:nvPr/>
        </p:nvSpPr>
        <p:spPr>
          <a:xfrm>
            <a:off x="749808" y="2267712"/>
            <a:ext cx="2240280" cy="457200"/>
          </a:xfrm>
          <a:prstGeom prst="rect">
            <a:avLst/>
          </a:prstGeom>
          <a:noFill/>
          <a:ln/>
        </p:spPr>
        <p:txBody>
          <a:bodyPr wrap="square" lIns="0" tIns="0" rIns="0" bIns="0" rtlCol="0" anchor="ctr"/>
          <a:lstStyle/>
          <a:p>
            <a:pPr indent="0" marL="0">
              <a:buNone/>
            </a:pPr>
            <a:r>
              <a:rPr lang="en-US" sz="1000" dirty="0">
                <a:solidFill>
                  <a:srgbClr val="5C6B5A"/>
                </a:solidFill>
                <a:latin typeface="Calibri" pitchFamily="34" charset="0"/>
                <a:ea typeface="Calibri" pitchFamily="34" charset="-122"/>
                <a:cs typeface="Calibri" pitchFamily="34" charset="-120"/>
              </a:rPr>
              <a:t>ML has guarded your inbox for 20 years</a:t>
            </a:r>
            <a:endParaRPr lang="en-US" sz="1000" dirty="0"/>
          </a:p>
        </p:txBody>
      </p:sp>
      <p:sp>
        <p:nvSpPr>
          <p:cNvPr id="9" name="Shape 6"/>
          <p:cNvSpPr/>
          <p:nvPr/>
        </p:nvSpPr>
        <p:spPr>
          <a:xfrm>
            <a:off x="3291840" y="1554480"/>
            <a:ext cx="2606040" cy="1234440"/>
          </a:xfrm>
          <a:prstGeom prst="roundRect">
            <a:avLst>
              <a:gd name="adj" fmla="val 5185"/>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10" name="Shape 7"/>
          <p:cNvSpPr/>
          <p:nvPr/>
        </p:nvSpPr>
        <p:spPr>
          <a:xfrm>
            <a:off x="3493008" y="1755648"/>
            <a:ext cx="420624" cy="420624"/>
          </a:xfrm>
          <a:prstGeom prst="ellipse">
            <a:avLst/>
          </a:prstGeom>
          <a:solidFill>
            <a:srgbClr val="F0F5EC"/>
          </a:solidFill>
          <a:ln/>
        </p:spPr>
      </p:sp>
      <p:pic>
        <p:nvPicPr>
          <p:cNvPr id="11" name="Image 1" descr="preencoded.png">    </p:cNvPr>
          <p:cNvPicPr>
            <a:picLocks noChangeAspect="1"/>
          </p:cNvPicPr>
          <p:nvPr/>
        </p:nvPicPr>
        <p:blipFill>
          <a:blip r:embed="rId2"/>
          <a:stretch>
            <a:fillRect/>
          </a:stretch>
        </p:blipFill>
        <p:spPr>
          <a:xfrm>
            <a:off x="3602370" y="1865010"/>
            <a:ext cx="201900" cy="201900"/>
          </a:xfrm>
          <a:prstGeom prst="rect">
            <a:avLst/>
          </a:prstGeom>
        </p:spPr>
      </p:pic>
      <p:sp>
        <p:nvSpPr>
          <p:cNvPr id="12" name="Text 8"/>
          <p:cNvSpPr/>
          <p:nvPr/>
        </p:nvSpPr>
        <p:spPr>
          <a:xfrm>
            <a:off x="4041648" y="1783080"/>
            <a:ext cx="1783080" cy="365760"/>
          </a:xfrm>
          <a:prstGeom prst="rect">
            <a:avLst/>
          </a:prstGeom>
          <a:noFill/>
          <a:ln/>
        </p:spPr>
        <p:txBody>
          <a:bodyPr wrap="square" lIns="0" tIns="0" rIns="0" bIns="0" rtlCol="0" anchor="ctr"/>
          <a:lstStyle/>
          <a:p>
            <a:pPr indent="0" marL="0">
              <a:buNone/>
            </a:pPr>
            <a:r>
              <a:rPr lang="en-US" sz="1250" b="1" dirty="0">
                <a:solidFill>
                  <a:srgbClr val="1F2A20"/>
                </a:solidFill>
                <a:latin typeface="Calibri" pitchFamily="34" charset="0"/>
                <a:ea typeface="Calibri" pitchFamily="34" charset="-122"/>
                <a:cs typeface="Calibri" pitchFamily="34" charset="-120"/>
              </a:rPr>
              <a:t>Phone cameras</a:t>
            </a:r>
            <a:endParaRPr lang="en-US" sz="1250" dirty="0"/>
          </a:p>
        </p:txBody>
      </p:sp>
      <p:sp>
        <p:nvSpPr>
          <p:cNvPr id="13" name="Text 9"/>
          <p:cNvSpPr/>
          <p:nvPr/>
        </p:nvSpPr>
        <p:spPr>
          <a:xfrm>
            <a:off x="3493008" y="2267712"/>
            <a:ext cx="2240280" cy="457200"/>
          </a:xfrm>
          <a:prstGeom prst="rect">
            <a:avLst/>
          </a:prstGeom>
          <a:noFill/>
          <a:ln/>
        </p:spPr>
        <p:txBody>
          <a:bodyPr wrap="square" lIns="0" tIns="0" rIns="0" bIns="0" rtlCol="0" anchor="ctr"/>
          <a:lstStyle/>
          <a:p>
            <a:pPr indent="0" marL="0">
              <a:buNone/>
            </a:pPr>
            <a:r>
              <a:rPr lang="en-US" sz="1000" dirty="0">
                <a:solidFill>
                  <a:srgbClr val="5C6B5A"/>
                </a:solidFill>
                <a:latin typeface="Calibri" pitchFamily="34" charset="0"/>
                <a:ea typeface="Calibri" pitchFamily="34" charset="-122"/>
                <a:cs typeface="Calibri" pitchFamily="34" charset="-120"/>
              </a:rPr>
              <a:t>Every photo is cleaned up by a neural net</a:t>
            </a:r>
            <a:endParaRPr lang="en-US" sz="1000" dirty="0"/>
          </a:p>
        </p:txBody>
      </p:sp>
      <p:sp>
        <p:nvSpPr>
          <p:cNvPr id="14" name="Shape 10"/>
          <p:cNvSpPr/>
          <p:nvPr/>
        </p:nvSpPr>
        <p:spPr>
          <a:xfrm>
            <a:off x="6035040" y="1554480"/>
            <a:ext cx="2606040" cy="1234440"/>
          </a:xfrm>
          <a:prstGeom prst="roundRect">
            <a:avLst>
              <a:gd name="adj" fmla="val 5185"/>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15" name="Shape 11"/>
          <p:cNvSpPr/>
          <p:nvPr/>
        </p:nvSpPr>
        <p:spPr>
          <a:xfrm>
            <a:off x="6236208" y="1755648"/>
            <a:ext cx="420624" cy="420624"/>
          </a:xfrm>
          <a:prstGeom prst="ellipse">
            <a:avLst/>
          </a:prstGeom>
          <a:solidFill>
            <a:srgbClr val="F0F5EC"/>
          </a:solidFill>
          <a:ln/>
        </p:spPr>
      </p:sp>
      <p:pic>
        <p:nvPicPr>
          <p:cNvPr id="16" name="Image 2" descr="preencoded.png">    </p:cNvPr>
          <p:cNvPicPr>
            <a:picLocks noChangeAspect="1"/>
          </p:cNvPicPr>
          <p:nvPr/>
        </p:nvPicPr>
        <p:blipFill>
          <a:blip r:embed="rId3"/>
          <a:stretch>
            <a:fillRect/>
          </a:stretch>
        </p:blipFill>
        <p:spPr>
          <a:xfrm>
            <a:off x="6345570" y="1865010"/>
            <a:ext cx="201900" cy="201900"/>
          </a:xfrm>
          <a:prstGeom prst="rect">
            <a:avLst/>
          </a:prstGeom>
        </p:spPr>
      </p:pic>
      <p:sp>
        <p:nvSpPr>
          <p:cNvPr id="17" name="Text 12"/>
          <p:cNvSpPr/>
          <p:nvPr/>
        </p:nvSpPr>
        <p:spPr>
          <a:xfrm>
            <a:off x="6784848" y="1783080"/>
            <a:ext cx="1783080" cy="365760"/>
          </a:xfrm>
          <a:prstGeom prst="rect">
            <a:avLst/>
          </a:prstGeom>
          <a:noFill/>
          <a:ln/>
        </p:spPr>
        <p:txBody>
          <a:bodyPr wrap="square" lIns="0" tIns="0" rIns="0" bIns="0" rtlCol="0" anchor="ctr"/>
          <a:lstStyle/>
          <a:p>
            <a:pPr indent="0" marL="0">
              <a:buNone/>
            </a:pPr>
            <a:r>
              <a:rPr lang="en-US" sz="1250" b="1" dirty="0">
                <a:solidFill>
                  <a:srgbClr val="1F2A20"/>
                </a:solidFill>
                <a:latin typeface="Calibri" pitchFamily="34" charset="0"/>
                <a:ea typeface="Calibri" pitchFamily="34" charset="-122"/>
                <a:cs typeface="Calibri" pitchFamily="34" charset="-120"/>
              </a:rPr>
              <a:t>Maps and traffic</a:t>
            </a:r>
            <a:endParaRPr lang="en-US" sz="1250" dirty="0"/>
          </a:p>
        </p:txBody>
      </p:sp>
      <p:sp>
        <p:nvSpPr>
          <p:cNvPr id="18" name="Text 13"/>
          <p:cNvSpPr/>
          <p:nvPr/>
        </p:nvSpPr>
        <p:spPr>
          <a:xfrm>
            <a:off x="6236208" y="2267712"/>
            <a:ext cx="2240280" cy="457200"/>
          </a:xfrm>
          <a:prstGeom prst="rect">
            <a:avLst/>
          </a:prstGeom>
          <a:noFill/>
          <a:ln/>
        </p:spPr>
        <p:txBody>
          <a:bodyPr wrap="square" lIns="0" tIns="0" rIns="0" bIns="0" rtlCol="0" anchor="ctr"/>
          <a:lstStyle/>
          <a:p>
            <a:pPr indent="0" marL="0">
              <a:buNone/>
            </a:pPr>
            <a:r>
              <a:rPr lang="en-US" sz="1000" dirty="0">
                <a:solidFill>
                  <a:srgbClr val="5C6B5A"/>
                </a:solidFill>
                <a:latin typeface="Calibri" pitchFamily="34" charset="0"/>
                <a:ea typeface="Calibri" pitchFamily="34" charset="-122"/>
                <a:cs typeface="Calibri" pitchFamily="34" charset="-120"/>
              </a:rPr>
              <a:t>Route predictions learned from millions of trips</a:t>
            </a:r>
            <a:endParaRPr lang="en-US" sz="1000" dirty="0"/>
          </a:p>
        </p:txBody>
      </p:sp>
      <p:sp>
        <p:nvSpPr>
          <p:cNvPr id="19" name="Shape 14"/>
          <p:cNvSpPr/>
          <p:nvPr/>
        </p:nvSpPr>
        <p:spPr>
          <a:xfrm>
            <a:off x="548640" y="2971800"/>
            <a:ext cx="2606040" cy="1234440"/>
          </a:xfrm>
          <a:prstGeom prst="roundRect">
            <a:avLst>
              <a:gd name="adj" fmla="val 5185"/>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20" name="Shape 15"/>
          <p:cNvSpPr/>
          <p:nvPr/>
        </p:nvSpPr>
        <p:spPr>
          <a:xfrm>
            <a:off x="749808" y="3172968"/>
            <a:ext cx="420624" cy="420624"/>
          </a:xfrm>
          <a:prstGeom prst="ellipse">
            <a:avLst/>
          </a:prstGeom>
          <a:solidFill>
            <a:srgbClr val="F0F5EC"/>
          </a:solidFill>
          <a:ln/>
        </p:spPr>
      </p:sp>
      <p:pic>
        <p:nvPicPr>
          <p:cNvPr id="21" name="Image 3" descr="preencoded.png">    </p:cNvPr>
          <p:cNvPicPr>
            <a:picLocks noChangeAspect="1"/>
          </p:cNvPicPr>
          <p:nvPr/>
        </p:nvPicPr>
        <p:blipFill>
          <a:blip r:embed="rId4"/>
          <a:stretch>
            <a:fillRect/>
          </a:stretch>
        </p:blipFill>
        <p:spPr>
          <a:xfrm>
            <a:off x="859170" y="3282330"/>
            <a:ext cx="201900" cy="201900"/>
          </a:xfrm>
          <a:prstGeom prst="rect">
            <a:avLst/>
          </a:prstGeom>
        </p:spPr>
      </p:pic>
      <p:sp>
        <p:nvSpPr>
          <p:cNvPr id="22" name="Text 16"/>
          <p:cNvSpPr/>
          <p:nvPr/>
        </p:nvSpPr>
        <p:spPr>
          <a:xfrm>
            <a:off x="1298448" y="3200400"/>
            <a:ext cx="1783080" cy="365760"/>
          </a:xfrm>
          <a:prstGeom prst="rect">
            <a:avLst/>
          </a:prstGeom>
          <a:noFill/>
          <a:ln/>
        </p:spPr>
        <p:txBody>
          <a:bodyPr wrap="square" lIns="0" tIns="0" rIns="0" bIns="0" rtlCol="0" anchor="ctr"/>
          <a:lstStyle/>
          <a:p>
            <a:pPr indent="0" marL="0">
              <a:buNone/>
            </a:pPr>
            <a:r>
              <a:rPr lang="en-US" sz="1250" b="1" dirty="0">
                <a:solidFill>
                  <a:srgbClr val="1F2A20"/>
                </a:solidFill>
                <a:latin typeface="Calibri" pitchFamily="34" charset="0"/>
                <a:ea typeface="Calibri" pitchFamily="34" charset="-122"/>
                <a:cs typeface="Calibri" pitchFamily="34" charset="-120"/>
              </a:rPr>
              <a:t>Autocomplete</a:t>
            </a:r>
            <a:endParaRPr lang="en-US" sz="1250" dirty="0"/>
          </a:p>
        </p:txBody>
      </p:sp>
      <p:sp>
        <p:nvSpPr>
          <p:cNvPr id="23" name="Text 17"/>
          <p:cNvSpPr/>
          <p:nvPr/>
        </p:nvSpPr>
        <p:spPr>
          <a:xfrm>
            <a:off x="749808" y="3685032"/>
            <a:ext cx="2240280" cy="457200"/>
          </a:xfrm>
          <a:prstGeom prst="rect">
            <a:avLst/>
          </a:prstGeom>
          <a:noFill/>
          <a:ln/>
        </p:spPr>
        <p:txBody>
          <a:bodyPr wrap="square" lIns="0" tIns="0" rIns="0" bIns="0" rtlCol="0" anchor="ctr"/>
          <a:lstStyle/>
          <a:p>
            <a:pPr indent="0" marL="0">
              <a:buNone/>
            </a:pPr>
            <a:r>
              <a:rPr lang="en-US" sz="1000" dirty="0">
                <a:solidFill>
                  <a:srgbClr val="5C6B5A"/>
                </a:solidFill>
                <a:latin typeface="Calibri" pitchFamily="34" charset="0"/>
                <a:ea typeface="Calibri" pitchFamily="34" charset="-122"/>
                <a:cs typeface="Calibri" pitchFamily="34" charset="-120"/>
              </a:rPr>
              <a:t>Your keyboard predicts the next word, LLM-style</a:t>
            </a:r>
            <a:endParaRPr lang="en-US" sz="1000" dirty="0"/>
          </a:p>
        </p:txBody>
      </p:sp>
      <p:sp>
        <p:nvSpPr>
          <p:cNvPr id="24" name="Shape 18"/>
          <p:cNvSpPr/>
          <p:nvPr/>
        </p:nvSpPr>
        <p:spPr>
          <a:xfrm>
            <a:off x="3291840" y="2971800"/>
            <a:ext cx="2606040" cy="1234440"/>
          </a:xfrm>
          <a:prstGeom prst="roundRect">
            <a:avLst>
              <a:gd name="adj" fmla="val 5185"/>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25" name="Shape 19"/>
          <p:cNvSpPr/>
          <p:nvPr/>
        </p:nvSpPr>
        <p:spPr>
          <a:xfrm>
            <a:off x="3493008" y="3172968"/>
            <a:ext cx="420624" cy="420624"/>
          </a:xfrm>
          <a:prstGeom prst="ellipse">
            <a:avLst/>
          </a:prstGeom>
          <a:solidFill>
            <a:srgbClr val="F0F5EC"/>
          </a:solidFill>
          <a:ln/>
        </p:spPr>
      </p:sp>
      <p:pic>
        <p:nvPicPr>
          <p:cNvPr id="26" name="Image 4" descr="preencoded.png">    </p:cNvPr>
          <p:cNvPicPr>
            <a:picLocks noChangeAspect="1"/>
          </p:cNvPicPr>
          <p:nvPr/>
        </p:nvPicPr>
        <p:blipFill>
          <a:blip r:embed="rId5"/>
          <a:stretch>
            <a:fillRect/>
          </a:stretch>
        </p:blipFill>
        <p:spPr>
          <a:xfrm>
            <a:off x="3602370" y="3282330"/>
            <a:ext cx="201900" cy="201900"/>
          </a:xfrm>
          <a:prstGeom prst="rect">
            <a:avLst/>
          </a:prstGeom>
        </p:spPr>
      </p:pic>
      <p:sp>
        <p:nvSpPr>
          <p:cNvPr id="27" name="Text 20"/>
          <p:cNvSpPr/>
          <p:nvPr/>
        </p:nvSpPr>
        <p:spPr>
          <a:xfrm>
            <a:off x="4041648" y="3200400"/>
            <a:ext cx="1783080" cy="365760"/>
          </a:xfrm>
          <a:prstGeom prst="rect">
            <a:avLst/>
          </a:prstGeom>
          <a:noFill/>
          <a:ln/>
        </p:spPr>
        <p:txBody>
          <a:bodyPr wrap="square" lIns="0" tIns="0" rIns="0" bIns="0" rtlCol="0" anchor="ctr"/>
          <a:lstStyle/>
          <a:p>
            <a:pPr indent="0" marL="0">
              <a:buNone/>
            </a:pPr>
            <a:r>
              <a:rPr lang="en-US" sz="1250" b="1" dirty="0">
                <a:solidFill>
                  <a:srgbClr val="1F2A20"/>
                </a:solidFill>
                <a:latin typeface="Calibri" pitchFamily="34" charset="0"/>
                <a:ea typeface="Calibri" pitchFamily="34" charset="-122"/>
                <a:cs typeface="Calibri" pitchFamily="34" charset="-120"/>
              </a:rPr>
              <a:t>Recommendations</a:t>
            </a:r>
            <a:endParaRPr lang="en-US" sz="1250" dirty="0"/>
          </a:p>
        </p:txBody>
      </p:sp>
      <p:sp>
        <p:nvSpPr>
          <p:cNvPr id="28" name="Text 21"/>
          <p:cNvSpPr/>
          <p:nvPr/>
        </p:nvSpPr>
        <p:spPr>
          <a:xfrm>
            <a:off x="3493008" y="3685032"/>
            <a:ext cx="2240280" cy="457200"/>
          </a:xfrm>
          <a:prstGeom prst="rect">
            <a:avLst/>
          </a:prstGeom>
          <a:noFill/>
          <a:ln/>
        </p:spPr>
        <p:txBody>
          <a:bodyPr wrap="square" lIns="0" tIns="0" rIns="0" bIns="0" rtlCol="0" anchor="ctr"/>
          <a:lstStyle/>
          <a:p>
            <a:pPr indent="0" marL="0">
              <a:buNone/>
            </a:pPr>
            <a:r>
              <a:rPr lang="en-US" sz="1000" dirty="0">
                <a:solidFill>
                  <a:srgbClr val="5C6B5A"/>
                </a:solidFill>
                <a:latin typeface="Calibri" pitchFamily="34" charset="0"/>
                <a:ea typeface="Calibri" pitchFamily="34" charset="-122"/>
                <a:cs typeface="Calibri" pitchFamily="34" charset="-120"/>
              </a:rPr>
              <a:t>Netflix, YouTube, and Spotify picks</a:t>
            </a:r>
            <a:endParaRPr lang="en-US" sz="1000" dirty="0"/>
          </a:p>
        </p:txBody>
      </p:sp>
      <p:sp>
        <p:nvSpPr>
          <p:cNvPr id="29" name="Shape 22"/>
          <p:cNvSpPr/>
          <p:nvPr/>
        </p:nvSpPr>
        <p:spPr>
          <a:xfrm>
            <a:off x="6035040" y="2971800"/>
            <a:ext cx="2606040" cy="1234440"/>
          </a:xfrm>
          <a:prstGeom prst="roundRect">
            <a:avLst>
              <a:gd name="adj" fmla="val 5185"/>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30" name="Shape 23"/>
          <p:cNvSpPr/>
          <p:nvPr/>
        </p:nvSpPr>
        <p:spPr>
          <a:xfrm>
            <a:off x="6236208" y="3172968"/>
            <a:ext cx="420624" cy="420624"/>
          </a:xfrm>
          <a:prstGeom prst="ellipse">
            <a:avLst/>
          </a:prstGeom>
          <a:solidFill>
            <a:srgbClr val="F0F5EC"/>
          </a:solidFill>
          <a:ln/>
        </p:spPr>
      </p:sp>
      <p:pic>
        <p:nvPicPr>
          <p:cNvPr id="31" name="Image 5" descr="preencoded.png">    </p:cNvPr>
          <p:cNvPicPr>
            <a:picLocks noChangeAspect="1"/>
          </p:cNvPicPr>
          <p:nvPr/>
        </p:nvPicPr>
        <p:blipFill>
          <a:blip r:embed="rId6"/>
          <a:stretch>
            <a:fillRect/>
          </a:stretch>
        </p:blipFill>
        <p:spPr>
          <a:xfrm>
            <a:off x="6345570" y="3282330"/>
            <a:ext cx="201900" cy="201900"/>
          </a:xfrm>
          <a:prstGeom prst="rect">
            <a:avLst/>
          </a:prstGeom>
        </p:spPr>
      </p:pic>
      <p:sp>
        <p:nvSpPr>
          <p:cNvPr id="32" name="Text 24"/>
          <p:cNvSpPr/>
          <p:nvPr/>
        </p:nvSpPr>
        <p:spPr>
          <a:xfrm>
            <a:off x="6784848" y="3200400"/>
            <a:ext cx="1783080" cy="365760"/>
          </a:xfrm>
          <a:prstGeom prst="rect">
            <a:avLst/>
          </a:prstGeom>
          <a:noFill/>
          <a:ln/>
        </p:spPr>
        <p:txBody>
          <a:bodyPr wrap="square" lIns="0" tIns="0" rIns="0" bIns="0" rtlCol="0" anchor="ctr"/>
          <a:lstStyle/>
          <a:p>
            <a:pPr indent="0" marL="0">
              <a:buNone/>
            </a:pPr>
            <a:r>
              <a:rPr lang="en-US" sz="1250" b="1" dirty="0">
                <a:solidFill>
                  <a:srgbClr val="1F2A20"/>
                </a:solidFill>
                <a:latin typeface="Calibri" pitchFamily="34" charset="0"/>
                <a:ea typeface="Calibri" pitchFamily="34" charset="-122"/>
                <a:cs typeface="Calibri" pitchFamily="34" charset="-120"/>
              </a:rPr>
              <a:t>Voice assistants</a:t>
            </a:r>
            <a:endParaRPr lang="en-US" sz="1250" dirty="0"/>
          </a:p>
        </p:txBody>
      </p:sp>
      <p:sp>
        <p:nvSpPr>
          <p:cNvPr id="33" name="Text 25"/>
          <p:cNvSpPr/>
          <p:nvPr/>
        </p:nvSpPr>
        <p:spPr>
          <a:xfrm>
            <a:off x="6236208" y="3685032"/>
            <a:ext cx="2240280" cy="457200"/>
          </a:xfrm>
          <a:prstGeom prst="rect">
            <a:avLst/>
          </a:prstGeom>
          <a:noFill/>
          <a:ln/>
        </p:spPr>
        <p:txBody>
          <a:bodyPr wrap="square" lIns="0" tIns="0" rIns="0" bIns="0" rtlCol="0" anchor="ctr"/>
          <a:lstStyle/>
          <a:p>
            <a:pPr indent="0" marL="0">
              <a:buNone/>
            </a:pPr>
            <a:r>
              <a:rPr lang="en-US" sz="1000" dirty="0">
                <a:solidFill>
                  <a:srgbClr val="5C6B5A"/>
                </a:solidFill>
                <a:latin typeface="Calibri" pitchFamily="34" charset="0"/>
                <a:ea typeface="Calibri" pitchFamily="34" charset="-122"/>
                <a:cs typeface="Calibri" pitchFamily="34" charset="-120"/>
              </a:rPr>
              <a:t>Speech to text is deep learning too</a:t>
            </a:r>
            <a:endParaRPr lang="en-US" sz="1000" dirty="0"/>
          </a:p>
        </p:txBody>
      </p:sp>
      <p:sp>
        <p:nvSpPr>
          <p:cNvPr id="34" name="Text 26"/>
          <p:cNvSpPr/>
          <p:nvPr/>
        </p:nvSpPr>
        <p:spPr>
          <a:xfrm>
            <a:off x="548640" y="4526280"/>
            <a:ext cx="8046720" cy="320040"/>
          </a:xfrm>
          <a:prstGeom prst="rect">
            <a:avLst/>
          </a:prstGeom>
          <a:noFill/>
          <a:ln/>
        </p:spPr>
        <p:txBody>
          <a:bodyPr wrap="square" lIns="0" tIns="0" rIns="0" bIns="0" rtlCol="0" anchor="ctr"/>
          <a:lstStyle/>
          <a:p>
            <a:pPr algn="ctr" indent="0" marL="0">
              <a:buNone/>
            </a:pPr>
            <a:r>
              <a:rPr lang="en-US" sz="1250" i="1" dirty="0">
                <a:solidFill>
                  <a:srgbClr val="1F2A20"/>
                </a:solidFill>
                <a:latin typeface="Calibri" pitchFamily="34" charset="0"/>
                <a:ea typeface="Calibri" pitchFamily="34" charset="-122"/>
                <a:cs typeface="Calibri" pitchFamily="34" charset="-120"/>
              </a:rPr>
              <a:t>Chatbots are simply the newest face of a technology you already trust daily.</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3D24"/>
        </a:solidFill>
      </p:bgPr>
    </p:bg>
    <p:spTree>
      <p:nvGrpSpPr>
        <p:cNvPr id="1" name=""/>
        <p:cNvGrpSpPr/>
        <p:nvPr/>
      </p:nvGrpSpPr>
      <p:grpSpPr>
        <a:xfrm>
          <a:off x="0" y="0"/>
          <a:ext cx="0" cy="0"/>
          <a:chOff x="0" y="0"/>
          <a:chExt cx="0" cy="0"/>
        </a:xfrm>
      </p:grpSpPr>
      <p:sp>
        <p:nvSpPr>
          <p:cNvPr id="2" name="Text 0"/>
          <p:cNvSpPr/>
          <p:nvPr/>
        </p:nvSpPr>
        <p:spPr>
          <a:xfrm>
            <a:off x="548640" y="1371600"/>
            <a:ext cx="8046720" cy="365760"/>
          </a:xfrm>
          <a:prstGeom prst="rect">
            <a:avLst/>
          </a:prstGeom>
          <a:noFill/>
          <a:ln/>
        </p:spPr>
        <p:txBody>
          <a:bodyPr wrap="square" lIns="0" tIns="0" rIns="0" bIns="0" rtlCol="0" anchor="ctr"/>
          <a:lstStyle/>
          <a:p>
            <a:pPr indent="0" marL="0">
              <a:buNone/>
            </a:pPr>
            <a:r>
              <a:rPr lang="en-US" sz="1400" b="1" spc="400" kern="0" dirty="0">
                <a:solidFill>
                  <a:srgbClr val="97BC62"/>
                </a:solidFill>
                <a:latin typeface="Calibri" pitchFamily="34" charset="0"/>
                <a:ea typeface="Calibri" pitchFamily="34" charset="-122"/>
                <a:cs typeface="Calibri" pitchFamily="34" charset="-120"/>
              </a:rPr>
              <a:t>MODULE 2</a:t>
            </a:r>
            <a:endParaRPr lang="en-US" sz="1400" dirty="0"/>
          </a:p>
        </p:txBody>
      </p:sp>
      <p:sp>
        <p:nvSpPr>
          <p:cNvPr id="3" name="Text 1"/>
          <p:cNvSpPr/>
          <p:nvPr/>
        </p:nvSpPr>
        <p:spPr>
          <a:xfrm>
            <a:off x="548640" y="1783080"/>
            <a:ext cx="804672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How AI models work</a:t>
            </a:r>
            <a:endParaRPr lang="en-US" sz="4000" dirty="0"/>
          </a:p>
        </p:txBody>
      </p:sp>
      <p:sp>
        <p:nvSpPr>
          <p:cNvPr id="4" name="Text 2"/>
          <p:cNvSpPr/>
          <p:nvPr/>
        </p:nvSpPr>
        <p:spPr>
          <a:xfrm>
            <a:off x="548640" y="2788920"/>
            <a:ext cx="6949440" cy="548640"/>
          </a:xfrm>
          <a:prstGeom prst="rect">
            <a:avLst/>
          </a:prstGeom>
          <a:noFill/>
          <a:ln/>
        </p:spPr>
        <p:txBody>
          <a:bodyPr wrap="square" lIns="0" tIns="0" rIns="0" bIns="0" rtlCol="0" anchor="ctr"/>
          <a:lstStyle/>
          <a:p>
            <a:pPr indent="0" marL="0">
              <a:buNone/>
            </a:pPr>
            <a:r>
              <a:rPr lang="en-US" sz="1700" i="1" dirty="0">
                <a:solidFill>
                  <a:srgbClr val="97BC62"/>
                </a:solidFill>
                <a:latin typeface="Cambria" pitchFamily="34" charset="0"/>
                <a:ea typeface="Cambria" pitchFamily="34" charset="-122"/>
                <a:cs typeface="Cambria" pitchFamily="34" charset="-120"/>
              </a:rPr>
              <a:t>A language model is a prediction machine.</a:t>
            </a:r>
            <a:endParaRPr lang="en-US" sz="1700" dirty="0"/>
          </a:p>
        </p:txBody>
      </p:sp>
      <p:sp>
        <p:nvSpPr>
          <p:cNvPr id="5" name="Shape 3"/>
          <p:cNvSpPr/>
          <p:nvPr/>
        </p:nvSpPr>
        <p:spPr>
          <a:xfrm>
            <a:off x="7772400" y="3913632"/>
            <a:ext cx="868680" cy="868680"/>
          </a:xfrm>
          <a:prstGeom prst="ellipse">
            <a:avLst/>
          </a:prstGeom>
          <a:solidFill>
            <a:srgbClr val="FFFFFF"/>
          </a:solidFill>
          <a:ln/>
        </p:spPr>
      </p:sp>
      <p:pic>
        <p:nvPicPr>
          <p:cNvPr id="6" name="Image 0" descr="/sessions/jolly-optimistic-euler/build/logo-mark.png">    </p:cNvPr>
          <p:cNvPicPr>
            <a:picLocks noChangeAspect="1"/>
          </p:cNvPicPr>
          <p:nvPr/>
        </p:nvPicPr>
        <p:blipFill>
          <a:blip r:embed="rId1"/>
          <a:stretch>
            <a:fillRect/>
          </a:stretch>
        </p:blipFill>
        <p:spPr>
          <a:xfrm>
            <a:off x="7827264" y="3968496"/>
            <a:ext cx="758952" cy="758952"/>
          </a:xfrm>
          <a:prstGeom prst="rect">
            <a:avLst/>
          </a:prstGeom>
        </p:spPr>
      </p:pic>
      <p:sp>
        <p:nvSpPr>
          <p:cNvPr id="7" name="Text 4"/>
          <p:cNvSpPr/>
          <p:nvPr/>
        </p:nvSpPr>
        <p:spPr>
          <a:xfrm>
            <a:off x="548640" y="4617720"/>
            <a:ext cx="4572000" cy="274320"/>
          </a:xfrm>
          <a:prstGeom prst="rect">
            <a:avLst/>
          </a:prstGeom>
          <a:noFill/>
          <a:ln/>
        </p:spPr>
        <p:txBody>
          <a:bodyPr wrap="square" lIns="0" tIns="0" rIns="0" bIns="0" rtlCol="0" anchor="ctr"/>
          <a:lstStyle/>
          <a:p>
            <a:pPr indent="0" marL="0">
              <a:buNone/>
            </a:pPr>
            <a:r>
              <a:rPr lang="en-US" sz="1000" dirty="0">
                <a:solidFill>
                  <a:srgbClr val="7FA06F"/>
                </a:solidFill>
                <a:latin typeface="Calibri" pitchFamily="34" charset="0"/>
                <a:ea typeface="Calibri" pitchFamily="34" charset="-122"/>
                <a:cs typeface="Calibri" pitchFamily="34" charset="-120"/>
              </a:rPr>
              <a:t>Cambium Academy · Course 01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MODULE 2 · THE BIG IDEA</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2600" b="1" dirty="0">
                <a:solidFill>
                  <a:srgbClr val="1F2A20"/>
                </a:solidFill>
                <a:latin typeface="Cambria" pitchFamily="34" charset="0"/>
                <a:ea typeface="Cambria" pitchFamily="34" charset="-122"/>
                <a:cs typeface="Cambria" pitchFamily="34" charset="-120"/>
              </a:rPr>
              <a:t>One trick underneath it all: predict the next word</a:t>
            </a:r>
            <a:endParaRPr lang="en-US" sz="2600" dirty="0"/>
          </a:p>
        </p:txBody>
      </p:sp>
      <p:sp>
        <p:nvSpPr>
          <p:cNvPr id="4" name="Shape 2"/>
          <p:cNvSpPr/>
          <p:nvPr/>
        </p:nvSpPr>
        <p:spPr>
          <a:xfrm>
            <a:off x="548640" y="1554480"/>
            <a:ext cx="8046720" cy="1371600"/>
          </a:xfrm>
          <a:prstGeom prst="roundRect">
            <a:avLst>
              <a:gd name="adj" fmla="val 4667"/>
            </a:avLst>
          </a:prstGeom>
          <a:solidFill>
            <a:srgbClr val="F0F5EC"/>
          </a:solidFill>
          <a:ln w="12700">
            <a:solidFill>
              <a:srgbClr val="DFE9D8"/>
            </a:solidFill>
            <a:prstDash val="solid"/>
          </a:ln>
        </p:spPr>
      </p:sp>
      <p:sp>
        <p:nvSpPr>
          <p:cNvPr id="5" name="Text 3"/>
          <p:cNvSpPr/>
          <p:nvPr/>
        </p:nvSpPr>
        <p:spPr>
          <a:xfrm>
            <a:off x="914400" y="1783080"/>
            <a:ext cx="5120640" cy="502920"/>
          </a:xfrm>
          <a:prstGeom prst="rect">
            <a:avLst/>
          </a:prstGeom>
          <a:noFill/>
          <a:ln/>
        </p:spPr>
        <p:txBody>
          <a:bodyPr wrap="square" lIns="0" tIns="0" rIns="0" bIns="0" rtlCol="0" anchor="ctr"/>
          <a:lstStyle/>
          <a:p>
            <a:pPr indent="0" marL="0">
              <a:buNone/>
            </a:pPr>
            <a:r>
              <a:rPr lang="en-US" sz="2200" dirty="0">
                <a:solidFill>
                  <a:srgbClr val="1F2A20"/>
                </a:solidFill>
                <a:latin typeface="Cambria" pitchFamily="34" charset="0"/>
                <a:ea typeface="Cambria" pitchFamily="34" charset="-122"/>
                <a:cs typeface="Cambria" pitchFamily="34" charset="-120"/>
              </a:rPr>
              <a:t>"The capital of France is </a:t>
            </a:r>
            <a:pPr indent="0" marL="0">
              <a:buNone/>
            </a:pPr>
            <a:r>
              <a:rPr lang="en-US" sz="2200" b="1" dirty="0">
                <a:solidFill>
                  <a:srgbClr val="97BC62"/>
                </a:solidFill>
                <a:latin typeface="Cambria" pitchFamily="34" charset="0"/>
                <a:ea typeface="Cambria" pitchFamily="34" charset="-122"/>
                <a:cs typeface="Cambria" pitchFamily="34" charset="-120"/>
              </a:rPr>
              <a:t>____"</a:t>
            </a:r>
            <a:endParaRPr lang="en-US" sz="2200" dirty="0"/>
          </a:p>
        </p:txBody>
      </p:sp>
      <p:sp>
        <p:nvSpPr>
          <p:cNvPr id="6" name="Text 4"/>
          <p:cNvSpPr/>
          <p:nvPr/>
        </p:nvSpPr>
        <p:spPr>
          <a:xfrm>
            <a:off x="6126480" y="1783080"/>
            <a:ext cx="2286000" cy="822960"/>
          </a:xfrm>
          <a:prstGeom prst="rect">
            <a:avLst/>
          </a:prstGeom>
          <a:noFill/>
          <a:ln/>
        </p:spPr>
        <p:txBody>
          <a:bodyPr wrap="square" lIns="0" tIns="0" rIns="0" bIns="0" rtlCol="0" anchor="ctr"/>
          <a:lstStyle/>
          <a:p>
            <a:pPr indent="0" marL="0">
              <a:buNone/>
            </a:pPr>
            <a:r>
              <a:rPr lang="en-US" sz="1500" b="1" dirty="0">
                <a:solidFill>
                  <a:srgbClr val="2C5F2D"/>
                </a:solidFill>
                <a:latin typeface="Calibri" pitchFamily="34" charset="0"/>
                <a:ea typeface="Calibri" pitchFamily="34" charset="-122"/>
                <a:cs typeface="Calibri" pitchFamily="34" charset="-120"/>
              </a:rPr>
              <a:t>Paris 97%</a:t>
            </a:r>
            <a:endParaRPr lang="en-US" sz="1500" dirty="0"/>
          </a:p>
          <a:p>
            <a:pPr indent="0" marL="0">
              <a:buNone/>
            </a:pPr>
            <a:r>
              <a:rPr lang="en-US" sz="1150" dirty="0">
                <a:solidFill>
                  <a:srgbClr val="5C6B5A"/>
                </a:solidFill>
                <a:latin typeface="Calibri" pitchFamily="34" charset="0"/>
                <a:ea typeface="Calibri" pitchFamily="34" charset="-122"/>
                <a:cs typeface="Calibri" pitchFamily="34" charset="-120"/>
              </a:rPr>
              <a:t>Lyon 1%   ·   a 0.5%   ·   ...</a:t>
            </a:r>
            <a:endParaRPr lang="en-US" sz="1500" dirty="0"/>
          </a:p>
        </p:txBody>
      </p:sp>
      <p:sp>
        <p:nvSpPr>
          <p:cNvPr id="7" name="Shape 5"/>
          <p:cNvSpPr/>
          <p:nvPr/>
        </p:nvSpPr>
        <p:spPr>
          <a:xfrm>
            <a:off x="548640" y="3200400"/>
            <a:ext cx="420624" cy="420624"/>
          </a:xfrm>
          <a:prstGeom prst="ellipse">
            <a:avLst/>
          </a:prstGeom>
          <a:solidFill>
            <a:srgbClr val="F0F5EC"/>
          </a:solidFill>
          <a:ln/>
        </p:spPr>
      </p:sp>
      <p:pic>
        <p:nvPicPr>
          <p:cNvPr id="8" name="Image 0" descr="preencoded.png">    </p:cNvPr>
          <p:cNvPicPr>
            <a:picLocks noChangeAspect="1"/>
          </p:cNvPicPr>
          <p:nvPr/>
        </p:nvPicPr>
        <p:blipFill>
          <a:blip r:embed="rId1"/>
          <a:stretch>
            <a:fillRect/>
          </a:stretch>
        </p:blipFill>
        <p:spPr>
          <a:xfrm>
            <a:off x="658002" y="3309762"/>
            <a:ext cx="201900" cy="201900"/>
          </a:xfrm>
          <a:prstGeom prst="rect">
            <a:avLst/>
          </a:prstGeom>
        </p:spPr>
      </p:pic>
      <p:sp>
        <p:nvSpPr>
          <p:cNvPr id="9" name="Text 6"/>
          <p:cNvSpPr/>
          <p:nvPr/>
        </p:nvSpPr>
        <p:spPr>
          <a:xfrm>
            <a:off x="1115568" y="3127248"/>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Repeat the trick</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Predict a word, add it to the sentence, predict again. A paragraph is thousands of predictions in a row.</a:t>
            </a:r>
            <a:endParaRPr lang="en-US" sz="1350" dirty="0"/>
          </a:p>
        </p:txBody>
      </p:sp>
      <p:sp>
        <p:nvSpPr>
          <p:cNvPr id="10" name="Shape 7"/>
          <p:cNvSpPr/>
          <p:nvPr/>
        </p:nvSpPr>
        <p:spPr>
          <a:xfrm>
            <a:off x="548640" y="3858768"/>
            <a:ext cx="420624" cy="420624"/>
          </a:xfrm>
          <a:prstGeom prst="ellipse">
            <a:avLst/>
          </a:prstGeom>
          <a:solidFill>
            <a:srgbClr val="F0F5EC"/>
          </a:solidFill>
          <a:ln/>
        </p:spPr>
      </p:sp>
      <p:pic>
        <p:nvPicPr>
          <p:cNvPr id="11" name="Image 1" descr="preencoded.png">    </p:cNvPr>
          <p:cNvPicPr>
            <a:picLocks noChangeAspect="1"/>
          </p:cNvPicPr>
          <p:nvPr/>
        </p:nvPicPr>
        <p:blipFill>
          <a:blip r:embed="rId2"/>
          <a:stretch>
            <a:fillRect/>
          </a:stretch>
        </p:blipFill>
        <p:spPr>
          <a:xfrm>
            <a:off x="658002" y="3968130"/>
            <a:ext cx="201900" cy="201900"/>
          </a:xfrm>
          <a:prstGeom prst="rect">
            <a:avLst/>
          </a:prstGeom>
        </p:spPr>
      </p:pic>
      <p:sp>
        <p:nvSpPr>
          <p:cNvPr id="12" name="Text 8"/>
          <p:cNvSpPr/>
          <p:nvPr/>
        </p:nvSpPr>
        <p:spPr>
          <a:xfrm>
            <a:off x="1115568" y="3785616"/>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Trained on trillions of words</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Good prediction quietly forces the model to absorb grammar, facts, style, and reasoning patterns.</a:t>
            </a:r>
            <a:endParaRPr lang="en-US" sz="1350" dirty="0"/>
          </a:p>
        </p:txBody>
      </p:sp>
      <p:sp>
        <p:nvSpPr>
          <p:cNvPr id="13" name="Shape 9"/>
          <p:cNvSpPr/>
          <p:nvPr/>
        </p:nvSpPr>
        <p:spPr>
          <a:xfrm>
            <a:off x="548640" y="4517136"/>
            <a:ext cx="420624" cy="420624"/>
          </a:xfrm>
          <a:prstGeom prst="ellipse">
            <a:avLst/>
          </a:prstGeom>
          <a:solidFill>
            <a:srgbClr val="F0F5EC"/>
          </a:solidFill>
          <a:ln/>
        </p:spPr>
      </p:sp>
      <p:pic>
        <p:nvPicPr>
          <p:cNvPr id="14" name="Image 2" descr="preencoded.png">    </p:cNvPr>
          <p:cNvPicPr>
            <a:picLocks noChangeAspect="1"/>
          </p:cNvPicPr>
          <p:nvPr/>
        </p:nvPicPr>
        <p:blipFill>
          <a:blip r:embed="rId3"/>
          <a:stretch>
            <a:fillRect/>
          </a:stretch>
        </p:blipFill>
        <p:spPr>
          <a:xfrm>
            <a:off x="658002" y="4626498"/>
            <a:ext cx="201900" cy="201900"/>
          </a:xfrm>
          <a:prstGeom prst="rect">
            <a:avLst/>
          </a:prstGeom>
        </p:spPr>
      </p:pic>
      <p:sp>
        <p:nvSpPr>
          <p:cNvPr id="15" name="Text 10"/>
          <p:cNvSpPr/>
          <p:nvPr/>
        </p:nvSpPr>
        <p:spPr>
          <a:xfrm>
            <a:off x="1115568" y="4443984"/>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That is the whole magic</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Essays, code, and advice all emerge from one skill: guessing the next word extremely well.</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MODULE 2 · TOKENS</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2800" b="1" dirty="0">
                <a:solidFill>
                  <a:srgbClr val="1F2A20"/>
                </a:solidFill>
                <a:latin typeface="Cambria" pitchFamily="34" charset="0"/>
                <a:ea typeface="Cambria" pitchFamily="34" charset="-122"/>
                <a:cs typeface="Cambria" pitchFamily="34" charset="-120"/>
              </a:rPr>
              <a:t>AI does not read words. It reads tokens.</a:t>
            </a:r>
            <a:endParaRPr lang="en-US" sz="2800" dirty="0"/>
          </a:p>
        </p:txBody>
      </p:sp>
      <p:sp>
        <p:nvSpPr>
          <p:cNvPr id="4" name="Shape 2"/>
          <p:cNvSpPr/>
          <p:nvPr/>
        </p:nvSpPr>
        <p:spPr>
          <a:xfrm>
            <a:off x="1005840" y="1691640"/>
            <a:ext cx="1092708" cy="475488"/>
          </a:xfrm>
          <a:prstGeom prst="roundRect">
            <a:avLst>
              <a:gd name="adj" fmla="val 13462"/>
            </a:avLst>
          </a:prstGeom>
          <a:solidFill>
            <a:srgbClr val="F0F5EC"/>
          </a:solidFill>
          <a:ln w="12700">
            <a:solidFill>
              <a:srgbClr val="DFE9D8"/>
            </a:solidFill>
            <a:prstDash val="solid"/>
          </a:ln>
        </p:spPr>
      </p:sp>
      <p:sp>
        <p:nvSpPr>
          <p:cNvPr id="5" name="Text 3"/>
          <p:cNvSpPr/>
          <p:nvPr/>
        </p:nvSpPr>
        <p:spPr>
          <a:xfrm>
            <a:off x="1005840" y="1737360"/>
            <a:ext cx="1092708" cy="365760"/>
          </a:xfrm>
          <a:prstGeom prst="rect">
            <a:avLst/>
          </a:prstGeom>
          <a:noFill/>
          <a:ln/>
        </p:spPr>
        <p:txBody>
          <a:bodyPr wrap="square" lIns="0" tIns="0" rIns="0" bIns="0" rtlCol="0" anchor="ctr"/>
          <a:lstStyle/>
          <a:p>
            <a:pPr algn="ctr" indent="0" marL="0">
              <a:buNone/>
            </a:pPr>
            <a:r>
              <a:rPr lang="en-US" sz="1400" b="1" dirty="0">
                <a:solidFill>
                  <a:srgbClr val="2C5F2D"/>
                </a:solidFill>
                <a:latin typeface="Courier New" pitchFamily="34" charset="0"/>
                <a:ea typeface="Courier New" pitchFamily="34" charset="-122"/>
                <a:cs typeface="Courier New" pitchFamily="34" charset="-120"/>
              </a:rPr>
              <a:t>Under</a:t>
            </a:r>
            <a:endParaRPr lang="en-US" sz="1400" dirty="0"/>
          </a:p>
        </p:txBody>
      </p:sp>
      <p:sp>
        <p:nvSpPr>
          <p:cNvPr id="6" name="Text 4"/>
          <p:cNvSpPr/>
          <p:nvPr/>
        </p:nvSpPr>
        <p:spPr>
          <a:xfrm>
            <a:off x="1005840" y="2267712"/>
            <a:ext cx="1092708" cy="274320"/>
          </a:xfrm>
          <a:prstGeom prst="rect">
            <a:avLst/>
          </a:prstGeom>
          <a:noFill/>
          <a:ln/>
        </p:spPr>
        <p:txBody>
          <a:bodyPr wrap="square" lIns="0" tIns="0" rIns="0" bIns="0" rtlCol="0" anchor="ctr"/>
          <a:lstStyle/>
          <a:p>
            <a:pPr algn="ctr" indent="0" marL="0">
              <a:buNone/>
            </a:pPr>
            <a:r>
              <a:rPr lang="en-US" sz="1000" dirty="0">
                <a:solidFill>
                  <a:srgbClr val="5C6B5A"/>
                </a:solidFill>
                <a:latin typeface="Courier New" pitchFamily="34" charset="0"/>
                <a:ea typeface="Courier New" pitchFamily="34" charset="-122"/>
                <a:cs typeface="Courier New" pitchFamily="34" charset="-120"/>
              </a:rPr>
              <a:t>16118</a:t>
            </a:r>
            <a:endParaRPr lang="en-US" sz="1000" dirty="0"/>
          </a:p>
        </p:txBody>
      </p:sp>
      <p:sp>
        <p:nvSpPr>
          <p:cNvPr id="7" name="Shape 5"/>
          <p:cNvSpPr/>
          <p:nvPr/>
        </p:nvSpPr>
        <p:spPr>
          <a:xfrm>
            <a:off x="2263140" y="1691640"/>
            <a:ext cx="1092708" cy="475488"/>
          </a:xfrm>
          <a:prstGeom prst="roundRect">
            <a:avLst>
              <a:gd name="adj" fmla="val 13462"/>
            </a:avLst>
          </a:prstGeom>
          <a:solidFill>
            <a:srgbClr val="E2EDD5"/>
          </a:solidFill>
          <a:ln w="12700">
            <a:solidFill>
              <a:srgbClr val="DFE9D8"/>
            </a:solidFill>
            <a:prstDash val="solid"/>
          </a:ln>
        </p:spPr>
      </p:sp>
      <p:sp>
        <p:nvSpPr>
          <p:cNvPr id="8" name="Text 6"/>
          <p:cNvSpPr/>
          <p:nvPr/>
        </p:nvSpPr>
        <p:spPr>
          <a:xfrm>
            <a:off x="2263140" y="1737360"/>
            <a:ext cx="1092708" cy="365760"/>
          </a:xfrm>
          <a:prstGeom prst="rect">
            <a:avLst/>
          </a:prstGeom>
          <a:noFill/>
          <a:ln/>
        </p:spPr>
        <p:txBody>
          <a:bodyPr wrap="square" lIns="0" tIns="0" rIns="0" bIns="0" rtlCol="0" anchor="ctr"/>
          <a:lstStyle/>
          <a:p>
            <a:pPr algn="ctr" indent="0" marL="0">
              <a:buNone/>
            </a:pPr>
            <a:r>
              <a:rPr lang="en-US" sz="1400" b="1" dirty="0">
                <a:solidFill>
                  <a:srgbClr val="2C5F2D"/>
                </a:solidFill>
                <a:latin typeface="Courier New" pitchFamily="34" charset="0"/>
                <a:ea typeface="Courier New" pitchFamily="34" charset="-122"/>
                <a:cs typeface="Courier New" pitchFamily="34" charset="-120"/>
              </a:rPr>
              <a:t>stand</a:t>
            </a:r>
            <a:endParaRPr lang="en-US" sz="1400" dirty="0"/>
          </a:p>
        </p:txBody>
      </p:sp>
      <p:sp>
        <p:nvSpPr>
          <p:cNvPr id="9" name="Text 7"/>
          <p:cNvSpPr/>
          <p:nvPr/>
        </p:nvSpPr>
        <p:spPr>
          <a:xfrm>
            <a:off x="2263140" y="2267712"/>
            <a:ext cx="1092708" cy="274320"/>
          </a:xfrm>
          <a:prstGeom prst="rect">
            <a:avLst/>
          </a:prstGeom>
          <a:noFill/>
          <a:ln/>
        </p:spPr>
        <p:txBody>
          <a:bodyPr wrap="square" lIns="0" tIns="0" rIns="0" bIns="0" rtlCol="0" anchor="ctr"/>
          <a:lstStyle/>
          <a:p>
            <a:pPr algn="ctr" indent="0" marL="0">
              <a:buNone/>
            </a:pPr>
            <a:r>
              <a:rPr lang="en-US" sz="1000" dirty="0">
                <a:solidFill>
                  <a:srgbClr val="5C6B5A"/>
                </a:solidFill>
                <a:latin typeface="Courier New" pitchFamily="34" charset="0"/>
                <a:ea typeface="Courier New" pitchFamily="34" charset="-122"/>
                <a:cs typeface="Courier New" pitchFamily="34" charset="-120"/>
              </a:rPr>
              <a:t>2752</a:t>
            </a:r>
            <a:endParaRPr lang="en-US" sz="1000" dirty="0"/>
          </a:p>
        </p:txBody>
      </p:sp>
      <p:sp>
        <p:nvSpPr>
          <p:cNvPr id="10" name="Shape 8"/>
          <p:cNvSpPr/>
          <p:nvPr/>
        </p:nvSpPr>
        <p:spPr>
          <a:xfrm>
            <a:off x="3520440" y="1691640"/>
            <a:ext cx="882396" cy="475488"/>
          </a:xfrm>
          <a:prstGeom prst="roundRect">
            <a:avLst>
              <a:gd name="adj" fmla="val 13462"/>
            </a:avLst>
          </a:prstGeom>
          <a:solidFill>
            <a:srgbClr val="F0F5EC"/>
          </a:solidFill>
          <a:ln w="12700">
            <a:solidFill>
              <a:srgbClr val="DFE9D8"/>
            </a:solidFill>
            <a:prstDash val="solid"/>
          </a:ln>
        </p:spPr>
      </p:sp>
      <p:sp>
        <p:nvSpPr>
          <p:cNvPr id="11" name="Text 9"/>
          <p:cNvSpPr/>
          <p:nvPr/>
        </p:nvSpPr>
        <p:spPr>
          <a:xfrm>
            <a:off x="3520440" y="1737360"/>
            <a:ext cx="882396" cy="365760"/>
          </a:xfrm>
          <a:prstGeom prst="rect">
            <a:avLst/>
          </a:prstGeom>
          <a:noFill/>
          <a:ln/>
        </p:spPr>
        <p:txBody>
          <a:bodyPr wrap="square" lIns="0" tIns="0" rIns="0" bIns="0" rtlCol="0" anchor="ctr"/>
          <a:lstStyle/>
          <a:p>
            <a:pPr algn="ctr" indent="0" marL="0">
              <a:buNone/>
            </a:pPr>
            <a:r>
              <a:rPr lang="en-US" sz="1400" b="1" dirty="0">
                <a:solidFill>
                  <a:srgbClr val="2C5F2D"/>
                </a:solidFill>
                <a:latin typeface="Courier New" pitchFamily="34" charset="0"/>
                <a:ea typeface="Courier New" pitchFamily="34" charset="-122"/>
                <a:cs typeface="Courier New" pitchFamily="34" charset="-120"/>
              </a:rPr>
              <a:t>ing</a:t>
            </a:r>
            <a:endParaRPr lang="en-US" sz="1400" dirty="0"/>
          </a:p>
        </p:txBody>
      </p:sp>
      <p:sp>
        <p:nvSpPr>
          <p:cNvPr id="12" name="Text 10"/>
          <p:cNvSpPr/>
          <p:nvPr/>
        </p:nvSpPr>
        <p:spPr>
          <a:xfrm>
            <a:off x="3520440" y="2267712"/>
            <a:ext cx="882396" cy="274320"/>
          </a:xfrm>
          <a:prstGeom prst="rect">
            <a:avLst/>
          </a:prstGeom>
          <a:noFill/>
          <a:ln/>
        </p:spPr>
        <p:txBody>
          <a:bodyPr wrap="square" lIns="0" tIns="0" rIns="0" bIns="0" rtlCol="0" anchor="ctr"/>
          <a:lstStyle/>
          <a:p>
            <a:pPr algn="ctr" indent="0" marL="0">
              <a:buNone/>
            </a:pPr>
            <a:r>
              <a:rPr lang="en-US" sz="1000" dirty="0">
                <a:solidFill>
                  <a:srgbClr val="5C6B5A"/>
                </a:solidFill>
                <a:latin typeface="Courier New" pitchFamily="34" charset="0"/>
                <a:ea typeface="Courier New" pitchFamily="34" charset="-122"/>
                <a:cs typeface="Courier New" pitchFamily="34" charset="-120"/>
              </a:rPr>
              <a:t>278</a:t>
            </a:r>
            <a:endParaRPr lang="en-US" sz="1000" dirty="0"/>
          </a:p>
        </p:txBody>
      </p:sp>
      <p:sp>
        <p:nvSpPr>
          <p:cNvPr id="13" name="Shape 11"/>
          <p:cNvSpPr/>
          <p:nvPr/>
        </p:nvSpPr>
        <p:spPr>
          <a:xfrm>
            <a:off x="4567428" y="1691640"/>
            <a:ext cx="777240" cy="475488"/>
          </a:xfrm>
          <a:prstGeom prst="roundRect">
            <a:avLst>
              <a:gd name="adj" fmla="val 13462"/>
            </a:avLst>
          </a:prstGeom>
          <a:solidFill>
            <a:srgbClr val="E2EDD5"/>
          </a:solidFill>
          <a:ln w="12700">
            <a:solidFill>
              <a:srgbClr val="DFE9D8"/>
            </a:solidFill>
            <a:prstDash val="solid"/>
          </a:ln>
        </p:spPr>
      </p:sp>
      <p:sp>
        <p:nvSpPr>
          <p:cNvPr id="14" name="Text 12"/>
          <p:cNvSpPr/>
          <p:nvPr/>
        </p:nvSpPr>
        <p:spPr>
          <a:xfrm>
            <a:off x="4567428" y="1737360"/>
            <a:ext cx="777240" cy="365760"/>
          </a:xfrm>
          <a:prstGeom prst="rect">
            <a:avLst/>
          </a:prstGeom>
          <a:noFill/>
          <a:ln/>
        </p:spPr>
        <p:txBody>
          <a:bodyPr wrap="square" lIns="0" tIns="0" rIns="0" bIns="0" rtlCol="0" anchor="ctr"/>
          <a:lstStyle/>
          <a:p>
            <a:pPr algn="ctr" indent="0" marL="0">
              <a:buNone/>
            </a:pPr>
            <a:r>
              <a:rPr lang="en-US" sz="1400" b="1" dirty="0">
                <a:solidFill>
                  <a:srgbClr val="2C5F2D"/>
                </a:solidFill>
                <a:latin typeface="Courier New" pitchFamily="34" charset="0"/>
                <a:ea typeface="Courier New" pitchFamily="34" charset="-122"/>
                <a:cs typeface="Courier New" pitchFamily="34" charset="-120"/>
              </a:rPr>
              <a:t> to</a:t>
            </a:r>
            <a:endParaRPr lang="en-US" sz="1400" dirty="0"/>
          </a:p>
        </p:txBody>
      </p:sp>
      <p:sp>
        <p:nvSpPr>
          <p:cNvPr id="15" name="Text 13"/>
          <p:cNvSpPr/>
          <p:nvPr/>
        </p:nvSpPr>
        <p:spPr>
          <a:xfrm>
            <a:off x="4567428" y="2267712"/>
            <a:ext cx="777240" cy="274320"/>
          </a:xfrm>
          <a:prstGeom prst="rect">
            <a:avLst/>
          </a:prstGeom>
          <a:noFill/>
          <a:ln/>
        </p:spPr>
        <p:txBody>
          <a:bodyPr wrap="square" lIns="0" tIns="0" rIns="0" bIns="0" rtlCol="0" anchor="ctr"/>
          <a:lstStyle/>
          <a:p>
            <a:pPr algn="ctr" indent="0" marL="0">
              <a:buNone/>
            </a:pPr>
            <a:r>
              <a:rPr lang="en-US" sz="1000" dirty="0">
                <a:solidFill>
                  <a:srgbClr val="5C6B5A"/>
                </a:solidFill>
                <a:latin typeface="Courier New" pitchFamily="34" charset="0"/>
                <a:ea typeface="Courier New" pitchFamily="34" charset="-122"/>
                <a:cs typeface="Courier New" pitchFamily="34" charset="-120"/>
              </a:rPr>
              <a:t>311</a:t>
            </a:r>
            <a:endParaRPr lang="en-US" sz="1000" dirty="0"/>
          </a:p>
        </p:txBody>
      </p:sp>
      <p:sp>
        <p:nvSpPr>
          <p:cNvPr id="16" name="Shape 14"/>
          <p:cNvSpPr/>
          <p:nvPr/>
        </p:nvSpPr>
        <p:spPr>
          <a:xfrm>
            <a:off x="5509260" y="1691640"/>
            <a:ext cx="987552" cy="475488"/>
          </a:xfrm>
          <a:prstGeom prst="roundRect">
            <a:avLst>
              <a:gd name="adj" fmla="val 13462"/>
            </a:avLst>
          </a:prstGeom>
          <a:solidFill>
            <a:srgbClr val="F0F5EC"/>
          </a:solidFill>
          <a:ln w="12700">
            <a:solidFill>
              <a:srgbClr val="DFE9D8"/>
            </a:solidFill>
            <a:prstDash val="solid"/>
          </a:ln>
        </p:spPr>
      </p:sp>
      <p:sp>
        <p:nvSpPr>
          <p:cNvPr id="17" name="Text 15"/>
          <p:cNvSpPr/>
          <p:nvPr/>
        </p:nvSpPr>
        <p:spPr>
          <a:xfrm>
            <a:off x="5509260" y="1737360"/>
            <a:ext cx="987552" cy="365760"/>
          </a:xfrm>
          <a:prstGeom prst="rect">
            <a:avLst/>
          </a:prstGeom>
          <a:noFill/>
          <a:ln/>
        </p:spPr>
        <p:txBody>
          <a:bodyPr wrap="square" lIns="0" tIns="0" rIns="0" bIns="0" rtlCol="0" anchor="ctr"/>
          <a:lstStyle/>
          <a:p>
            <a:pPr algn="ctr" indent="0" marL="0">
              <a:buNone/>
            </a:pPr>
            <a:r>
              <a:rPr lang="en-US" sz="1400" b="1" dirty="0">
                <a:solidFill>
                  <a:srgbClr val="2C5F2D"/>
                </a:solidFill>
                <a:latin typeface="Courier New" pitchFamily="34" charset="0"/>
                <a:ea typeface="Courier New" pitchFamily="34" charset="-122"/>
                <a:cs typeface="Courier New" pitchFamily="34" charset="-120"/>
              </a:rPr>
              <a:t>kens</a:t>
            </a:r>
            <a:endParaRPr lang="en-US" sz="1400" dirty="0"/>
          </a:p>
        </p:txBody>
      </p:sp>
      <p:sp>
        <p:nvSpPr>
          <p:cNvPr id="18" name="Text 16"/>
          <p:cNvSpPr/>
          <p:nvPr/>
        </p:nvSpPr>
        <p:spPr>
          <a:xfrm>
            <a:off x="5509260" y="2267712"/>
            <a:ext cx="987552" cy="274320"/>
          </a:xfrm>
          <a:prstGeom prst="rect">
            <a:avLst/>
          </a:prstGeom>
          <a:noFill/>
          <a:ln/>
        </p:spPr>
        <p:txBody>
          <a:bodyPr wrap="square" lIns="0" tIns="0" rIns="0" bIns="0" rtlCol="0" anchor="ctr"/>
          <a:lstStyle/>
          <a:p>
            <a:pPr algn="ctr" indent="0" marL="0">
              <a:buNone/>
            </a:pPr>
            <a:r>
              <a:rPr lang="en-US" sz="1000" dirty="0">
                <a:solidFill>
                  <a:srgbClr val="5C6B5A"/>
                </a:solidFill>
                <a:latin typeface="Courier New" pitchFamily="34" charset="0"/>
                <a:ea typeface="Courier New" pitchFamily="34" charset="-122"/>
                <a:cs typeface="Courier New" pitchFamily="34" charset="-120"/>
              </a:rPr>
              <a:t>12456</a:t>
            </a:r>
            <a:endParaRPr lang="en-US" sz="1000" dirty="0"/>
          </a:p>
        </p:txBody>
      </p:sp>
      <p:sp>
        <p:nvSpPr>
          <p:cNvPr id="19" name="Text 17"/>
          <p:cNvSpPr/>
          <p:nvPr/>
        </p:nvSpPr>
        <p:spPr>
          <a:xfrm>
            <a:off x="6798564" y="1783080"/>
            <a:ext cx="1796796" cy="822960"/>
          </a:xfrm>
          <a:prstGeom prst="rect">
            <a:avLst/>
          </a:prstGeom>
          <a:noFill/>
          <a:ln/>
        </p:spPr>
        <p:txBody>
          <a:bodyPr wrap="square" lIns="0" tIns="0" rIns="0" bIns="0" rtlCol="0" anchor="ctr"/>
          <a:lstStyle/>
          <a:p>
            <a:pPr indent="0" marL="0">
              <a:buNone/>
            </a:pPr>
            <a:r>
              <a:rPr lang="en-US" sz="1100" i="1" dirty="0">
                <a:solidFill>
                  <a:srgbClr val="5C6B5A"/>
                </a:solidFill>
                <a:latin typeface="Calibri" pitchFamily="34" charset="0"/>
                <a:ea typeface="Calibri" pitchFamily="34" charset="-122"/>
                <a:cs typeface="Calibri" pitchFamily="34" charset="-120"/>
              </a:rPr>
              <a:t>one word can be several tokens, and every token is just a number to the model</a:t>
            </a:r>
            <a:endParaRPr lang="en-US" sz="1100" dirty="0"/>
          </a:p>
        </p:txBody>
      </p:sp>
      <p:sp>
        <p:nvSpPr>
          <p:cNvPr id="20" name="Shape 18"/>
          <p:cNvSpPr/>
          <p:nvPr/>
        </p:nvSpPr>
        <p:spPr>
          <a:xfrm>
            <a:off x="548640" y="3017520"/>
            <a:ext cx="420624" cy="420624"/>
          </a:xfrm>
          <a:prstGeom prst="ellipse">
            <a:avLst/>
          </a:prstGeom>
          <a:solidFill>
            <a:srgbClr val="F0F5EC"/>
          </a:solidFill>
          <a:ln/>
        </p:spPr>
      </p:sp>
      <p:pic>
        <p:nvPicPr>
          <p:cNvPr id="21" name="Image 0" descr="preencoded.png">    </p:cNvPr>
          <p:cNvPicPr>
            <a:picLocks noChangeAspect="1"/>
          </p:cNvPicPr>
          <p:nvPr/>
        </p:nvPicPr>
        <p:blipFill>
          <a:blip r:embed="rId1"/>
          <a:stretch>
            <a:fillRect/>
          </a:stretch>
        </p:blipFill>
        <p:spPr>
          <a:xfrm>
            <a:off x="658002" y="3126882"/>
            <a:ext cx="201900" cy="201900"/>
          </a:xfrm>
          <a:prstGeom prst="rect">
            <a:avLst/>
          </a:prstGeom>
        </p:spPr>
      </p:pic>
      <p:sp>
        <p:nvSpPr>
          <p:cNvPr id="22" name="Text 19"/>
          <p:cNvSpPr/>
          <p:nvPr/>
        </p:nvSpPr>
        <p:spPr>
          <a:xfrm>
            <a:off x="1115568" y="2944368"/>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A token is a chunk of text</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Roughly three quarters of an English word. 1,000 tokens is about 750 words.</a:t>
            </a:r>
            <a:endParaRPr lang="en-US" sz="1350" dirty="0"/>
          </a:p>
        </p:txBody>
      </p:sp>
      <p:sp>
        <p:nvSpPr>
          <p:cNvPr id="23" name="Shape 20"/>
          <p:cNvSpPr/>
          <p:nvPr/>
        </p:nvSpPr>
        <p:spPr>
          <a:xfrm>
            <a:off x="548640" y="3675888"/>
            <a:ext cx="420624" cy="420624"/>
          </a:xfrm>
          <a:prstGeom prst="ellipse">
            <a:avLst/>
          </a:prstGeom>
          <a:solidFill>
            <a:srgbClr val="F0F5EC"/>
          </a:solidFill>
          <a:ln/>
        </p:spPr>
      </p:sp>
      <p:pic>
        <p:nvPicPr>
          <p:cNvPr id="24" name="Image 1" descr="preencoded.png">    </p:cNvPr>
          <p:cNvPicPr>
            <a:picLocks noChangeAspect="1"/>
          </p:cNvPicPr>
          <p:nvPr/>
        </p:nvPicPr>
        <p:blipFill>
          <a:blip r:embed="rId2"/>
          <a:stretch>
            <a:fillRect/>
          </a:stretch>
        </p:blipFill>
        <p:spPr>
          <a:xfrm>
            <a:off x="658002" y="3785250"/>
            <a:ext cx="201900" cy="201900"/>
          </a:xfrm>
          <a:prstGeom prst="rect">
            <a:avLst/>
          </a:prstGeom>
        </p:spPr>
      </p:pic>
      <p:sp>
        <p:nvSpPr>
          <p:cNvPr id="25" name="Text 21"/>
          <p:cNvSpPr/>
          <p:nvPr/>
        </p:nvSpPr>
        <p:spPr>
          <a:xfrm>
            <a:off x="1115568" y="3602736"/>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Models have a token budget</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The context window. Fill it up and the oldest content falls out of memory.</a:t>
            </a:r>
            <a:endParaRPr lang="en-US" sz="1350" dirty="0"/>
          </a:p>
        </p:txBody>
      </p:sp>
      <p:sp>
        <p:nvSpPr>
          <p:cNvPr id="26" name="Shape 22"/>
          <p:cNvSpPr/>
          <p:nvPr/>
        </p:nvSpPr>
        <p:spPr>
          <a:xfrm>
            <a:off x="548640" y="4334256"/>
            <a:ext cx="420624" cy="420624"/>
          </a:xfrm>
          <a:prstGeom prst="ellipse">
            <a:avLst/>
          </a:prstGeom>
          <a:solidFill>
            <a:srgbClr val="F0F5EC"/>
          </a:solidFill>
          <a:ln/>
        </p:spPr>
      </p:sp>
      <p:pic>
        <p:nvPicPr>
          <p:cNvPr id="27" name="Image 2" descr="preencoded.png">    </p:cNvPr>
          <p:cNvPicPr>
            <a:picLocks noChangeAspect="1"/>
          </p:cNvPicPr>
          <p:nvPr/>
        </p:nvPicPr>
        <p:blipFill>
          <a:blip r:embed="rId3"/>
          <a:stretch>
            <a:fillRect/>
          </a:stretch>
        </p:blipFill>
        <p:spPr>
          <a:xfrm>
            <a:off x="658002" y="4443618"/>
            <a:ext cx="201900" cy="201900"/>
          </a:xfrm>
          <a:prstGeom prst="rect">
            <a:avLst/>
          </a:prstGeom>
        </p:spPr>
      </p:pic>
      <p:sp>
        <p:nvSpPr>
          <p:cNvPr id="28" name="Text 23"/>
          <p:cNvSpPr/>
          <p:nvPr/>
        </p:nvSpPr>
        <p:spPr>
          <a:xfrm>
            <a:off x="1115568" y="4261104"/>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Tokens are the currency of AI</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API pricing, speed ratings, and limits are all counted in tokens.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MODULE 2 · NEURAL NETWORKS</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2800" b="1" dirty="0">
                <a:solidFill>
                  <a:srgbClr val="1F2A20"/>
                </a:solidFill>
                <a:latin typeface="Cambria" pitchFamily="34" charset="0"/>
                <a:ea typeface="Cambria" pitchFamily="34" charset="-122"/>
                <a:cs typeface="Cambria" pitchFamily="34" charset="-120"/>
              </a:rPr>
              <a:t>Billions of tiny dials, tuned by practice</a:t>
            </a:r>
            <a:endParaRPr lang="en-US" sz="2800" dirty="0"/>
          </a:p>
        </p:txBody>
      </p:sp>
      <p:sp>
        <p:nvSpPr>
          <p:cNvPr id="4" name="Shape 2"/>
          <p:cNvSpPr/>
          <p:nvPr/>
        </p:nvSpPr>
        <p:spPr>
          <a:xfrm flipV="1">
            <a:off x="1280160" y="1828800"/>
            <a:ext cx="960120" cy="365760"/>
          </a:xfrm>
          <a:prstGeom prst="line">
            <a:avLst/>
          </a:prstGeom>
          <a:noFill/>
          <a:ln w="12700">
            <a:solidFill>
              <a:srgbClr val="C9D9BE"/>
            </a:solidFill>
            <a:prstDash val="solid"/>
          </a:ln>
        </p:spPr>
      </p:sp>
      <p:sp>
        <p:nvSpPr>
          <p:cNvPr id="5" name="Shape 3"/>
          <p:cNvSpPr/>
          <p:nvPr/>
        </p:nvSpPr>
        <p:spPr>
          <a:xfrm>
            <a:off x="1280160" y="2194560"/>
            <a:ext cx="960120" cy="365760"/>
          </a:xfrm>
          <a:prstGeom prst="line">
            <a:avLst/>
          </a:prstGeom>
          <a:noFill/>
          <a:ln w="12700">
            <a:solidFill>
              <a:srgbClr val="C9D9BE"/>
            </a:solidFill>
            <a:prstDash val="solid"/>
          </a:ln>
        </p:spPr>
      </p:sp>
      <p:sp>
        <p:nvSpPr>
          <p:cNvPr id="6" name="Shape 4"/>
          <p:cNvSpPr/>
          <p:nvPr/>
        </p:nvSpPr>
        <p:spPr>
          <a:xfrm>
            <a:off x="1280160" y="2194560"/>
            <a:ext cx="960120" cy="1097280"/>
          </a:xfrm>
          <a:prstGeom prst="line">
            <a:avLst/>
          </a:prstGeom>
          <a:noFill/>
          <a:ln w="12700">
            <a:solidFill>
              <a:srgbClr val="C9D9BE"/>
            </a:solidFill>
            <a:prstDash val="solid"/>
          </a:ln>
        </p:spPr>
      </p:sp>
      <p:sp>
        <p:nvSpPr>
          <p:cNvPr id="7" name="Shape 5"/>
          <p:cNvSpPr/>
          <p:nvPr/>
        </p:nvSpPr>
        <p:spPr>
          <a:xfrm>
            <a:off x="1280160" y="2194560"/>
            <a:ext cx="960120" cy="1828800"/>
          </a:xfrm>
          <a:prstGeom prst="line">
            <a:avLst/>
          </a:prstGeom>
          <a:noFill/>
          <a:ln w="12700">
            <a:solidFill>
              <a:srgbClr val="C9D9BE"/>
            </a:solidFill>
            <a:prstDash val="solid"/>
          </a:ln>
        </p:spPr>
      </p:sp>
      <p:sp>
        <p:nvSpPr>
          <p:cNvPr id="8" name="Shape 6"/>
          <p:cNvSpPr/>
          <p:nvPr/>
        </p:nvSpPr>
        <p:spPr>
          <a:xfrm flipV="1">
            <a:off x="1280160" y="1828800"/>
            <a:ext cx="960120" cy="1097280"/>
          </a:xfrm>
          <a:prstGeom prst="line">
            <a:avLst/>
          </a:prstGeom>
          <a:noFill/>
          <a:ln w="12700">
            <a:solidFill>
              <a:srgbClr val="C9D9BE"/>
            </a:solidFill>
            <a:prstDash val="solid"/>
          </a:ln>
        </p:spPr>
      </p:sp>
      <p:sp>
        <p:nvSpPr>
          <p:cNvPr id="9" name="Shape 7"/>
          <p:cNvSpPr/>
          <p:nvPr/>
        </p:nvSpPr>
        <p:spPr>
          <a:xfrm flipV="1">
            <a:off x="1280160" y="2560320"/>
            <a:ext cx="960120" cy="365760"/>
          </a:xfrm>
          <a:prstGeom prst="line">
            <a:avLst/>
          </a:prstGeom>
          <a:noFill/>
          <a:ln w="12700">
            <a:solidFill>
              <a:srgbClr val="C9D9BE"/>
            </a:solidFill>
            <a:prstDash val="solid"/>
          </a:ln>
        </p:spPr>
      </p:sp>
      <p:sp>
        <p:nvSpPr>
          <p:cNvPr id="10" name="Shape 8"/>
          <p:cNvSpPr/>
          <p:nvPr/>
        </p:nvSpPr>
        <p:spPr>
          <a:xfrm>
            <a:off x="1280160" y="2926080"/>
            <a:ext cx="960120" cy="365760"/>
          </a:xfrm>
          <a:prstGeom prst="line">
            <a:avLst/>
          </a:prstGeom>
          <a:noFill/>
          <a:ln w="12700">
            <a:solidFill>
              <a:srgbClr val="C9D9BE"/>
            </a:solidFill>
            <a:prstDash val="solid"/>
          </a:ln>
        </p:spPr>
      </p:sp>
      <p:sp>
        <p:nvSpPr>
          <p:cNvPr id="11" name="Shape 9"/>
          <p:cNvSpPr/>
          <p:nvPr/>
        </p:nvSpPr>
        <p:spPr>
          <a:xfrm>
            <a:off x="1280160" y="2926080"/>
            <a:ext cx="960120" cy="1097280"/>
          </a:xfrm>
          <a:prstGeom prst="line">
            <a:avLst/>
          </a:prstGeom>
          <a:noFill/>
          <a:ln w="12700">
            <a:solidFill>
              <a:srgbClr val="C9D9BE"/>
            </a:solidFill>
            <a:prstDash val="solid"/>
          </a:ln>
        </p:spPr>
      </p:sp>
      <p:sp>
        <p:nvSpPr>
          <p:cNvPr id="12" name="Shape 10"/>
          <p:cNvSpPr/>
          <p:nvPr/>
        </p:nvSpPr>
        <p:spPr>
          <a:xfrm flipV="1">
            <a:off x="1280160" y="1828800"/>
            <a:ext cx="960120" cy="1828800"/>
          </a:xfrm>
          <a:prstGeom prst="line">
            <a:avLst/>
          </a:prstGeom>
          <a:noFill/>
          <a:ln w="12700">
            <a:solidFill>
              <a:srgbClr val="C9D9BE"/>
            </a:solidFill>
            <a:prstDash val="solid"/>
          </a:ln>
        </p:spPr>
      </p:sp>
      <p:sp>
        <p:nvSpPr>
          <p:cNvPr id="13" name="Shape 11"/>
          <p:cNvSpPr/>
          <p:nvPr/>
        </p:nvSpPr>
        <p:spPr>
          <a:xfrm flipV="1">
            <a:off x="1280160" y="2560320"/>
            <a:ext cx="960120" cy="1097280"/>
          </a:xfrm>
          <a:prstGeom prst="line">
            <a:avLst/>
          </a:prstGeom>
          <a:noFill/>
          <a:ln w="12700">
            <a:solidFill>
              <a:srgbClr val="C9D9BE"/>
            </a:solidFill>
            <a:prstDash val="solid"/>
          </a:ln>
        </p:spPr>
      </p:sp>
      <p:sp>
        <p:nvSpPr>
          <p:cNvPr id="14" name="Shape 12"/>
          <p:cNvSpPr/>
          <p:nvPr/>
        </p:nvSpPr>
        <p:spPr>
          <a:xfrm flipV="1">
            <a:off x="1280160" y="3291840"/>
            <a:ext cx="960120" cy="365760"/>
          </a:xfrm>
          <a:prstGeom prst="line">
            <a:avLst/>
          </a:prstGeom>
          <a:noFill/>
          <a:ln w="12700">
            <a:solidFill>
              <a:srgbClr val="C9D9BE"/>
            </a:solidFill>
            <a:prstDash val="solid"/>
          </a:ln>
        </p:spPr>
      </p:sp>
      <p:sp>
        <p:nvSpPr>
          <p:cNvPr id="15" name="Shape 13"/>
          <p:cNvSpPr/>
          <p:nvPr/>
        </p:nvSpPr>
        <p:spPr>
          <a:xfrm>
            <a:off x="1280160" y="3657600"/>
            <a:ext cx="960120" cy="365760"/>
          </a:xfrm>
          <a:prstGeom prst="line">
            <a:avLst/>
          </a:prstGeom>
          <a:noFill/>
          <a:ln w="12700">
            <a:solidFill>
              <a:srgbClr val="C9D9BE"/>
            </a:solidFill>
            <a:prstDash val="solid"/>
          </a:ln>
        </p:spPr>
      </p:sp>
      <p:sp>
        <p:nvSpPr>
          <p:cNvPr id="16" name="Shape 14"/>
          <p:cNvSpPr/>
          <p:nvPr/>
        </p:nvSpPr>
        <p:spPr>
          <a:xfrm>
            <a:off x="2606040" y="1828800"/>
            <a:ext cx="960120" cy="731520"/>
          </a:xfrm>
          <a:prstGeom prst="line">
            <a:avLst/>
          </a:prstGeom>
          <a:noFill/>
          <a:ln w="12700">
            <a:solidFill>
              <a:srgbClr val="C9D9BE"/>
            </a:solidFill>
            <a:prstDash val="solid"/>
          </a:ln>
        </p:spPr>
      </p:sp>
      <p:sp>
        <p:nvSpPr>
          <p:cNvPr id="17" name="Shape 15"/>
          <p:cNvSpPr/>
          <p:nvPr/>
        </p:nvSpPr>
        <p:spPr>
          <a:xfrm>
            <a:off x="2606040" y="1828800"/>
            <a:ext cx="960120" cy="1463040"/>
          </a:xfrm>
          <a:prstGeom prst="line">
            <a:avLst/>
          </a:prstGeom>
          <a:noFill/>
          <a:ln w="12700">
            <a:solidFill>
              <a:srgbClr val="C9D9BE"/>
            </a:solidFill>
            <a:prstDash val="solid"/>
          </a:ln>
        </p:spPr>
      </p:sp>
      <p:sp>
        <p:nvSpPr>
          <p:cNvPr id="18" name="Shape 16"/>
          <p:cNvSpPr/>
          <p:nvPr/>
        </p:nvSpPr>
        <p:spPr>
          <a:xfrm>
            <a:off x="2606040" y="2560320"/>
            <a:ext cx="960120" cy="0"/>
          </a:xfrm>
          <a:prstGeom prst="line">
            <a:avLst/>
          </a:prstGeom>
          <a:noFill/>
          <a:ln w="12700">
            <a:solidFill>
              <a:srgbClr val="C9D9BE"/>
            </a:solidFill>
            <a:prstDash val="solid"/>
          </a:ln>
        </p:spPr>
      </p:sp>
      <p:sp>
        <p:nvSpPr>
          <p:cNvPr id="19" name="Shape 17"/>
          <p:cNvSpPr/>
          <p:nvPr/>
        </p:nvSpPr>
        <p:spPr>
          <a:xfrm>
            <a:off x="2606040" y="2560320"/>
            <a:ext cx="960120" cy="731520"/>
          </a:xfrm>
          <a:prstGeom prst="line">
            <a:avLst/>
          </a:prstGeom>
          <a:noFill/>
          <a:ln w="12700">
            <a:solidFill>
              <a:srgbClr val="C9D9BE"/>
            </a:solidFill>
            <a:prstDash val="solid"/>
          </a:ln>
        </p:spPr>
      </p:sp>
      <p:sp>
        <p:nvSpPr>
          <p:cNvPr id="20" name="Shape 18"/>
          <p:cNvSpPr/>
          <p:nvPr/>
        </p:nvSpPr>
        <p:spPr>
          <a:xfrm flipV="1">
            <a:off x="2606040" y="2560320"/>
            <a:ext cx="960120" cy="731520"/>
          </a:xfrm>
          <a:prstGeom prst="line">
            <a:avLst/>
          </a:prstGeom>
          <a:noFill/>
          <a:ln w="12700">
            <a:solidFill>
              <a:srgbClr val="C9D9BE"/>
            </a:solidFill>
            <a:prstDash val="solid"/>
          </a:ln>
        </p:spPr>
      </p:sp>
      <p:sp>
        <p:nvSpPr>
          <p:cNvPr id="21" name="Shape 19"/>
          <p:cNvSpPr/>
          <p:nvPr/>
        </p:nvSpPr>
        <p:spPr>
          <a:xfrm>
            <a:off x="2606040" y="3291840"/>
            <a:ext cx="960120" cy="0"/>
          </a:xfrm>
          <a:prstGeom prst="line">
            <a:avLst/>
          </a:prstGeom>
          <a:noFill/>
          <a:ln w="12700">
            <a:solidFill>
              <a:srgbClr val="C9D9BE"/>
            </a:solidFill>
            <a:prstDash val="solid"/>
          </a:ln>
        </p:spPr>
      </p:sp>
      <p:sp>
        <p:nvSpPr>
          <p:cNvPr id="22" name="Shape 20"/>
          <p:cNvSpPr/>
          <p:nvPr/>
        </p:nvSpPr>
        <p:spPr>
          <a:xfrm flipV="1">
            <a:off x="2606040" y="2560320"/>
            <a:ext cx="960120" cy="1463040"/>
          </a:xfrm>
          <a:prstGeom prst="line">
            <a:avLst/>
          </a:prstGeom>
          <a:noFill/>
          <a:ln w="12700">
            <a:solidFill>
              <a:srgbClr val="C9D9BE"/>
            </a:solidFill>
            <a:prstDash val="solid"/>
          </a:ln>
        </p:spPr>
      </p:sp>
      <p:sp>
        <p:nvSpPr>
          <p:cNvPr id="23" name="Shape 21"/>
          <p:cNvSpPr/>
          <p:nvPr/>
        </p:nvSpPr>
        <p:spPr>
          <a:xfrm flipV="1">
            <a:off x="2606040" y="3291840"/>
            <a:ext cx="960120" cy="731520"/>
          </a:xfrm>
          <a:prstGeom prst="line">
            <a:avLst/>
          </a:prstGeom>
          <a:noFill/>
          <a:ln w="12700">
            <a:solidFill>
              <a:srgbClr val="C9D9BE"/>
            </a:solidFill>
            <a:prstDash val="solid"/>
          </a:ln>
        </p:spPr>
      </p:sp>
      <p:sp>
        <p:nvSpPr>
          <p:cNvPr id="24" name="Shape 22"/>
          <p:cNvSpPr/>
          <p:nvPr/>
        </p:nvSpPr>
        <p:spPr>
          <a:xfrm>
            <a:off x="914400" y="2011680"/>
            <a:ext cx="365760" cy="365760"/>
          </a:xfrm>
          <a:prstGeom prst="ellipse">
            <a:avLst/>
          </a:prstGeom>
          <a:solidFill>
            <a:srgbClr val="F0F5EC"/>
          </a:solidFill>
          <a:ln w="12700">
            <a:solidFill>
              <a:srgbClr val="6E9648"/>
            </a:solidFill>
            <a:prstDash val="solid"/>
          </a:ln>
        </p:spPr>
      </p:sp>
      <p:sp>
        <p:nvSpPr>
          <p:cNvPr id="25" name="Shape 23"/>
          <p:cNvSpPr/>
          <p:nvPr/>
        </p:nvSpPr>
        <p:spPr>
          <a:xfrm>
            <a:off x="914400" y="2743200"/>
            <a:ext cx="365760" cy="365760"/>
          </a:xfrm>
          <a:prstGeom prst="ellipse">
            <a:avLst/>
          </a:prstGeom>
          <a:solidFill>
            <a:srgbClr val="F0F5EC"/>
          </a:solidFill>
          <a:ln w="12700">
            <a:solidFill>
              <a:srgbClr val="6E9648"/>
            </a:solidFill>
            <a:prstDash val="solid"/>
          </a:ln>
        </p:spPr>
      </p:sp>
      <p:sp>
        <p:nvSpPr>
          <p:cNvPr id="26" name="Shape 24"/>
          <p:cNvSpPr/>
          <p:nvPr/>
        </p:nvSpPr>
        <p:spPr>
          <a:xfrm>
            <a:off x="914400" y="3474720"/>
            <a:ext cx="365760" cy="365760"/>
          </a:xfrm>
          <a:prstGeom prst="ellipse">
            <a:avLst/>
          </a:prstGeom>
          <a:solidFill>
            <a:srgbClr val="F0F5EC"/>
          </a:solidFill>
          <a:ln w="12700">
            <a:solidFill>
              <a:srgbClr val="6E9648"/>
            </a:solidFill>
            <a:prstDash val="solid"/>
          </a:ln>
        </p:spPr>
      </p:sp>
      <p:sp>
        <p:nvSpPr>
          <p:cNvPr id="27" name="Shape 25"/>
          <p:cNvSpPr/>
          <p:nvPr/>
        </p:nvSpPr>
        <p:spPr>
          <a:xfrm>
            <a:off x="2240280" y="1645920"/>
            <a:ext cx="365760" cy="365760"/>
          </a:xfrm>
          <a:prstGeom prst="ellipse">
            <a:avLst/>
          </a:prstGeom>
          <a:solidFill>
            <a:srgbClr val="E2EDD5"/>
          </a:solidFill>
          <a:ln w="12700">
            <a:solidFill>
              <a:srgbClr val="6E9648"/>
            </a:solidFill>
            <a:prstDash val="solid"/>
          </a:ln>
        </p:spPr>
      </p:sp>
      <p:sp>
        <p:nvSpPr>
          <p:cNvPr id="28" name="Shape 26"/>
          <p:cNvSpPr/>
          <p:nvPr/>
        </p:nvSpPr>
        <p:spPr>
          <a:xfrm>
            <a:off x="2240280" y="2377440"/>
            <a:ext cx="365760" cy="365760"/>
          </a:xfrm>
          <a:prstGeom prst="ellipse">
            <a:avLst/>
          </a:prstGeom>
          <a:solidFill>
            <a:srgbClr val="E2EDD5"/>
          </a:solidFill>
          <a:ln w="12700">
            <a:solidFill>
              <a:srgbClr val="6E9648"/>
            </a:solidFill>
            <a:prstDash val="solid"/>
          </a:ln>
        </p:spPr>
      </p:sp>
      <p:sp>
        <p:nvSpPr>
          <p:cNvPr id="29" name="Shape 27"/>
          <p:cNvSpPr/>
          <p:nvPr/>
        </p:nvSpPr>
        <p:spPr>
          <a:xfrm>
            <a:off x="2240280" y="3108960"/>
            <a:ext cx="365760" cy="365760"/>
          </a:xfrm>
          <a:prstGeom prst="ellipse">
            <a:avLst/>
          </a:prstGeom>
          <a:solidFill>
            <a:srgbClr val="E2EDD5"/>
          </a:solidFill>
          <a:ln w="12700">
            <a:solidFill>
              <a:srgbClr val="6E9648"/>
            </a:solidFill>
            <a:prstDash val="solid"/>
          </a:ln>
        </p:spPr>
      </p:sp>
      <p:sp>
        <p:nvSpPr>
          <p:cNvPr id="30" name="Shape 28"/>
          <p:cNvSpPr/>
          <p:nvPr/>
        </p:nvSpPr>
        <p:spPr>
          <a:xfrm>
            <a:off x="2240280" y="3840480"/>
            <a:ext cx="365760" cy="365760"/>
          </a:xfrm>
          <a:prstGeom prst="ellipse">
            <a:avLst/>
          </a:prstGeom>
          <a:solidFill>
            <a:srgbClr val="E2EDD5"/>
          </a:solidFill>
          <a:ln w="12700">
            <a:solidFill>
              <a:srgbClr val="6E9648"/>
            </a:solidFill>
            <a:prstDash val="solid"/>
          </a:ln>
        </p:spPr>
      </p:sp>
      <p:sp>
        <p:nvSpPr>
          <p:cNvPr id="31" name="Shape 29"/>
          <p:cNvSpPr/>
          <p:nvPr/>
        </p:nvSpPr>
        <p:spPr>
          <a:xfrm>
            <a:off x="3566160" y="2377440"/>
            <a:ext cx="365760" cy="365760"/>
          </a:xfrm>
          <a:prstGeom prst="ellipse">
            <a:avLst/>
          </a:prstGeom>
          <a:solidFill>
            <a:srgbClr val="97BC62"/>
          </a:solidFill>
          <a:ln w="12700">
            <a:solidFill>
              <a:srgbClr val="6E9648"/>
            </a:solidFill>
            <a:prstDash val="solid"/>
          </a:ln>
        </p:spPr>
      </p:sp>
      <p:sp>
        <p:nvSpPr>
          <p:cNvPr id="32" name="Shape 30"/>
          <p:cNvSpPr/>
          <p:nvPr/>
        </p:nvSpPr>
        <p:spPr>
          <a:xfrm>
            <a:off x="3566160" y="3108960"/>
            <a:ext cx="365760" cy="365760"/>
          </a:xfrm>
          <a:prstGeom prst="ellipse">
            <a:avLst/>
          </a:prstGeom>
          <a:solidFill>
            <a:srgbClr val="97BC62"/>
          </a:solidFill>
          <a:ln w="12700">
            <a:solidFill>
              <a:srgbClr val="6E9648"/>
            </a:solidFill>
            <a:prstDash val="solid"/>
          </a:ln>
        </p:spPr>
      </p:sp>
      <p:sp>
        <p:nvSpPr>
          <p:cNvPr id="33" name="Text 31"/>
          <p:cNvSpPr/>
          <p:nvPr/>
        </p:nvSpPr>
        <p:spPr>
          <a:xfrm>
            <a:off x="566928" y="4343400"/>
            <a:ext cx="1097280" cy="274320"/>
          </a:xfrm>
          <a:prstGeom prst="rect">
            <a:avLst/>
          </a:prstGeom>
          <a:noFill/>
          <a:ln/>
        </p:spPr>
        <p:txBody>
          <a:bodyPr wrap="square" lIns="0" tIns="0" rIns="0" bIns="0" rtlCol="0" anchor="ctr"/>
          <a:lstStyle/>
          <a:p>
            <a:pPr algn="ctr" indent="0" marL="0">
              <a:buNone/>
            </a:pPr>
            <a:r>
              <a:rPr lang="en-US" sz="1000" dirty="0">
                <a:solidFill>
                  <a:srgbClr val="5C6B5A"/>
                </a:solidFill>
                <a:latin typeface="Calibri" pitchFamily="34" charset="0"/>
                <a:ea typeface="Calibri" pitchFamily="34" charset="-122"/>
                <a:cs typeface="Calibri" pitchFamily="34" charset="-120"/>
              </a:rPr>
              <a:t>words in</a:t>
            </a:r>
            <a:endParaRPr lang="en-US" sz="1000" dirty="0"/>
          </a:p>
        </p:txBody>
      </p:sp>
      <p:sp>
        <p:nvSpPr>
          <p:cNvPr id="34" name="Text 32"/>
          <p:cNvSpPr/>
          <p:nvPr/>
        </p:nvSpPr>
        <p:spPr>
          <a:xfrm>
            <a:off x="2011680" y="4343400"/>
            <a:ext cx="1371600" cy="274320"/>
          </a:xfrm>
          <a:prstGeom prst="rect">
            <a:avLst/>
          </a:prstGeom>
          <a:noFill/>
          <a:ln/>
        </p:spPr>
        <p:txBody>
          <a:bodyPr wrap="square" lIns="0" tIns="0" rIns="0" bIns="0" rtlCol="0" anchor="ctr"/>
          <a:lstStyle/>
          <a:p>
            <a:pPr algn="ctr" indent="0" marL="0">
              <a:buNone/>
            </a:pPr>
            <a:r>
              <a:rPr lang="en-US" sz="1000" dirty="0">
                <a:solidFill>
                  <a:srgbClr val="5C6B5A"/>
                </a:solidFill>
                <a:latin typeface="Calibri" pitchFamily="34" charset="0"/>
                <a:ea typeface="Calibri" pitchFamily="34" charset="-122"/>
                <a:cs typeface="Calibri" pitchFamily="34" charset="-120"/>
              </a:rPr>
              <a:t>layers of weights</a:t>
            </a:r>
            <a:endParaRPr lang="en-US" sz="1000" dirty="0"/>
          </a:p>
        </p:txBody>
      </p:sp>
      <p:sp>
        <p:nvSpPr>
          <p:cNvPr id="35" name="Text 33"/>
          <p:cNvSpPr/>
          <p:nvPr/>
        </p:nvSpPr>
        <p:spPr>
          <a:xfrm>
            <a:off x="3310128" y="4343400"/>
            <a:ext cx="1188720" cy="274320"/>
          </a:xfrm>
          <a:prstGeom prst="rect">
            <a:avLst/>
          </a:prstGeom>
          <a:noFill/>
          <a:ln/>
        </p:spPr>
        <p:txBody>
          <a:bodyPr wrap="square" lIns="0" tIns="0" rIns="0" bIns="0" rtlCol="0" anchor="ctr"/>
          <a:lstStyle/>
          <a:p>
            <a:pPr algn="ctr" indent="0" marL="0">
              <a:buNone/>
            </a:pPr>
            <a:r>
              <a:rPr lang="en-US" sz="1000" dirty="0">
                <a:solidFill>
                  <a:srgbClr val="5C6B5A"/>
                </a:solidFill>
                <a:latin typeface="Calibri" pitchFamily="34" charset="0"/>
                <a:ea typeface="Calibri" pitchFamily="34" charset="-122"/>
                <a:cs typeface="Calibri" pitchFamily="34" charset="-120"/>
              </a:rPr>
              <a:t>next word out</a:t>
            </a:r>
            <a:endParaRPr lang="en-US" sz="1000" dirty="0"/>
          </a:p>
        </p:txBody>
      </p:sp>
      <p:sp>
        <p:nvSpPr>
          <p:cNvPr id="36" name="Shape 34"/>
          <p:cNvSpPr/>
          <p:nvPr/>
        </p:nvSpPr>
        <p:spPr>
          <a:xfrm>
            <a:off x="4846320" y="1600200"/>
            <a:ext cx="420624" cy="420624"/>
          </a:xfrm>
          <a:prstGeom prst="ellipse">
            <a:avLst/>
          </a:prstGeom>
          <a:solidFill>
            <a:srgbClr val="F0F5EC"/>
          </a:solidFill>
          <a:ln/>
        </p:spPr>
      </p:sp>
      <p:pic>
        <p:nvPicPr>
          <p:cNvPr id="37" name="Image 0" descr="preencoded.png">    </p:cNvPr>
          <p:cNvPicPr>
            <a:picLocks noChangeAspect="1"/>
          </p:cNvPicPr>
          <p:nvPr/>
        </p:nvPicPr>
        <p:blipFill>
          <a:blip r:embed="rId1"/>
          <a:stretch>
            <a:fillRect/>
          </a:stretch>
        </p:blipFill>
        <p:spPr>
          <a:xfrm>
            <a:off x="4955682" y="1709562"/>
            <a:ext cx="201900" cy="201900"/>
          </a:xfrm>
          <a:prstGeom prst="rect">
            <a:avLst/>
          </a:prstGeom>
        </p:spPr>
      </p:pic>
      <p:sp>
        <p:nvSpPr>
          <p:cNvPr id="38" name="Text 35"/>
          <p:cNvSpPr/>
          <p:nvPr/>
        </p:nvSpPr>
        <p:spPr>
          <a:xfrm>
            <a:off x="5413248" y="1527048"/>
            <a:ext cx="318211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Every connection is a dial</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A weight: one number that gets nudged up or down during training.</a:t>
            </a:r>
            <a:endParaRPr lang="en-US" sz="1350" dirty="0"/>
          </a:p>
        </p:txBody>
      </p:sp>
      <p:sp>
        <p:nvSpPr>
          <p:cNvPr id="39" name="Shape 36"/>
          <p:cNvSpPr/>
          <p:nvPr/>
        </p:nvSpPr>
        <p:spPr>
          <a:xfrm>
            <a:off x="4846320" y="2569464"/>
            <a:ext cx="420624" cy="420624"/>
          </a:xfrm>
          <a:prstGeom prst="ellipse">
            <a:avLst/>
          </a:prstGeom>
          <a:solidFill>
            <a:srgbClr val="F0F5EC"/>
          </a:solidFill>
          <a:ln/>
        </p:spPr>
      </p:sp>
      <p:pic>
        <p:nvPicPr>
          <p:cNvPr id="40" name="Image 1" descr="preencoded.png">    </p:cNvPr>
          <p:cNvPicPr>
            <a:picLocks noChangeAspect="1"/>
          </p:cNvPicPr>
          <p:nvPr/>
        </p:nvPicPr>
        <p:blipFill>
          <a:blip r:embed="rId2"/>
          <a:stretch>
            <a:fillRect/>
          </a:stretch>
        </p:blipFill>
        <p:spPr>
          <a:xfrm>
            <a:off x="4955682" y="2678826"/>
            <a:ext cx="201900" cy="201900"/>
          </a:xfrm>
          <a:prstGeom prst="rect">
            <a:avLst/>
          </a:prstGeom>
        </p:spPr>
      </p:pic>
      <p:sp>
        <p:nvSpPr>
          <p:cNvPr id="41" name="Text 37"/>
          <p:cNvSpPr/>
          <p:nvPr/>
        </p:nvSpPr>
        <p:spPr>
          <a:xfrm>
            <a:off x="5413248" y="2496312"/>
            <a:ext cx="318211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Learning = tuning the dials</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Wrong guess? Nudge billions of weights so the right answer scores higher next time.</a:t>
            </a:r>
            <a:endParaRPr lang="en-US" sz="1350" dirty="0"/>
          </a:p>
        </p:txBody>
      </p:sp>
      <p:sp>
        <p:nvSpPr>
          <p:cNvPr id="42" name="Shape 38"/>
          <p:cNvSpPr/>
          <p:nvPr/>
        </p:nvSpPr>
        <p:spPr>
          <a:xfrm>
            <a:off x="4846320" y="3538728"/>
            <a:ext cx="420624" cy="420624"/>
          </a:xfrm>
          <a:prstGeom prst="ellipse">
            <a:avLst/>
          </a:prstGeom>
          <a:solidFill>
            <a:srgbClr val="F0F5EC"/>
          </a:solidFill>
          <a:ln/>
        </p:spPr>
      </p:sp>
      <p:pic>
        <p:nvPicPr>
          <p:cNvPr id="43" name="Image 2" descr="preencoded.png">    </p:cNvPr>
          <p:cNvPicPr>
            <a:picLocks noChangeAspect="1"/>
          </p:cNvPicPr>
          <p:nvPr/>
        </p:nvPicPr>
        <p:blipFill>
          <a:blip r:embed="rId3"/>
          <a:stretch>
            <a:fillRect/>
          </a:stretch>
        </p:blipFill>
        <p:spPr>
          <a:xfrm>
            <a:off x="4955682" y="3648090"/>
            <a:ext cx="201900" cy="201900"/>
          </a:xfrm>
          <a:prstGeom prst="rect">
            <a:avLst/>
          </a:prstGeom>
        </p:spPr>
      </p:pic>
      <p:sp>
        <p:nvSpPr>
          <p:cNvPr id="44" name="Text 39"/>
          <p:cNvSpPr/>
          <p:nvPr/>
        </p:nvSpPr>
        <p:spPr>
          <a:xfrm>
            <a:off x="5413248" y="3465576"/>
            <a:ext cx="318211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Scale is the surprise</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Frontier models have hundreds of billions of weights. Somehow, fluency emerges.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MODULE 2 · THE TRANSFORMER</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2800" b="1" dirty="0">
                <a:solidFill>
                  <a:srgbClr val="1F2A20"/>
                </a:solidFill>
                <a:latin typeface="Cambria" pitchFamily="34" charset="0"/>
                <a:ea typeface="Cambria" pitchFamily="34" charset="-122"/>
                <a:cs typeface="Cambria" pitchFamily="34" charset="-120"/>
              </a:rPr>
              <a:t>The 2017 invention that changed everything</a:t>
            </a:r>
            <a:endParaRPr lang="en-US" sz="2800" dirty="0"/>
          </a:p>
        </p:txBody>
      </p:sp>
      <p:sp>
        <p:nvSpPr>
          <p:cNvPr id="4" name="Shape 2"/>
          <p:cNvSpPr/>
          <p:nvPr/>
        </p:nvSpPr>
        <p:spPr>
          <a:xfrm>
            <a:off x="548640" y="1508760"/>
            <a:ext cx="8046720" cy="1051560"/>
          </a:xfrm>
          <a:prstGeom prst="roundRect">
            <a:avLst>
              <a:gd name="adj" fmla="val 6087"/>
            </a:avLst>
          </a:prstGeom>
          <a:solidFill>
            <a:srgbClr val="F0F5EC"/>
          </a:solidFill>
          <a:ln w="12700">
            <a:solidFill>
              <a:srgbClr val="DFE9D8"/>
            </a:solidFill>
            <a:prstDash val="solid"/>
          </a:ln>
        </p:spPr>
      </p:sp>
      <p:sp>
        <p:nvSpPr>
          <p:cNvPr id="5" name="Text 3"/>
          <p:cNvSpPr/>
          <p:nvPr/>
        </p:nvSpPr>
        <p:spPr>
          <a:xfrm>
            <a:off x="822960" y="1691640"/>
            <a:ext cx="7498080" cy="685800"/>
          </a:xfrm>
          <a:prstGeom prst="rect">
            <a:avLst/>
          </a:prstGeom>
          <a:noFill/>
          <a:ln/>
        </p:spPr>
        <p:txBody>
          <a:bodyPr wrap="square" lIns="0" tIns="0" rIns="0" bIns="0" rtlCol="0" anchor="ctr"/>
          <a:lstStyle/>
          <a:p>
            <a:pPr indent="0" marL="0">
              <a:buNone/>
            </a:pPr>
            <a:r>
              <a:rPr lang="en-US" sz="1500" dirty="0">
                <a:solidFill>
                  <a:srgbClr val="1F2A20"/>
                </a:solidFill>
                <a:latin typeface="Cambria" pitchFamily="34" charset="0"/>
                <a:ea typeface="Cambria" pitchFamily="34" charset="-122"/>
                <a:cs typeface="Cambria" pitchFamily="34" charset="-120"/>
              </a:rPr>
              <a:t>"The trophy did not fit in the suitcase because </a:t>
            </a:r>
            <a:pPr indent="0" marL="0">
              <a:buNone/>
            </a:pPr>
            <a:r>
              <a:rPr lang="en-US" sz="1500" b="1" dirty="0">
                <a:solidFill>
                  <a:srgbClr val="FFFFFF"/>
                </a:solidFill>
                <a:highlight>
                  <a:srgbClr val="2C5F2D"/>
                </a:highlight>
                <a:latin typeface="Cambria" pitchFamily="34" charset="0"/>
                <a:ea typeface="Cambria" pitchFamily="34" charset="-122"/>
                <a:cs typeface="Cambria" pitchFamily="34" charset="-120"/>
              </a:rPr>
              <a:t>it</a:t>
            </a:r>
            <a:pPr indent="0" marL="0">
              <a:buNone/>
            </a:pPr>
            <a:r>
              <a:rPr lang="en-US" sz="1500" dirty="0">
                <a:solidFill>
                  <a:srgbClr val="1F2A20"/>
                </a:solidFill>
                <a:latin typeface="Cambria" pitchFamily="34" charset="0"/>
                <a:ea typeface="Cambria" pitchFamily="34" charset="-122"/>
                <a:cs typeface="Cambria" pitchFamily="34" charset="-120"/>
              </a:rPr>
              <a:t> was too big."  Which "it"? </a:t>
            </a:r>
            <a:pPr indent="0" marL="0">
              <a:buNone/>
            </a:pPr>
            <a:r>
              <a:rPr lang="en-US" sz="1500" b="1" i="1" dirty="0">
                <a:solidFill>
                  <a:srgbClr val="2C5F2D"/>
                </a:solidFill>
                <a:latin typeface="Cambria" pitchFamily="34" charset="0"/>
                <a:ea typeface="Cambria" pitchFamily="34" charset="-122"/>
                <a:cs typeface="Cambria" pitchFamily="34" charset="-120"/>
              </a:rPr>
              <a:t>Attention links "it" to "trophy".</a:t>
            </a:r>
            <a:endParaRPr lang="en-US" sz="1500" dirty="0"/>
          </a:p>
        </p:txBody>
      </p:sp>
      <p:sp>
        <p:nvSpPr>
          <p:cNvPr id="6" name="Shape 4"/>
          <p:cNvSpPr/>
          <p:nvPr/>
        </p:nvSpPr>
        <p:spPr>
          <a:xfrm>
            <a:off x="548640" y="2880360"/>
            <a:ext cx="420624" cy="420624"/>
          </a:xfrm>
          <a:prstGeom prst="ellipse">
            <a:avLst/>
          </a:prstGeom>
          <a:solidFill>
            <a:srgbClr val="F0F5EC"/>
          </a:solidFill>
          <a:ln/>
        </p:spPr>
      </p:sp>
      <p:pic>
        <p:nvPicPr>
          <p:cNvPr id="7" name="Image 0" descr="preencoded.png">    </p:cNvPr>
          <p:cNvPicPr>
            <a:picLocks noChangeAspect="1"/>
          </p:cNvPicPr>
          <p:nvPr/>
        </p:nvPicPr>
        <p:blipFill>
          <a:blip r:embed="rId1"/>
          <a:stretch>
            <a:fillRect/>
          </a:stretch>
        </p:blipFill>
        <p:spPr>
          <a:xfrm>
            <a:off x="658002" y="2989722"/>
            <a:ext cx="201900" cy="201900"/>
          </a:xfrm>
          <a:prstGeom prst="rect">
            <a:avLst/>
          </a:prstGeom>
        </p:spPr>
      </p:pic>
      <p:sp>
        <p:nvSpPr>
          <p:cNvPr id="8" name="Text 5"/>
          <p:cNvSpPr/>
          <p:nvPr/>
        </p:nvSpPr>
        <p:spPr>
          <a:xfrm>
            <a:off x="1115568" y="2807208"/>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Attention: every word looks at every other word</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The model learns which words matter to which, no matter how far apart they sit.</a:t>
            </a:r>
            <a:endParaRPr lang="en-US" sz="1350" dirty="0"/>
          </a:p>
        </p:txBody>
      </p:sp>
      <p:sp>
        <p:nvSpPr>
          <p:cNvPr id="9" name="Shape 6"/>
          <p:cNvSpPr/>
          <p:nvPr/>
        </p:nvSpPr>
        <p:spPr>
          <a:xfrm>
            <a:off x="548640" y="3593592"/>
            <a:ext cx="420624" cy="420624"/>
          </a:xfrm>
          <a:prstGeom prst="ellipse">
            <a:avLst/>
          </a:prstGeom>
          <a:solidFill>
            <a:srgbClr val="F0F5EC"/>
          </a:solidFill>
          <a:ln/>
        </p:spPr>
      </p:sp>
      <p:pic>
        <p:nvPicPr>
          <p:cNvPr id="10" name="Image 1" descr="preencoded.png">    </p:cNvPr>
          <p:cNvPicPr>
            <a:picLocks noChangeAspect="1"/>
          </p:cNvPicPr>
          <p:nvPr/>
        </p:nvPicPr>
        <p:blipFill>
          <a:blip r:embed="rId2"/>
          <a:stretch>
            <a:fillRect/>
          </a:stretch>
        </p:blipFill>
        <p:spPr>
          <a:xfrm>
            <a:off x="658002" y="3702954"/>
            <a:ext cx="201900" cy="201900"/>
          </a:xfrm>
          <a:prstGeom prst="rect">
            <a:avLst/>
          </a:prstGeom>
        </p:spPr>
      </p:pic>
      <p:sp>
        <p:nvSpPr>
          <p:cNvPr id="11" name="Text 7"/>
          <p:cNvSpPr/>
          <p:nvPr/>
        </p:nvSpPr>
        <p:spPr>
          <a:xfrm>
            <a:off x="1115568" y="3520440"/>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It reads everything at once</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Older AI read word by word. Transformers process a whole text in parallel, so training on internet-scale data became affordable.</a:t>
            </a:r>
            <a:endParaRPr lang="en-US" sz="1350" dirty="0"/>
          </a:p>
        </p:txBody>
      </p:sp>
      <p:sp>
        <p:nvSpPr>
          <p:cNvPr id="12" name="Shape 8"/>
          <p:cNvSpPr/>
          <p:nvPr/>
        </p:nvSpPr>
        <p:spPr>
          <a:xfrm>
            <a:off x="548640" y="4306824"/>
            <a:ext cx="420624" cy="420624"/>
          </a:xfrm>
          <a:prstGeom prst="ellipse">
            <a:avLst/>
          </a:prstGeom>
          <a:solidFill>
            <a:srgbClr val="F0F5EC"/>
          </a:solidFill>
          <a:ln/>
        </p:spPr>
      </p:sp>
      <p:pic>
        <p:nvPicPr>
          <p:cNvPr id="13" name="Image 2" descr="preencoded.png">    </p:cNvPr>
          <p:cNvPicPr>
            <a:picLocks noChangeAspect="1"/>
          </p:cNvPicPr>
          <p:nvPr/>
        </p:nvPicPr>
        <p:blipFill>
          <a:blip r:embed="rId3"/>
          <a:stretch>
            <a:fillRect/>
          </a:stretch>
        </p:blipFill>
        <p:spPr>
          <a:xfrm>
            <a:off x="658002" y="4416186"/>
            <a:ext cx="201900" cy="201900"/>
          </a:xfrm>
          <a:prstGeom prst="rect">
            <a:avLst/>
          </a:prstGeom>
        </p:spPr>
      </p:pic>
      <p:sp>
        <p:nvSpPr>
          <p:cNvPr id="14" name="Text 9"/>
          <p:cNvSpPr/>
          <p:nvPr/>
        </p:nvSpPr>
        <p:spPr>
          <a:xfrm>
            <a:off x="1115568" y="4233672"/>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It is the T in GPT</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Generative Pre-trained Transformer. Claude, Gemini, and Llama are transformers too.</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MODULE 2 · WORKING MEMORY</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2600" b="1" dirty="0">
                <a:solidFill>
                  <a:srgbClr val="1F2A20"/>
                </a:solidFill>
                <a:latin typeface="Cambria" pitchFamily="34" charset="0"/>
                <a:ea typeface="Cambria" pitchFamily="34" charset="-122"/>
                <a:cs typeface="Cambria" pitchFamily="34" charset="-120"/>
              </a:rPr>
              <a:t>The context window: how much it can hold in mind</a:t>
            </a:r>
            <a:endParaRPr lang="en-US" sz="2600" dirty="0"/>
          </a:p>
        </p:txBody>
      </p:sp>
      <p:sp>
        <p:nvSpPr>
          <p:cNvPr id="4" name="Text 2"/>
          <p:cNvSpPr/>
          <p:nvPr/>
        </p:nvSpPr>
        <p:spPr>
          <a:xfrm>
            <a:off x="548640" y="1645920"/>
            <a:ext cx="2377440" cy="502920"/>
          </a:xfrm>
          <a:prstGeom prst="rect">
            <a:avLst/>
          </a:prstGeom>
          <a:noFill/>
          <a:ln/>
        </p:spPr>
        <p:txBody>
          <a:bodyPr wrap="square" lIns="0" tIns="0" rIns="0" bIns="0" rtlCol="0" anchor="ctr"/>
          <a:lstStyle/>
          <a:p>
            <a:pPr indent="0" marL="0">
              <a:buNone/>
            </a:pPr>
            <a:r>
              <a:rPr lang="en-US" sz="1150" b="1" dirty="0">
                <a:solidFill>
                  <a:srgbClr val="1F2A20"/>
                </a:solidFill>
                <a:latin typeface="Calibri" pitchFamily="34" charset="0"/>
                <a:ea typeface="Calibri" pitchFamily="34" charset="-122"/>
                <a:cs typeface="Calibri" pitchFamily="34" charset="-120"/>
              </a:rPr>
              <a:t>Typical chat model</a:t>
            </a:r>
            <a:endParaRPr lang="en-US" sz="1150" dirty="0"/>
          </a:p>
        </p:txBody>
      </p:sp>
      <p:sp>
        <p:nvSpPr>
          <p:cNvPr id="5" name="Shape 3"/>
          <p:cNvSpPr/>
          <p:nvPr/>
        </p:nvSpPr>
        <p:spPr>
          <a:xfrm>
            <a:off x="3017520" y="1682496"/>
            <a:ext cx="1920240" cy="420624"/>
          </a:xfrm>
          <a:prstGeom prst="roundRect">
            <a:avLst>
              <a:gd name="adj" fmla="val 10870"/>
            </a:avLst>
          </a:prstGeom>
          <a:solidFill>
            <a:srgbClr val="97BC62"/>
          </a:solidFill>
          <a:ln/>
        </p:spPr>
      </p:sp>
      <p:sp>
        <p:nvSpPr>
          <p:cNvPr id="6" name="Text 4"/>
          <p:cNvSpPr/>
          <p:nvPr/>
        </p:nvSpPr>
        <p:spPr>
          <a:xfrm>
            <a:off x="3154680" y="1719072"/>
            <a:ext cx="146304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200K tokens</a:t>
            </a:r>
            <a:endParaRPr lang="en-US" sz="1200" dirty="0"/>
          </a:p>
        </p:txBody>
      </p:sp>
      <p:sp>
        <p:nvSpPr>
          <p:cNvPr id="7" name="Text 5"/>
          <p:cNvSpPr/>
          <p:nvPr/>
        </p:nvSpPr>
        <p:spPr>
          <a:xfrm>
            <a:off x="3017520" y="2148840"/>
            <a:ext cx="5486400" cy="274320"/>
          </a:xfrm>
          <a:prstGeom prst="rect">
            <a:avLst/>
          </a:prstGeom>
          <a:noFill/>
          <a:ln/>
        </p:spPr>
        <p:txBody>
          <a:bodyPr wrap="square" lIns="0" tIns="0" rIns="0" bIns="0" rtlCol="0" anchor="ctr"/>
          <a:lstStyle/>
          <a:p>
            <a:pPr indent="0" marL="0">
              <a:buNone/>
            </a:pPr>
            <a:r>
              <a:rPr lang="en-US" sz="1000" i="1" dirty="0">
                <a:solidFill>
                  <a:srgbClr val="5C6B5A"/>
                </a:solidFill>
                <a:latin typeface="Calibri" pitchFamily="34" charset="0"/>
                <a:ea typeface="Calibri" pitchFamily="34" charset="-122"/>
                <a:cs typeface="Calibri" pitchFamily="34" charset="-120"/>
              </a:rPr>
              <a:t>about one long novel</a:t>
            </a:r>
            <a:endParaRPr lang="en-US" sz="1000" dirty="0"/>
          </a:p>
        </p:txBody>
      </p:sp>
      <p:sp>
        <p:nvSpPr>
          <p:cNvPr id="8" name="Text 6"/>
          <p:cNvSpPr/>
          <p:nvPr/>
        </p:nvSpPr>
        <p:spPr>
          <a:xfrm>
            <a:off x="548640" y="2560320"/>
            <a:ext cx="2377440" cy="502920"/>
          </a:xfrm>
          <a:prstGeom prst="rect">
            <a:avLst/>
          </a:prstGeom>
          <a:noFill/>
          <a:ln/>
        </p:spPr>
        <p:txBody>
          <a:bodyPr wrap="square" lIns="0" tIns="0" rIns="0" bIns="0" rtlCol="0" anchor="ctr"/>
          <a:lstStyle/>
          <a:p>
            <a:pPr indent="0" marL="0">
              <a:buNone/>
            </a:pPr>
            <a:r>
              <a:rPr lang="en-US" sz="1150" b="1" dirty="0">
                <a:solidFill>
                  <a:srgbClr val="1F2A20"/>
                </a:solidFill>
                <a:latin typeface="Calibri" pitchFamily="34" charset="0"/>
                <a:ea typeface="Calibri" pitchFamily="34" charset="-122"/>
                <a:cs typeface="Calibri" pitchFamily="34" charset="-120"/>
              </a:rPr>
              <a:t>Claude / Gemini top tiers</a:t>
            </a:r>
            <a:endParaRPr lang="en-US" sz="1150" dirty="0"/>
          </a:p>
        </p:txBody>
      </p:sp>
      <p:sp>
        <p:nvSpPr>
          <p:cNvPr id="9" name="Shape 7"/>
          <p:cNvSpPr/>
          <p:nvPr/>
        </p:nvSpPr>
        <p:spPr>
          <a:xfrm>
            <a:off x="3017520" y="2596896"/>
            <a:ext cx="3108960" cy="420624"/>
          </a:xfrm>
          <a:prstGeom prst="roundRect">
            <a:avLst>
              <a:gd name="adj" fmla="val 10870"/>
            </a:avLst>
          </a:prstGeom>
          <a:solidFill>
            <a:srgbClr val="6E9648"/>
          </a:solidFill>
          <a:ln/>
        </p:spPr>
      </p:sp>
      <p:sp>
        <p:nvSpPr>
          <p:cNvPr id="10" name="Text 8"/>
          <p:cNvSpPr/>
          <p:nvPr/>
        </p:nvSpPr>
        <p:spPr>
          <a:xfrm>
            <a:off x="3154680" y="2633472"/>
            <a:ext cx="146304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1M tokens</a:t>
            </a:r>
            <a:endParaRPr lang="en-US" sz="1200" dirty="0"/>
          </a:p>
        </p:txBody>
      </p:sp>
      <p:sp>
        <p:nvSpPr>
          <p:cNvPr id="11" name="Text 9"/>
          <p:cNvSpPr/>
          <p:nvPr/>
        </p:nvSpPr>
        <p:spPr>
          <a:xfrm>
            <a:off x="3017520" y="3063240"/>
            <a:ext cx="5486400" cy="274320"/>
          </a:xfrm>
          <a:prstGeom prst="rect">
            <a:avLst/>
          </a:prstGeom>
          <a:noFill/>
          <a:ln/>
        </p:spPr>
        <p:txBody>
          <a:bodyPr wrap="square" lIns="0" tIns="0" rIns="0" bIns="0" rtlCol="0" anchor="ctr"/>
          <a:lstStyle/>
          <a:p>
            <a:pPr indent="0" marL="0">
              <a:buNone/>
            </a:pPr>
            <a:r>
              <a:rPr lang="en-US" sz="1000" i="1" dirty="0">
                <a:solidFill>
                  <a:srgbClr val="5C6B5A"/>
                </a:solidFill>
                <a:latin typeface="Calibri" pitchFamily="34" charset="0"/>
                <a:ea typeface="Calibri" pitchFamily="34" charset="-122"/>
                <a:cs typeface="Calibri" pitchFamily="34" charset="-120"/>
              </a:rPr>
              <a:t>a small bookshelf</a:t>
            </a:r>
            <a:endParaRPr lang="en-US" sz="1000" dirty="0"/>
          </a:p>
        </p:txBody>
      </p:sp>
      <p:sp>
        <p:nvSpPr>
          <p:cNvPr id="12" name="Text 10"/>
          <p:cNvSpPr/>
          <p:nvPr/>
        </p:nvSpPr>
        <p:spPr>
          <a:xfrm>
            <a:off x="548640" y="3474720"/>
            <a:ext cx="2377440" cy="502920"/>
          </a:xfrm>
          <a:prstGeom prst="rect">
            <a:avLst/>
          </a:prstGeom>
          <a:noFill/>
          <a:ln/>
        </p:spPr>
        <p:txBody>
          <a:bodyPr wrap="square" lIns="0" tIns="0" rIns="0" bIns="0" rtlCol="0" anchor="ctr"/>
          <a:lstStyle/>
          <a:p>
            <a:pPr indent="0" marL="0">
              <a:buNone/>
            </a:pPr>
            <a:r>
              <a:rPr lang="en-US" sz="1150" b="1" dirty="0">
                <a:solidFill>
                  <a:srgbClr val="1F2A20"/>
                </a:solidFill>
                <a:latin typeface="Calibri" pitchFamily="34" charset="0"/>
                <a:ea typeface="Calibri" pitchFamily="34" charset="-122"/>
                <a:cs typeface="Calibri" pitchFamily="34" charset="-120"/>
              </a:rPr>
              <a:t>Llama 4 Scout (advertised)</a:t>
            </a:r>
            <a:endParaRPr lang="en-US" sz="1150" dirty="0"/>
          </a:p>
        </p:txBody>
      </p:sp>
      <p:sp>
        <p:nvSpPr>
          <p:cNvPr id="13" name="Shape 11"/>
          <p:cNvSpPr/>
          <p:nvPr/>
        </p:nvSpPr>
        <p:spPr>
          <a:xfrm>
            <a:off x="3017520" y="3511296"/>
            <a:ext cx="5669280" cy="420624"/>
          </a:xfrm>
          <a:prstGeom prst="roundRect">
            <a:avLst>
              <a:gd name="adj" fmla="val 10870"/>
            </a:avLst>
          </a:prstGeom>
          <a:solidFill>
            <a:srgbClr val="2C5F2D"/>
          </a:solidFill>
          <a:ln/>
        </p:spPr>
      </p:sp>
      <p:sp>
        <p:nvSpPr>
          <p:cNvPr id="14" name="Text 12"/>
          <p:cNvSpPr/>
          <p:nvPr/>
        </p:nvSpPr>
        <p:spPr>
          <a:xfrm>
            <a:off x="3154680" y="3547872"/>
            <a:ext cx="146304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10M tokens</a:t>
            </a:r>
            <a:endParaRPr lang="en-US" sz="1200" dirty="0"/>
          </a:p>
        </p:txBody>
      </p:sp>
      <p:sp>
        <p:nvSpPr>
          <p:cNvPr id="15" name="Text 13"/>
          <p:cNvSpPr/>
          <p:nvPr/>
        </p:nvSpPr>
        <p:spPr>
          <a:xfrm>
            <a:off x="3017520" y="3977640"/>
            <a:ext cx="5486400" cy="274320"/>
          </a:xfrm>
          <a:prstGeom prst="rect">
            <a:avLst/>
          </a:prstGeom>
          <a:noFill/>
          <a:ln/>
        </p:spPr>
        <p:txBody>
          <a:bodyPr wrap="square" lIns="0" tIns="0" rIns="0" bIns="0" rtlCol="0" anchor="ctr"/>
          <a:lstStyle/>
          <a:p>
            <a:pPr indent="0" marL="0">
              <a:buNone/>
            </a:pPr>
            <a:r>
              <a:rPr lang="en-US" sz="1000" i="1" dirty="0">
                <a:solidFill>
                  <a:srgbClr val="5C6B5A"/>
                </a:solidFill>
                <a:latin typeface="Calibri" pitchFamily="34" charset="0"/>
                <a:ea typeface="Calibri" pitchFamily="34" charset="-122"/>
                <a:cs typeface="Calibri" pitchFamily="34" charset="-120"/>
              </a:rPr>
              <a:t>dozens of books, about half reliably usable in tests</a:t>
            </a:r>
            <a:endParaRPr lang="en-US" sz="1000" dirty="0"/>
          </a:p>
        </p:txBody>
      </p:sp>
      <p:sp>
        <p:nvSpPr>
          <p:cNvPr id="16" name="Shape 14"/>
          <p:cNvSpPr/>
          <p:nvPr/>
        </p:nvSpPr>
        <p:spPr>
          <a:xfrm>
            <a:off x="548640" y="4343400"/>
            <a:ext cx="8046720" cy="502920"/>
          </a:xfrm>
          <a:prstGeom prst="roundRect">
            <a:avLst>
              <a:gd name="adj" fmla="val 12727"/>
            </a:avLst>
          </a:prstGeom>
          <a:solidFill>
            <a:srgbClr val="F0F5EC"/>
          </a:solidFill>
          <a:ln w="12700">
            <a:solidFill>
              <a:srgbClr val="DFE9D8"/>
            </a:solidFill>
            <a:prstDash val="solid"/>
          </a:ln>
        </p:spPr>
      </p:sp>
      <p:sp>
        <p:nvSpPr>
          <p:cNvPr id="17" name="Text 15"/>
          <p:cNvSpPr/>
          <p:nvPr/>
        </p:nvSpPr>
        <p:spPr>
          <a:xfrm>
            <a:off x="822960" y="4434840"/>
            <a:ext cx="7498080" cy="320040"/>
          </a:xfrm>
          <a:prstGeom prst="rect">
            <a:avLst/>
          </a:prstGeom>
          <a:noFill/>
          <a:ln/>
        </p:spPr>
        <p:txBody>
          <a:bodyPr wrap="square" lIns="0" tIns="0" rIns="0" bIns="0" rtlCol="0" anchor="ctr"/>
          <a:lstStyle/>
          <a:p>
            <a:pPr indent="0" marL="0">
              <a:buNone/>
            </a:pPr>
            <a:r>
              <a:rPr lang="en-US" sz="1150" dirty="0">
                <a:solidFill>
                  <a:srgbClr val="1F2A20"/>
                </a:solidFill>
                <a:latin typeface="Calibri" pitchFamily="34" charset="0"/>
                <a:ea typeface="Calibri" pitchFamily="34" charset="-122"/>
                <a:cs typeface="Calibri" pitchFamily="34" charset="-120"/>
              </a:rPr>
              <a:t>When the window fills, the earliest content silently falls out. If a long chat gets forgetful, start a fresh one and restate what matters.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3D24"/>
        </a:solidFill>
      </p:bgPr>
    </p:bg>
    <p:spTree>
      <p:nvGrpSpPr>
        <p:cNvPr id="1" name=""/>
        <p:cNvGrpSpPr/>
        <p:nvPr/>
      </p:nvGrpSpPr>
      <p:grpSpPr>
        <a:xfrm>
          <a:off x="0" y="0"/>
          <a:ext cx="0" cy="0"/>
          <a:chOff x="0" y="0"/>
          <a:chExt cx="0" cy="0"/>
        </a:xfrm>
      </p:grpSpPr>
      <p:sp>
        <p:nvSpPr>
          <p:cNvPr id="2" name="Text 0"/>
          <p:cNvSpPr/>
          <p:nvPr/>
        </p:nvSpPr>
        <p:spPr>
          <a:xfrm>
            <a:off x="548640" y="1371600"/>
            <a:ext cx="8046720" cy="365760"/>
          </a:xfrm>
          <a:prstGeom prst="rect">
            <a:avLst/>
          </a:prstGeom>
          <a:noFill/>
          <a:ln/>
        </p:spPr>
        <p:txBody>
          <a:bodyPr wrap="square" lIns="0" tIns="0" rIns="0" bIns="0" rtlCol="0" anchor="ctr"/>
          <a:lstStyle/>
          <a:p>
            <a:pPr indent="0" marL="0">
              <a:buNone/>
            </a:pPr>
            <a:r>
              <a:rPr lang="en-US" sz="1400" b="1" spc="400" kern="0" dirty="0">
                <a:solidFill>
                  <a:srgbClr val="97BC62"/>
                </a:solidFill>
                <a:latin typeface="Calibri" pitchFamily="34" charset="0"/>
                <a:ea typeface="Calibri" pitchFamily="34" charset="-122"/>
                <a:cs typeface="Calibri" pitchFamily="34" charset="-120"/>
              </a:rPr>
              <a:t>MODULE 3</a:t>
            </a:r>
            <a:endParaRPr lang="en-US" sz="1400" dirty="0"/>
          </a:p>
        </p:txBody>
      </p:sp>
      <p:sp>
        <p:nvSpPr>
          <p:cNvPr id="3" name="Text 1"/>
          <p:cNvSpPr/>
          <p:nvPr/>
        </p:nvSpPr>
        <p:spPr>
          <a:xfrm>
            <a:off x="548640" y="1783080"/>
            <a:ext cx="804672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How models are trained</a:t>
            </a:r>
            <a:endParaRPr lang="en-US" sz="4000" dirty="0"/>
          </a:p>
        </p:txBody>
      </p:sp>
      <p:sp>
        <p:nvSpPr>
          <p:cNvPr id="4" name="Text 2"/>
          <p:cNvSpPr/>
          <p:nvPr/>
        </p:nvSpPr>
        <p:spPr>
          <a:xfrm>
            <a:off x="548640" y="2788920"/>
            <a:ext cx="6949440" cy="548640"/>
          </a:xfrm>
          <a:prstGeom prst="rect">
            <a:avLst/>
          </a:prstGeom>
          <a:noFill/>
          <a:ln/>
        </p:spPr>
        <p:txBody>
          <a:bodyPr wrap="square" lIns="0" tIns="0" rIns="0" bIns="0" rtlCol="0" anchor="ctr"/>
          <a:lstStyle/>
          <a:p>
            <a:pPr indent="0" marL="0">
              <a:buNone/>
            </a:pPr>
            <a:r>
              <a:rPr lang="en-US" sz="1700" i="1" dirty="0">
                <a:solidFill>
                  <a:srgbClr val="97BC62"/>
                </a:solidFill>
                <a:latin typeface="Cambria" pitchFamily="34" charset="0"/>
                <a:ea typeface="Cambria" pitchFamily="34" charset="-122"/>
                <a:cs typeface="Cambria" pitchFamily="34" charset="-120"/>
              </a:rPr>
              <a:t>Read everything. Learn the job. Learn manners.</a:t>
            </a:r>
            <a:endParaRPr lang="en-US" sz="1700" dirty="0"/>
          </a:p>
        </p:txBody>
      </p:sp>
      <p:sp>
        <p:nvSpPr>
          <p:cNvPr id="5" name="Shape 3"/>
          <p:cNvSpPr/>
          <p:nvPr/>
        </p:nvSpPr>
        <p:spPr>
          <a:xfrm>
            <a:off x="7772400" y="3913632"/>
            <a:ext cx="868680" cy="868680"/>
          </a:xfrm>
          <a:prstGeom prst="ellipse">
            <a:avLst/>
          </a:prstGeom>
          <a:solidFill>
            <a:srgbClr val="FFFFFF"/>
          </a:solidFill>
          <a:ln/>
        </p:spPr>
      </p:sp>
      <p:pic>
        <p:nvPicPr>
          <p:cNvPr id="6" name="Image 0" descr="/sessions/jolly-optimistic-euler/build/logo-mark.png">    </p:cNvPr>
          <p:cNvPicPr>
            <a:picLocks noChangeAspect="1"/>
          </p:cNvPicPr>
          <p:nvPr/>
        </p:nvPicPr>
        <p:blipFill>
          <a:blip r:embed="rId1"/>
          <a:stretch>
            <a:fillRect/>
          </a:stretch>
        </p:blipFill>
        <p:spPr>
          <a:xfrm>
            <a:off x="7827264" y="3968496"/>
            <a:ext cx="758952" cy="758952"/>
          </a:xfrm>
          <a:prstGeom prst="rect">
            <a:avLst/>
          </a:prstGeom>
        </p:spPr>
      </p:pic>
      <p:sp>
        <p:nvSpPr>
          <p:cNvPr id="7" name="Text 4"/>
          <p:cNvSpPr/>
          <p:nvPr/>
        </p:nvSpPr>
        <p:spPr>
          <a:xfrm>
            <a:off x="548640" y="4617720"/>
            <a:ext cx="4572000" cy="274320"/>
          </a:xfrm>
          <a:prstGeom prst="rect">
            <a:avLst/>
          </a:prstGeom>
          <a:noFill/>
          <a:ln/>
        </p:spPr>
        <p:txBody>
          <a:bodyPr wrap="square" lIns="0" tIns="0" rIns="0" bIns="0" rtlCol="0" anchor="ctr"/>
          <a:lstStyle/>
          <a:p>
            <a:pPr indent="0" marL="0">
              <a:buNone/>
            </a:pPr>
            <a:r>
              <a:rPr lang="en-US" sz="1000" dirty="0">
                <a:solidFill>
                  <a:srgbClr val="7FA06F"/>
                </a:solidFill>
                <a:latin typeface="Calibri" pitchFamily="34" charset="0"/>
                <a:ea typeface="Calibri" pitchFamily="34" charset="-122"/>
                <a:cs typeface="Calibri" pitchFamily="34" charset="-120"/>
              </a:rPr>
              <a:t>Cambium Academy · Course 01</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MODULE 3 · THE RECIPE</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2600" b="1" dirty="0">
                <a:solidFill>
                  <a:srgbClr val="1F2A20"/>
                </a:solidFill>
                <a:latin typeface="Cambria" pitchFamily="34" charset="0"/>
                <a:ea typeface="Cambria" pitchFamily="34" charset="-122"/>
                <a:cs typeface="Cambria" pitchFamily="34" charset="-120"/>
              </a:rPr>
              <a:t>From raw internet to helpful assistant, in four steps</a:t>
            </a:r>
            <a:endParaRPr lang="en-US" sz="2600" dirty="0"/>
          </a:p>
        </p:txBody>
      </p:sp>
      <p:sp>
        <p:nvSpPr>
          <p:cNvPr id="4" name="Shape 2"/>
          <p:cNvSpPr/>
          <p:nvPr/>
        </p:nvSpPr>
        <p:spPr>
          <a:xfrm>
            <a:off x="548640" y="1600200"/>
            <a:ext cx="1874520" cy="2377440"/>
          </a:xfrm>
          <a:prstGeom prst="roundRect">
            <a:avLst>
              <a:gd name="adj" fmla="val 3415"/>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5" name="Text 3"/>
          <p:cNvSpPr/>
          <p:nvPr/>
        </p:nvSpPr>
        <p:spPr>
          <a:xfrm>
            <a:off x="713232" y="1737360"/>
            <a:ext cx="457200" cy="457200"/>
          </a:xfrm>
          <a:prstGeom prst="rect">
            <a:avLst/>
          </a:prstGeom>
          <a:noFill/>
          <a:ln/>
        </p:spPr>
        <p:txBody>
          <a:bodyPr wrap="square" lIns="0" tIns="0" rIns="0" bIns="0" rtlCol="0" anchor="ctr"/>
          <a:lstStyle/>
          <a:p>
            <a:pPr indent="0" marL="0">
              <a:buNone/>
            </a:pPr>
            <a:r>
              <a:rPr lang="en-US" sz="2400" b="1" dirty="0">
                <a:solidFill>
                  <a:srgbClr val="97BC62"/>
                </a:solidFill>
                <a:latin typeface="Cambria" pitchFamily="34" charset="0"/>
                <a:ea typeface="Cambria" pitchFamily="34" charset="-122"/>
                <a:cs typeface="Cambria" pitchFamily="34" charset="-120"/>
              </a:rPr>
              <a:t>1</a:t>
            </a:r>
            <a:endParaRPr lang="en-US" sz="2400" dirty="0"/>
          </a:p>
        </p:txBody>
      </p:sp>
      <p:sp>
        <p:nvSpPr>
          <p:cNvPr id="6" name="Shape 4"/>
          <p:cNvSpPr/>
          <p:nvPr/>
        </p:nvSpPr>
        <p:spPr>
          <a:xfrm>
            <a:off x="1783080" y="1755648"/>
            <a:ext cx="438912" cy="438912"/>
          </a:xfrm>
          <a:prstGeom prst="ellipse">
            <a:avLst/>
          </a:prstGeom>
          <a:solidFill>
            <a:srgbClr val="F0F5EC"/>
          </a:solidFill>
          <a:ln/>
        </p:spPr>
      </p:sp>
      <p:pic>
        <p:nvPicPr>
          <p:cNvPr id="7" name="Image 0" descr="preencoded.png">    </p:cNvPr>
          <p:cNvPicPr>
            <a:picLocks noChangeAspect="1"/>
          </p:cNvPicPr>
          <p:nvPr/>
        </p:nvPicPr>
        <p:blipFill>
          <a:blip r:embed="rId1"/>
          <a:stretch>
            <a:fillRect/>
          </a:stretch>
        </p:blipFill>
        <p:spPr>
          <a:xfrm>
            <a:off x="1897197" y="1869765"/>
            <a:ext cx="210678" cy="210678"/>
          </a:xfrm>
          <a:prstGeom prst="rect">
            <a:avLst/>
          </a:prstGeom>
        </p:spPr>
      </p:pic>
      <p:sp>
        <p:nvSpPr>
          <p:cNvPr id="8" name="Text 5"/>
          <p:cNvSpPr/>
          <p:nvPr/>
        </p:nvSpPr>
        <p:spPr>
          <a:xfrm>
            <a:off x="713232" y="2331720"/>
            <a:ext cx="1554480" cy="320040"/>
          </a:xfrm>
          <a:prstGeom prst="rect">
            <a:avLst/>
          </a:prstGeom>
          <a:noFill/>
          <a:ln/>
        </p:spPr>
        <p:txBody>
          <a:bodyPr wrap="square" lIns="0" tIns="0" rIns="0" bIns="0" rtlCol="0" anchor="ctr"/>
          <a:lstStyle/>
          <a:p>
            <a:pPr indent="0" marL="0">
              <a:buNone/>
            </a:pPr>
            <a:r>
              <a:rPr lang="en-US" sz="1300" b="1" dirty="0">
                <a:solidFill>
                  <a:srgbClr val="1F2A20"/>
                </a:solidFill>
                <a:latin typeface="Calibri" pitchFamily="34" charset="0"/>
                <a:ea typeface="Calibri" pitchFamily="34" charset="-122"/>
                <a:cs typeface="Calibri" pitchFamily="34" charset="-120"/>
              </a:rPr>
              <a:t>Gather data</a:t>
            </a:r>
            <a:endParaRPr lang="en-US" sz="1300" dirty="0"/>
          </a:p>
        </p:txBody>
      </p:sp>
      <p:sp>
        <p:nvSpPr>
          <p:cNvPr id="9" name="Text 6"/>
          <p:cNvSpPr/>
          <p:nvPr/>
        </p:nvSpPr>
        <p:spPr>
          <a:xfrm>
            <a:off x="713232" y="2697480"/>
            <a:ext cx="1572768" cy="1143000"/>
          </a:xfrm>
          <a:prstGeom prst="rect">
            <a:avLst/>
          </a:prstGeom>
          <a:noFill/>
          <a:ln/>
        </p:spPr>
        <p:txBody>
          <a:bodyPr wrap="square" lIns="0" tIns="0" rIns="0" bIns="0" rtlCol="0" anchor="ctr"/>
          <a:lstStyle/>
          <a:p>
            <a:pPr indent="0" marL="0">
              <a:buNone/>
            </a:pPr>
            <a:r>
              <a:rPr lang="en-US" sz="1050" dirty="0">
                <a:solidFill>
                  <a:srgbClr val="5C6B5A"/>
                </a:solidFill>
                <a:latin typeface="Calibri" pitchFamily="34" charset="0"/>
                <a:ea typeface="Calibri" pitchFamily="34" charset="-122"/>
                <a:cs typeface="Calibri" pitchFamily="34" charset="-120"/>
              </a:rPr>
              <a:t>Trillions of words: web pages, books, code, articles, transcripts.</a:t>
            </a:r>
            <a:endParaRPr lang="en-US" sz="1050" dirty="0"/>
          </a:p>
        </p:txBody>
      </p:sp>
      <p:sp>
        <p:nvSpPr>
          <p:cNvPr id="10" name="Text 7"/>
          <p:cNvSpPr/>
          <p:nvPr/>
        </p:nvSpPr>
        <p:spPr>
          <a:xfrm>
            <a:off x="2432304" y="2514600"/>
            <a:ext cx="219456" cy="365760"/>
          </a:xfrm>
          <a:prstGeom prst="rect">
            <a:avLst/>
          </a:prstGeom>
          <a:noFill/>
          <a:ln/>
        </p:spPr>
        <p:txBody>
          <a:bodyPr wrap="square" lIns="0" tIns="0" rIns="0" bIns="0" rtlCol="0" anchor="ctr"/>
          <a:lstStyle/>
          <a:p>
            <a:pPr algn="ctr" indent="0" marL="0">
              <a:buNone/>
            </a:pPr>
            <a:r>
              <a:rPr lang="en-US" sz="1800" b="1" dirty="0">
                <a:solidFill>
                  <a:srgbClr val="97BC62"/>
                </a:solidFill>
                <a:latin typeface="Calibri" pitchFamily="34" charset="0"/>
                <a:ea typeface="Calibri" pitchFamily="34" charset="-122"/>
                <a:cs typeface="Calibri" pitchFamily="34" charset="-120"/>
              </a:rPr>
              <a:t>&gt;</a:t>
            </a:r>
            <a:endParaRPr lang="en-US" sz="1800" dirty="0"/>
          </a:p>
        </p:txBody>
      </p:sp>
      <p:sp>
        <p:nvSpPr>
          <p:cNvPr id="11" name="Shape 8"/>
          <p:cNvSpPr/>
          <p:nvPr/>
        </p:nvSpPr>
        <p:spPr>
          <a:xfrm>
            <a:off x="2615184" y="1600200"/>
            <a:ext cx="1874520" cy="2377440"/>
          </a:xfrm>
          <a:prstGeom prst="roundRect">
            <a:avLst>
              <a:gd name="adj" fmla="val 3415"/>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12" name="Text 9"/>
          <p:cNvSpPr/>
          <p:nvPr/>
        </p:nvSpPr>
        <p:spPr>
          <a:xfrm>
            <a:off x="2779776" y="1737360"/>
            <a:ext cx="457200" cy="457200"/>
          </a:xfrm>
          <a:prstGeom prst="rect">
            <a:avLst/>
          </a:prstGeom>
          <a:noFill/>
          <a:ln/>
        </p:spPr>
        <p:txBody>
          <a:bodyPr wrap="square" lIns="0" tIns="0" rIns="0" bIns="0" rtlCol="0" anchor="ctr"/>
          <a:lstStyle/>
          <a:p>
            <a:pPr indent="0" marL="0">
              <a:buNone/>
            </a:pPr>
            <a:r>
              <a:rPr lang="en-US" sz="2400" b="1" dirty="0">
                <a:solidFill>
                  <a:srgbClr val="97BC62"/>
                </a:solidFill>
                <a:latin typeface="Cambria" pitchFamily="34" charset="0"/>
                <a:ea typeface="Cambria" pitchFamily="34" charset="-122"/>
                <a:cs typeface="Cambria" pitchFamily="34" charset="-120"/>
              </a:rPr>
              <a:t>2</a:t>
            </a:r>
            <a:endParaRPr lang="en-US" sz="2400" dirty="0"/>
          </a:p>
        </p:txBody>
      </p:sp>
      <p:sp>
        <p:nvSpPr>
          <p:cNvPr id="13" name="Shape 10"/>
          <p:cNvSpPr/>
          <p:nvPr/>
        </p:nvSpPr>
        <p:spPr>
          <a:xfrm>
            <a:off x="3849624" y="1755648"/>
            <a:ext cx="438912" cy="438912"/>
          </a:xfrm>
          <a:prstGeom prst="ellipse">
            <a:avLst/>
          </a:prstGeom>
          <a:solidFill>
            <a:srgbClr val="F0F5EC"/>
          </a:solidFill>
          <a:ln/>
        </p:spPr>
      </p:sp>
      <p:pic>
        <p:nvPicPr>
          <p:cNvPr id="14" name="Image 1" descr="preencoded.png">    </p:cNvPr>
          <p:cNvPicPr>
            <a:picLocks noChangeAspect="1"/>
          </p:cNvPicPr>
          <p:nvPr/>
        </p:nvPicPr>
        <p:blipFill>
          <a:blip r:embed="rId2"/>
          <a:stretch>
            <a:fillRect/>
          </a:stretch>
        </p:blipFill>
        <p:spPr>
          <a:xfrm>
            <a:off x="3963741" y="1869765"/>
            <a:ext cx="210678" cy="210678"/>
          </a:xfrm>
          <a:prstGeom prst="rect">
            <a:avLst/>
          </a:prstGeom>
        </p:spPr>
      </p:pic>
      <p:sp>
        <p:nvSpPr>
          <p:cNvPr id="15" name="Text 11"/>
          <p:cNvSpPr/>
          <p:nvPr/>
        </p:nvSpPr>
        <p:spPr>
          <a:xfrm>
            <a:off x="2779776" y="2331720"/>
            <a:ext cx="1554480" cy="320040"/>
          </a:xfrm>
          <a:prstGeom prst="rect">
            <a:avLst/>
          </a:prstGeom>
          <a:noFill/>
          <a:ln/>
        </p:spPr>
        <p:txBody>
          <a:bodyPr wrap="square" lIns="0" tIns="0" rIns="0" bIns="0" rtlCol="0" anchor="ctr"/>
          <a:lstStyle/>
          <a:p>
            <a:pPr indent="0" marL="0">
              <a:buNone/>
            </a:pPr>
            <a:r>
              <a:rPr lang="en-US" sz="1300" b="1" dirty="0">
                <a:solidFill>
                  <a:srgbClr val="1F2A20"/>
                </a:solidFill>
                <a:latin typeface="Calibri" pitchFamily="34" charset="0"/>
                <a:ea typeface="Calibri" pitchFamily="34" charset="-122"/>
                <a:cs typeface="Calibri" pitchFamily="34" charset="-120"/>
              </a:rPr>
              <a:t>Pretrain</a:t>
            </a:r>
            <a:endParaRPr lang="en-US" sz="1300" dirty="0"/>
          </a:p>
        </p:txBody>
      </p:sp>
      <p:sp>
        <p:nvSpPr>
          <p:cNvPr id="16" name="Text 12"/>
          <p:cNvSpPr/>
          <p:nvPr/>
        </p:nvSpPr>
        <p:spPr>
          <a:xfrm>
            <a:off x="2779776" y="2697480"/>
            <a:ext cx="1572768" cy="1143000"/>
          </a:xfrm>
          <a:prstGeom prst="rect">
            <a:avLst/>
          </a:prstGeom>
          <a:noFill/>
          <a:ln/>
        </p:spPr>
        <p:txBody>
          <a:bodyPr wrap="square" lIns="0" tIns="0" rIns="0" bIns="0" rtlCol="0" anchor="ctr"/>
          <a:lstStyle/>
          <a:p>
            <a:pPr indent="0" marL="0">
              <a:buNone/>
            </a:pPr>
            <a:r>
              <a:rPr lang="en-US" sz="1050" dirty="0">
                <a:solidFill>
                  <a:srgbClr val="5C6B5A"/>
                </a:solidFill>
                <a:latin typeface="Calibri" pitchFamily="34" charset="0"/>
                <a:ea typeface="Calibri" pitchFamily="34" charset="-122"/>
                <a:cs typeface="Calibri" pitchFamily="34" charset="-120"/>
              </a:rPr>
              <a:t>Predict the next token, billions of times. Absorbs language and facts.</a:t>
            </a:r>
            <a:endParaRPr lang="en-US" sz="1050" dirty="0"/>
          </a:p>
        </p:txBody>
      </p:sp>
      <p:sp>
        <p:nvSpPr>
          <p:cNvPr id="17" name="Text 13"/>
          <p:cNvSpPr/>
          <p:nvPr/>
        </p:nvSpPr>
        <p:spPr>
          <a:xfrm>
            <a:off x="4498848" y="2514600"/>
            <a:ext cx="219456" cy="365760"/>
          </a:xfrm>
          <a:prstGeom prst="rect">
            <a:avLst/>
          </a:prstGeom>
          <a:noFill/>
          <a:ln/>
        </p:spPr>
        <p:txBody>
          <a:bodyPr wrap="square" lIns="0" tIns="0" rIns="0" bIns="0" rtlCol="0" anchor="ctr"/>
          <a:lstStyle/>
          <a:p>
            <a:pPr algn="ctr" indent="0" marL="0">
              <a:buNone/>
            </a:pPr>
            <a:r>
              <a:rPr lang="en-US" sz="1800" b="1" dirty="0">
                <a:solidFill>
                  <a:srgbClr val="97BC62"/>
                </a:solidFill>
                <a:latin typeface="Calibri" pitchFamily="34" charset="0"/>
                <a:ea typeface="Calibri" pitchFamily="34" charset="-122"/>
                <a:cs typeface="Calibri" pitchFamily="34" charset="-120"/>
              </a:rPr>
              <a:t>&gt;</a:t>
            </a:r>
            <a:endParaRPr lang="en-US" sz="1800" dirty="0"/>
          </a:p>
        </p:txBody>
      </p:sp>
      <p:sp>
        <p:nvSpPr>
          <p:cNvPr id="18" name="Shape 14"/>
          <p:cNvSpPr/>
          <p:nvPr/>
        </p:nvSpPr>
        <p:spPr>
          <a:xfrm>
            <a:off x="4681728" y="1600200"/>
            <a:ext cx="1874520" cy="2377440"/>
          </a:xfrm>
          <a:prstGeom prst="roundRect">
            <a:avLst>
              <a:gd name="adj" fmla="val 3415"/>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19" name="Text 15"/>
          <p:cNvSpPr/>
          <p:nvPr/>
        </p:nvSpPr>
        <p:spPr>
          <a:xfrm>
            <a:off x="4846320" y="1737360"/>
            <a:ext cx="457200" cy="457200"/>
          </a:xfrm>
          <a:prstGeom prst="rect">
            <a:avLst/>
          </a:prstGeom>
          <a:noFill/>
          <a:ln/>
        </p:spPr>
        <p:txBody>
          <a:bodyPr wrap="square" lIns="0" tIns="0" rIns="0" bIns="0" rtlCol="0" anchor="ctr"/>
          <a:lstStyle/>
          <a:p>
            <a:pPr indent="0" marL="0">
              <a:buNone/>
            </a:pPr>
            <a:r>
              <a:rPr lang="en-US" sz="2400" b="1" dirty="0">
                <a:solidFill>
                  <a:srgbClr val="97BC62"/>
                </a:solidFill>
                <a:latin typeface="Cambria" pitchFamily="34" charset="0"/>
                <a:ea typeface="Cambria" pitchFamily="34" charset="-122"/>
                <a:cs typeface="Cambria" pitchFamily="34" charset="-120"/>
              </a:rPr>
              <a:t>3</a:t>
            </a:r>
            <a:endParaRPr lang="en-US" sz="2400" dirty="0"/>
          </a:p>
        </p:txBody>
      </p:sp>
      <p:sp>
        <p:nvSpPr>
          <p:cNvPr id="20" name="Shape 16"/>
          <p:cNvSpPr/>
          <p:nvPr/>
        </p:nvSpPr>
        <p:spPr>
          <a:xfrm>
            <a:off x="5916168" y="1755648"/>
            <a:ext cx="438912" cy="438912"/>
          </a:xfrm>
          <a:prstGeom prst="ellipse">
            <a:avLst/>
          </a:prstGeom>
          <a:solidFill>
            <a:srgbClr val="F0F5EC"/>
          </a:solidFill>
          <a:ln/>
        </p:spPr>
      </p:sp>
      <p:pic>
        <p:nvPicPr>
          <p:cNvPr id="21" name="Image 2" descr="preencoded.png">    </p:cNvPr>
          <p:cNvPicPr>
            <a:picLocks noChangeAspect="1"/>
          </p:cNvPicPr>
          <p:nvPr/>
        </p:nvPicPr>
        <p:blipFill>
          <a:blip r:embed="rId3"/>
          <a:stretch>
            <a:fillRect/>
          </a:stretch>
        </p:blipFill>
        <p:spPr>
          <a:xfrm>
            <a:off x="6030285" y="1869765"/>
            <a:ext cx="210678" cy="210678"/>
          </a:xfrm>
          <a:prstGeom prst="rect">
            <a:avLst/>
          </a:prstGeom>
        </p:spPr>
      </p:pic>
      <p:sp>
        <p:nvSpPr>
          <p:cNvPr id="22" name="Text 17"/>
          <p:cNvSpPr/>
          <p:nvPr/>
        </p:nvSpPr>
        <p:spPr>
          <a:xfrm>
            <a:off x="4846320" y="2331720"/>
            <a:ext cx="1554480" cy="320040"/>
          </a:xfrm>
          <a:prstGeom prst="rect">
            <a:avLst/>
          </a:prstGeom>
          <a:noFill/>
          <a:ln/>
        </p:spPr>
        <p:txBody>
          <a:bodyPr wrap="square" lIns="0" tIns="0" rIns="0" bIns="0" rtlCol="0" anchor="ctr"/>
          <a:lstStyle/>
          <a:p>
            <a:pPr indent="0" marL="0">
              <a:buNone/>
            </a:pPr>
            <a:r>
              <a:rPr lang="en-US" sz="1300" b="1" dirty="0">
                <a:solidFill>
                  <a:srgbClr val="1F2A20"/>
                </a:solidFill>
                <a:latin typeface="Calibri" pitchFamily="34" charset="0"/>
                <a:ea typeface="Calibri" pitchFamily="34" charset="-122"/>
                <a:cs typeface="Calibri" pitchFamily="34" charset="-120"/>
              </a:rPr>
              <a:t>Fine-tune</a:t>
            </a:r>
            <a:endParaRPr lang="en-US" sz="1300" dirty="0"/>
          </a:p>
        </p:txBody>
      </p:sp>
      <p:sp>
        <p:nvSpPr>
          <p:cNvPr id="23" name="Text 18"/>
          <p:cNvSpPr/>
          <p:nvPr/>
        </p:nvSpPr>
        <p:spPr>
          <a:xfrm>
            <a:off x="4846320" y="2697480"/>
            <a:ext cx="1572768" cy="1143000"/>
          </a:xfrm>
          <a:prstGeom prst="rect">
            <a:avLst/>
          </a:prstGeom>
          <a:noFill/>
          <a:ln/>
        </p:spPr>
        <p:txBody>
          <a:bodyPr wrap="square" lIns="0" tIns="0" rIns="0" bIns="0" rtlCol="0" anchor="ctr"/>
          <a:lstStyle/>
          <a:p>
            <a:pPr indent="0" marL="0">
              <a:buNone/>
            </a:pPr>
            <a:r>
              <a:rPr lang="en-US" sz="1050" dirty="0">
                <a:solidFill>
                  <a:srgbClr val="5C6B5A"/>
                </a:solidFill>
                <a:latin typeface="Calibri" pitchFamily="34" charset="0"/>
                <a:ea typeface="Calibri" pitchFamily="34" charset="-122"/>
                <a:cs typeface="Calibri" pitchFamily="34" charset="-120"/>
              </a:rPr>
              <a:t>Teach it to follow instructions and hold conversations.</a:t>
            </a:r>
            <a:endParaRPr lang="en-US" sz="1050" dirty="0"/>
          </a:p>
        </p:txBody>
      </p:sp>
      <p:sp>
        <p:nvSpPr>
          <p:cNvPr id="24" name="Text 19"/>
          <p:cNvSpPr/>
          <p:nvPr/>
        </p:nvSpPr>
        <p:spPr>
          <a:xfrm>
            <a:off x="6565392" y="2514600"/>
            <a:ext cx="219456" cy="365760"/>
          </a:xfrm>
          <a:prstGeom prst="rect">
            <a:avLst/>
          </a:prstGeom>
          <a:noFill/>
          <a:ln/>
        </p:spPr>
        <p:txBody>
          <a:bodyPr wrap="square" lIns="0" tIns="0" rIns="0" bIns="0" rtlCol="0" anchor="ctr"/>
          <a:lstStyle/>
          <a:p>
            <a:pPr algn="ctr" indent="0" marL="0">
              <a:buNone/>
            </a:pPr>
            <a:r>
              <a:rPr lang="en-US" sz="1800" b="1" dirty="0">
                <a:solidFill>
                  <a:srgbClr val="97BC62"/>
                </a:solidFill>
                <a:latin typeface="Calibri" pitchFamily="34" charset="0"/>
                <a:ea typeface="Calibri" pitchFamily="34" charset="-122"/>
                <a:cs typeface="Calibri" pitchFamily="34" charset="-120"/>
              </a:rPr>
              <a:t>&gt;</a:t>
            </a:r>
            <a:endParaRPr lang="en-US" sz="1800" dirty="0"/>
          </a:p>
        </p:txBody>
      </p:sp>
      <p:sp>
        <p:nvSpPr>
          <p:cNvPr id="25" name="Shape 20"/>
          <p:cNvSpPr/>
          <p:nvPr/>
        </p:nvSpPr>
        <p:spPr>
          <a:xfrm>
            <a:off x="6748272" y="1600200"/>
            <a:ext cx="1874520" cy="2377440"/>
          </a:xfrm>
          <a:prstGeom prst="roundRect">
            <a:avLst>
              <a:gd name="adj" fmla="val 3415"/>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26" name="Text 21"/>
          <p:cNvSpPr/>
          <p:nvPr/>
        </p:nvSpPr>
        <p:spPr>
          <a:xfrm>
            <a:off x="6912864" y="1737360"/>
            <a:ext cx="457200" cy="457200"/>
          </a:xfrm>
          <a:prstGeom prst="rect">
            <a:avLst/>
          </a:prstGeom>
          <a:noFill/>
          <a:ln/>
        </p:spPr>
        <p:txBody>
          <a:bodyPr wrap="square" lIns="0" tIns="0" rIns="0" bIns="0" rtlCol="0" anchor="ctr"/>
          <a:lstStyle/>
          <a:p>
            <a:pPr indent="0" marL="0">
              <a:buNone/>
            </a:pPr>
            <a:r>
              <a:rPr lang="en-US" sz="2400" b="1" dirty="0">
                <a:solidFill>
                  <a:srgbClr val="97BC62"/>
                </a:solidFill>
                <a:latin typeface="Cambria" pitchFamily="34" charset="0"/>
                <a:ea typeface="Cambria" pitchFamily="34" charset="-122"/>
                <a:cs typeface="Cambria" pitchFamily="34" charset="-120"/>
              </a:rPr>
              <a:t>4</a:t>
            </a:r>
            <a:endParaRPr lang="en-US" sz="2400" dirty="0"/>
          </a:p>
        </p:txBody>
      </p:sp>
      <p:sp>
        <p:nvSpPr>
          <p:cNvPr id="27" name="Shape 22"/>
          <p:cNvSpPr/>
          <p:nvPr/>
        </p:nvSpPr>
        <p:spPr>
          <a:xfrm>
            <a:off x="7982712" y="1755648"/>
            <a:ext cx="438912" cy="438912"/>
          </a:xfrm>
          <a:prstGeom prst="ellipse">
            <a:avLst/>
          </a:prstGeom>
          <a:solidFill>
            <a:srgbClr val="F0F5EC"/>
          </a:solidFill>
          <a:ln/>
        </p:spPr>
      </p:sp>
      <p:pic>
        <p:nvPicPr>
          <p:cNvPr id="28" name="Image 3" descr="preencoded.png">    </p:cNvPr>
          <p:cNvPicPr>
            <a:picLocks noChangeAspect="1"/>
          </p:cNvPicPr>
          <p:nvPr/>
        </p:nvPicPr>
        <p:blipFill>
          <a:blip r:embed="rId4"/>
          <a:stretch>
            <a:fillRect/>
          </a:stretch>
        </p:blipFill>
        <p:spPr>
          <a:xfrm>
            <a:off x="8096829" y="1869765"/>
            <a:ext cx="210678" cy="210678"/>
          </a:xfrm>
          <a:prstGeom prst="rect">
            <a:avLst/>
          </a:prstGeom>
        </p:spPr>
      </p:pic>
      <p:sp>
        <p:nvSpPr>
          <p:cNvPr id="29" name="Text 23"/>
          <p:cNvSpPr/>
          <p:nvPr/>
        </p:nvSpPr>
        <p:spPr>
          <a:xfrm>
            <a:off x="6912864" y="2331720"/>
            <a:ext cx="1554480" cy="320040"/>
          </a:xfrm>
          <a:prstGeom prst="rect">
            <a:avLst/>
          </a:prstGeom>
          <a:noFill/>
          <a:ln/>
        </p:spPr>
        <p:txBody>
          <a:bodyPr wrap="square" lIns="0" tIns="0" rIns="0" bIns="0" rtlCol="0" anchor="ctr"/>
          <a:lstStyle/>
          <a:p>
            <a:pPr indent="0" marL="0">
              <a:buNone/>
            </a:pPr>
            <a:r>
              <a:rPr lang="en-US" sz="1300" b="1" dirty="0">
                <a:solidFill>
                  <a:srgbClr val="1F2A20"/>
                </a:solidFill>
                <a:latin typeface="Calibri" pitchFamily="34" charset="0"/>
                <a:ea typeface="Calibri" pitchFamily="34" charset="-122"/>
                <a:cs typeface="Calibri" pitchFamily="34" charset="-120"/>
              </a:rPr>
              <a:t>Human feedback</a:t>
            </a:r>
            <a:endParaRPr lang="en-US" sz="1300" dirty="0"/>
          </a:p>
        </p:txBody>
      </p:sp>
      <p:sp>
        <p:nvSpPr>
          <p:cNvPr id="30" name="Text 24"/>
          <p:cNvSpPr/>
          <p:nvPr/>
        </p:nvSpPr>
        <p:spPr>
          <a:xfrm>
            <a:off x="6912864" y="2697480"/>
            <a:ext cx="1572768" cy="1143000"/>
          </a:xfrm>
          <a:prstGeom prst="rect">
            <a:avLst/>
          </a:prstGeom>
          <a:noFill/>
          <a:ln/>
        </p:spPr>
        <p:txBody>
          <a:bodyPr wrap="square" lIns="0" tIns="0" rIns="0" bIns="0" rtlCol="0" anchor="ctr"/>
          <a:lstStyle/>
          <a:p>
            <a:pPr indent="0" marL="0">
              <a:buNone/>
            </a:pPr>
            <a:r>
              <a:rPr lang="en-US" sz="1050" dirty="0">
                <a:solidFill>
                  <a:srgbClr val="5C6B5A"/>
                </a:solidFill>
                <a:latin typeface="Calibri" pitchFamily="34" charset="0"/>
                <a:ea typeface="Calibri" pitchFamily="34" charset="-122"/>
                <a:cs typeface="Calibri" pitchFamily="34" charset="-120"/>
              </a:rPr>
              <a:t>People rank answers. The model learns what helpful and safe look like.</a:t>
            </a:r>
            <a:endParaRPr lang="en-US" sz="1050" dirty="0"/>
          </a:p>
        </p:txBody>
      </p:sp>
      <p:sp>
        <p:nvSpPr>
          <p:cNvPr id="31" name="Text 25"/>
          <p:cNvSpPr/>
          <p:nvPr/>
        </p:nvSpPr>
        <p:spPr>
          <a:xfrm>
            <a:off x="548640" y="4343400"/>
            <a:ext cx="8046720" cy="320040"/>
          </a:xfrm>
          <a:prstGeom prst="rect">
            <a:avLst/>
          </a:prstGeom>
          <a:noFill/>
          <a:ln/>
        </p:spPr>
        <p:txBody>
          <a:bodyPr wrap="square" lIns="0" tIns="0" rIns="0" bIns="0" rtlCol="0" anchor="ctr"/>
          <a:lstStyle/>
          <a:p>
            <a:pPr algn="ctr" indent="0" marL="0">
              <a:buNone/>
            </a:pPr>
            <a:r>
              <a:rPr lang="en-US" sz="1250" i="1" dirty="0">
                <a:solidFill>
                  <a:srgbClr val="1F2A20"/>
                </a:solidFill>
                <a:latin typeface="Calibri" pitchFamily="34" charset="0"/>
                <a:ea typeface="Calibri" pitchFamily="34" charset="-122"/>
                <a:cs typeface="Calibri" pitchFamily="34" charset="-120"/>
              </a:rPr>
              <a:t>Steps 1 and 2 build a brilliant autocomplete. Steps 3 and 4 turn it into an assistant.</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MODULE 3 · THE PRICE TAG</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2600" b="1" dirty="0">
                <a:solidFill>
                  <a:srgbClr val="1F2A20"/>
                </a:solidFill>
                <a:latin typeface="Cambria" pitchFamily="34" charset="0"/>
                <a:ea typeface="Cambria" pitchFamily="34" charset="-122"/>
                <a:cs typeface="Cambria" pitchFamily="34" charset="-120"/>
              </a:rPr>
              <a:t>Why only a handful of labs train frontier models</a:t>
            </a:r>
            <a:endParaRPr lang="en-US" sz="2600" dirty="0"/>
          </a:p>
        </p:txBody>
      </p:sp>
      <p:sp>
        <p:nvSpPr>
          <p:cNvPr id="4" name="Shape 2"/>
          <p:cNvSpPr/>
          <p:nvPr/>
        </p:nvSpPr>
        <p:spPr>
          <a:xfrm>
            <a:off x="548640" y="1600200"/>
            <a:ext cx="2606040" cy="1828800"/>
          </a:xfrm>
          <a:prstGeom prst="roundRect">
            <a:avLst>
              <a:gd name="adj" fmla="val 3500"/>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5" name="Shape 3"/>
          <p:cNvSpPr/>
          <p:nvPr/>
        </p:nvSpPr>
        <p:spPr>
          <a:xfrm>
            <a:off x="749808" y="1783080"/>
            <a:ext cx="402336" cy="402336"/>
          </a:xfrm>
          <a:prstGeom prst="ellipse">
            <a:avLst/>
          </a:prstGeom>
          <a:solidFill>
            <a:srgbClr val="F0F5EC"/>
          </a:solidFill>
          <a:ln/>
        </p:spPr>
      </p:sp>
      <p:pic>
        <p:nvPicPr>
          <p:cNvPr id="6" name="Image 0" descr="preencoded.png">    </p:cNvPr>
          <p:cNvPicPr>
            <a:picLocks noChangeAspect="1"/>
          </p:cNvPicPr>
          <p:nvPr/>
        </p:nvPicPr>
        <p:blipFill>
          <a:blip r:embed="rId1"/>
          <a:stretch>
            <a:fillRect/>
          </a:stretch>
        </p:blipFill>
        <p:spPr>
          <a:xfrm>
            <a:off x="854415" y="1887687"/>
            <a:ext cx="193121" cy="193121"/>
          </a:xfrm>
          <a:prstGeom prst="rect">
            <a:avLst/>
          </a:prstGeom>
        </p:spPr>
      </p:pic>
      <p:sp>
        <p:nvSpPr>
          <p:cNvPr id="7" name="Text 4"/>
          <p:cNvSpPr/>
          <p:nvPr/>
        </p:nvSpPr>
        <p:spPr>
          <a:xfrm>
            <a:off x="749808" y="2286000"/>
            <a:ext cx="2194560" cy="548640"/>
          </a:xfrm>
          <a:prstGeom prst="rect">
            <a:avLst/>
          </a:prstGeom>
          <a:noFill/>
          <a:ln/>
        </p:spPr>
        <p:txBody>
          <a:bodyPr wrap="square" lIns="0" tIns="0" rIns="0" bIns="0" rtlCol="0" anchor="ctr"/>
          <a:lstStyle/>
          <a:p>
            <a:pPr indent="0" marL="0">
              <a:buNone/>
            </a:pPr>
            <a:r>
              <a:rPr lang="en-US" sz="3000" b="1" dirty="0">
                <a:solidFill>
                  <a:srgbClr val="D97706"/>
                </a:solidFill>
                <a:latin typeface="Cambria" pitchFamily="34" charset="0"/>
                <a:ea typeface="Cambria" pitchFamily="34" charset="-122"/>
                <a:cs typeface="Cambria" pitchFamily="34" charset="-120"/>
              </a:rPr>
              <a:t>Months</a:t>
            </a:r>
            <a:endParaRPr lang="en-US" sz="3000" dirty="0"/>
          </a:p>
        </p:txBody>
      </p:sp>
      <p:sp>
        <p:nvSpPr>
          <p:cNvPr id="8" name="Text 5"/>
          <p:cNvSpPr/>
          <p:nvPr/>
        </p:nvSpPr>
        <p:spPr>
          <a:xfrm>
            <a:off x="749808" y="2880360"/>
            <a:ext cx="2240280" cy="457200"/>
          </a:xfrm>
          <a:prstGeom prst="rect">
            <a:avLst/>
          </a:prstGeom>
          <a:noFill/>
          <a:ln/>
        </p:spPr>
        <p:txBody>
          <a:bodyPr wrap="square" lIns="0" tIns="0" rIns="0" bIns="0" rtlCol="0" anchor="ctr"/>
          <a:lstStyle/>
          <a:p>
            <a:pPr indent="0" marL="0">
              <a:buNone/>
            </a:pPr>
            <a:r>
              <a:rPr lang="en-US" sz="1050" dirty="0">
                <a:solidFill>
                  <a:srgbClr val="5C6B5A"/>
                </a:solidFill>
                <a:latin typeface="Calibri" pitchFamily="34" charset="0"/>
                <a:ea typeface="Calibri" pitchFamily="34" charset="-122"/>
                <a:cs typeface="Calibri" pitchFamily="34" charset="-120"/>
              </a:rPr>
              <a:t>of continuous training for one frontier run</a:t>
            </a:r>
            <a:endParaRPr lang="en-US" sz="1050" dirty="0"/>
          </a:p>
        </p:txBody>
      </p:sp>
      <p:sp>
        <p:nvSpPr>
          <p:cNvPr id="9" name="Shape 6"/>
          <p:cNvSpPr/>
          <p:nvPr/>
        </p:nvSpPr>
        <p:spPr>
          <a:xfrm>
            <a:off x="3291840" y="1600200"/>
            <a:ext cx="2606040" cy="1828800"/>
          </a:xfrm>
          <a:prstGeom prst="roundRect">
            <a:avLst>
              <a:gd name="adj" fmla="val 3500"/>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10" name="Shape 7"/>
          <p:cNvSpPr/>
          <p:nvPr/>
        </p:nvSpPr>
        <p:spPr>
          <a:xfrm>
            <a:off x="3493008" y="1783080"/>
            <a:ext cx="402336" cy="402336"/>
          </a:xfrm>
          <a:prstGeom prst="ellipse">
            <a:avLst/>
          </a:prstGeom>
          <a:solidFill>
            <a:srgbClr val="F0F5EC"/>
          </a:solidFill>
          <a:ln/>
        </p:spPr>
      </p:sp>
      <p:pic>
        <p:nvPicPr>
          <p:cNvPr id="11" name="Image 1" descr="preencoded.png">    </p:cNvPr>
          <p:cNvPicPr>
            <a:picLocks noChangeAspect="1"/>
          </p:cNvPicPr>
          <p:nvPr/>
        </p:nvPicPr>
        <p:blipFill>
          <a:blip r:embed="rId2"/>
          <a:stretch>
            <a:fillRect/>
          </a:stretch>
        </p:blipFill>
        <p:spPr>
          <a:xfrm>
            <a:off x="3597615" y="1887687"/>
            <a:ext cx="193121" cy="193121"/>
          </a:xfrm>
          <a:prstGeom prst="rect">
            <a:avLst/>
          </a:prstGeom>
        </p:spPr>
      </p:pic>
      <p:sp>
        <p:nvSpPr>
          <p:cNvPr id="12" name="Text 8"/>
          <p:cNvSpPr/>
          <p:nvPr/>
        </p:nvSpPr>
        <p:spPr>
          <a:xfrm>
            <a:off x="3493008" y="2286000"/>
            <a:ext cx="2194560" cy="548640"/>
          </a:xfrm>
          <a:prstGeom prst="rect">
            <a:avLst/>
          </a:prstGeom>
          <a:noFill/>
          <a:ln/>
        </p:spPr>
        <p:txBody>
          <a:bodyPr wrap="square" lIns="0" tIns="0" rIns="0" bIns="0" rtlCol="0" anchor="ctr"/>
          <a:lstStyle/>
          <a:p>
            <a:pPr indent="0" marL="0">
              <a:buNone/>
            </a:pPr>
            <a:r>
              <a:rPr lang="en-US" sz="3000" b="1" dirty="0">
                <a:solidFill>
                  <a:srgbClr val="D97706"/>
                </a:solidFill>
                <a:latin typeface="Cambria" pitchFamily="34" charset="0"/>
                <a:ea typeface="Cambria" pitchFamily="34" charset="-122"/>
                <a:cs typeface="Cambria" pitchFamily="34" charset="-120"/>
              </a:rPr>
              <a:t>10,000s</a:t>
            </a:r>
            <a:endParaRPr lang="en-US" sz="3000" dirty="0"/>
          </a:p>
        </p:txBody>
      </p:sp>
      <p:sp>
        <p:nvSpPr>
          <p:cNvPr id="13" name="Text 9"/>
          <p:cNvSpPr/>
          <p:nvPr/>
        </p:nvSpPr>
        <p:spPr>
          <a:xfrm>
            <a:off x="3493008" y="2880360"/>
            <a:ext cx="2240280" cy="457200"/>
          </a:xfrm>
          <a:prstGeom prst="rect">
            <a:avLst/>
          </a:prstGeom>
          <a:noFill/>
          <a:ln/>
        </p:spPr>
        <p:txBody>
          <a:bodyPr wrap="square" lIns="0" tIns="0" rIns="0" bIns="0" rtlCol="0" anchor="ctr"/>
          <a:lstStyle/>
          <a:p>
            <a:pPr indent="0" marL="0">
              <a:buNone/>
            </a:pPr>
            <a:r>
              <a:rPr lang="en-US" sz="1050" dirty="0">
                <a:solidFill>
                  <a:srgbClr val="5C6B5A"/>
                </a:solidFill>
                <a:latin typeface="Calibri" pitchFamily="34" charset="0"/>
                <a:ea typeface="Calibri" pitchFamily="34" charset="-122"/>
                <a:cs typeface="Calibri" pitchFamily="34" charset="-120"/>
              </a:rPr>
              <a:t>of specialized GPU chips running in parallel</a:t>
            </a:r>
            <a:endParaRPr lang="en-US" sz="1050" dirty="0"/>
          </a:p>
        </p:txBody>
      </p:sp>
      <p:sp>
        <p:nvSpPr>
          <p:cNvPr id="14" name="Shape 10"/>
          <p:cNvSpPr/>
          <p:nvPr/>
        </p:nvSpPr>
        <p:spPr>
          <a:xfrm>
            <a:off x="6035040" y="1600200"/>
            <a:ext cx="2606040" cy="1828800"/>
          </a:xfrm>
          <a:prstGeom prst="roundRect">
            <a:avLst>
              <a:gd name="adj" fmla="val 3500"/>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15" name="Shape 11"/>
          <p:cNvSpPr/>
          <p:nvPr/>
        </p:nvSpPr>
        <p:spPr>
          <a:xfrm>
            <a:off x="6236208" y="1783080"/>
            <a:ext cx="402336" cy="402336"/>
          </a:xfrm>
          <a:prstGeom prst="ellipse">
            <a:avLst/>
          </a:prstGeom>
          <a:solidFill>
            <a:srgbClr val="F0F5EC"/>
          </a:solidFill>
          <a:ln/>
        </p:spPr>
      </p:sp>
      <p:pic>
        <p:nvPicPr>
          <p:cNvPr id="16" name="Image 2" descr="preencoded.png">    </p:cNvPr>
          <p:cNvPicPr>
            <a:picLocks noChangeAspect="1"/>
          </p:cNvPicPr>
          <p:nvPr/>
        </p:nvPicPr>
        <p:blipFill>
          <a:blip r:embed="rId3"/>
          <a:stretch>
            <a:fillRect/>
          </a:stretch>
        </p:blipFill>
        <p:spPr>
          <a:xfrm>
            <a:off x="6340815" y="1887687"/>
            <a:ext cx="193121" cy="193121"/>
          </a:xfrm>
          <a:prstGeom prst="rect">
            <a:avLst/>
          </a:prstGeom>
        </p:spPr>
      </p:pic>
      <p:sp>
        <p:nvSpPr>
          <p:cNvPr id="17" name="Text 12"/>
          <p:cNvSpPr/>
          <p:nvPr/>
        </p:nvSpPr>
        <p:spPr>
          <a:xfrm>
            <a:off x="6236208" y="2286000"/>
            <a:ext cx="2194560" cy="548640"/>
          </a:xfrm>
          <a:prstGeom prst="rect">
            <a:avLst/>
          </a:prstGeom>
          <a:noFill/>
          <a:ln/>
        </p:spPr>
        <p:txBody>
          <a:bodyPr wrap="square" lIns="0" tIns="0" rIns="0" bIns="0" rtlCol="0" anchor="ctr"/>
          <a:lstStyle/>
          <a:p>
            <a:pPr indent="0" marL="0">
              <a:buNone/>
            </a:pPr>
            <a:r>
              <a:rPr lang="en-US" sz="3000" b="1" dirty="0">
                <a:solidFill>
                  <a:srgbClr val="D97706"/>
                </a:solidFill>
                <a:latin typeface="Cambria" pitchFamily="34" charset="0"/>
                <a:ea typeface="Cambria" pitchFamily="34" charset="-122"/>
                <a:cs typeface="Cambria" pitchFamily="34" charset="-120"/>
              </a:rPr>
              <a:t>$100M+</a:t>
            </a:r>
            <a:endParaRPr lang="en-US" sz="3000" dirty="0"/>
          </a:p>
        </p:txBody>
      </p:sp>
      <p:sp>
        <p:nvSpPr>
          <p:cNvPr id="18" name="Text 13"/>
          <p:cNvSpPr/>
          <p:nvPr/>
        </p:nvSpPr>
        <p:spPr>
          <a:xfrm>
            <a:off x="6236208" y="2880360"/>
            <a:ext cx="2240280" cy="457200"/>
          </a:xfrm>
          <a:prstGeom prst="rect">
            <a:avLst/>
          </a:prstGeom>
          <a:noFill/>
          <a:ln/>
        </p:spPr>
        <p:txBody>
          <a:bodyPr wrap="square" lIns="0" tIns="0" rIns="0" bIns="0" rtlCol="0" anchor="ctr"/>
          <a:lstStyle/>
          <a:p>
            <a:pPr indent="0" marL="0">
              <a:buNone/>
            </a:pPr>
            <a:r>
              <a:rPr lang="en-US" sz="1050" dirty="0">
                <a:solidFill>
                  <a:srgbClr val="5C6B5A"/>
                </a:solidFill>
                <a:latin typeface="Calibri" pitchFamily="34" charset="0"/>
                <a:ea typeface="Calibri" pitchFamily="34" charset="-122"/>
                <a:cs typeface="Calibri" pitchFamily="34" charset="-120"/>
              </a:rPr>
              <a:t>estimated cost of a single frontier training run</a:t>
            </a:r>
            <a:endParaRPr lang="en-US" sz="1050" dirty="0"/>
          </a:p>
        </p:txBody>
      </p:sp>
      <p:sp>
        <p:nvSpPr>
          <p:cNvPr id="19" name="Shape 14"/>
          <p:cNvSpPr/>
          <p:nvPr/>
        </p:nvSpPr>
        <p:spPr>
          <a:xfrm>
            <a:off x="548640" y="3703320"/>
            <a:ext cx="8046720" cy="1051560"/>
          </a:xfrm>
          <a:prstGeom prst="roundRect">
            <a:avLst>
              <a:gd name="adj" fmla="val 6087"/>
            </a:avLst>
          </a:prstGeom>
          <a:solidFill>
            <a:srgbClr val="F0F5EC"/>
          </a:solidFill>
          <a:ln w="12700">
            <a:solidFill>
              <a:srgbClr val="DFE9D8"/>
            </a:solidFill>
            <a:prstDash val="solid"/>
          </a:ln>
        </p:spPr>
      </p:sp>
      <p:sp>
        <p:nvSpPr>
          <p:cNvPr id="20" name="Shape 15"/>
          <p:cNvSpPr/>
          <p:nvPr/>
        </p:nvSpPr>
        <p:spPr>
          <a:xfrm>
            <a:off x="777240" y="3886200"/>
            <a:ext cx="402336" cy="402336"/>
          </a:xfrm>
          <a:prstGeom prst="ellipse">
            <a:avLst/>
          </a:prstGeom>
          <a:solidFill>
            <a:srgbClr val="FFFFFF"/>
          </a:solidFill>
          <a:ln/>
        </p:spPr>
      </p:sp>
      <p:pic>
        <p:nvPicPr>
          <p:cNvPr id="21" name="Image 3" descr="preencoded.png">    </p:cNvPr>
          <p:cNvPicPr>
            <a:picLocks noChangeAspect="1"/>
          </p:cNvPicPr>
          <p:nvPr/>
        </p:nvPicPr>
        <p:blipFill>
          <a:blip r:embed="rId4"/>
          <a:stretch>
            <a:fillRect/>
          </a:stretch>
        </p:blipFill>
        <p:spPr>
          <a:xfrm>
            <a:off x="881847" y="3990807"/>
            <a:ext cx="193121" cy="193121"/>
          </a:xfrm>
          <a:prstGeom prst="rect">
            <a:avLst/>
          </a:prstGeom>
        </p:spPr>
      </p:pic>
      <p:sp>
        <p:nvSpPr>
          <p:cNvPr id="22" name="Text 16"/>
          <p:cNvSpPr/>
          <p:nvPr/>
        </p:nvSpPr>
        <p:spPr>
          <a:xfrm>
            <a:off x="1325880" y="3840480"/>
            <a:ext cx="7040880" cy="777240"/>
          </a:xfrm>
          <a:prstGeom prst="rect">
            <a:avLst/>
          </a:prstGeom>
          <a:noFill/>
          <a:ln/>
        </p:spPr>
        <p:txBody>
          <a:bodyPr wrap="square" lIns="0" tIns="0" rIns="0" bIns="0" rtlCol="0" anchor="ctr"/>
          <a:lstStyle/>
          <a:p>
            <a:pPr indent="0" marL="0">
              <a:buNone/>
            </a:pPr>
            <a:r>
              <a:rPr lang="en-US" sz="1150" b="1" dirty="0">
                <a:solidFill>
                  <a:srgbClr val="1F2A20"/>
                </a:solidFill>
                <a:latin typeface="Calibri" pitchFamily="34" charset="0"/>
                <a:ea typeface="Calibri" pitchFamily="34" charset="-122"/>
                <a:cs typeface="Calibri" pitchFamily="34" charset="-120"/>
              </a:rPr>
              <a:t>The efficiency race is on. </a:t>
            </a:r>
            <a:pPr indent="0" marL="0">
              <a:buNone/>
            </a:pPr>
            <a:r>
              <a:rPr lang="en-US" sz="1150" dirty="0">
                <a:solidFill>
                  <a:srgbClr val="5C6B5A"/>
                </a:solidFill>
                <a:latin typeface="Calibri" pitchFamily="34" charset="0"/>
                <a:ea typeface="Calibri" pitchFamily="34" charset="-122"/>
                <a:cs typeface="Calibri" pitchFamily="34" charset="-120"/>
              </a:rPr>
              <a:t>In 2026, open models like DeepSeek V4 match top-tier performance at roughly one tenth the serving cost per token, proof that clever engineering can beat raw spending.</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MODULE 3 · WHY CHATBOTS FEEL HUMAN</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2800" b="1" dirty="0">
                <a:solidFill>
                  <a:srgbClr val="1F2A20"/>
                </a:solidFill>
                <a:latin typeface="Cambria" pitchFamily="34" charset="0"/>
                <a:ea typeface="Cambria" pitchFamily="34" charset="-122"/>
                <a:cs typeface="Cambria" pitchFamily="34" charset="-120"/>
              </a:rPr>
              <a:t>Same brain, before and after finishing school</a:t>
            </a:r>
            <a:endParaRPr lang="en-US" sz="2800" dirty="0"/>
          </a:p>
        </p:txBody>
      </p:sp>
      <p:sp>
        <p:nvSpPr>
          <p:cNvPr id="4" name="Shape 2"/>
          <p:cNvSpPr/>
          <p:nvPr/>
        </p:nvSpPr>
        <p:spPr>
          <a:xfrm>
            <a:off x="548640" y="1554480"/>
            <a:ext cx="3886200" cy="2743200"/>
          </a:xfrm>
          <a:prstGeom prst="roundRect">
            <a:avLst>
              <a:gd name="adj" fmla="val 2333"/>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5" name="Text 3"/>
          <p:cNvSpPr/>
          <p:nvPr/>
        </p:nvSpPr>
        <p:spPr>
          <a:xfrm>
            <a:off x="822960" y="1737360"/>
            <a:ext cx="3291840" cy="274320"/>
          </a:xfrm>
          <a:prstGeom prst="rect">
            <a:avLst/>
          </a:prstGeom>
          <a:noFill/>
          <a:ln/>
        </p:spPr>
        <p:txBody>
          <a:bodyPr wrap="square" lIns="0" tIns="0" rIns="0" bIns="0" rtlCol="0" anchor="ctr"/>
          <a:lstStyle/>
          <a:p>
            <a:pPr indent="0" marL="0">
              <a:buNone/>
            </a:pPr>
            <a:r>
              <a:rPr lang="en-US" sz="1100" b="1" spc="200" kern="0" dirty="0">
                <a:solidFill>
                  <a:srgbClr val="5C6B5A"/>
                </a:solidFill>
                <a:latin typeface="Calibri" pitchFamily="34" charset="0"/>
                <a:ea typeface="Calibri" pitchFamily="34" charset="-122"/>
                <a:cs typeface="Calibri" pitchFamily="34" charset="-120"/>
              </a:rPr>
              <a:t>BASE MODEL</a:t>
            </a:r>
            <a:endParaRPr lang="en-US" sz="1100" dirty="0"/>
          </a:p>
        </p:txBody>
      </p:sp>
      <p:sp>
        <p:nvSpPr>
          <p:cNvPr id="6" name="Text 4"/>
          <p:cNvSpPr/>
          <p:nvPr/>
        </p:nvSpPr>
        <p:spPr>
          <a:xfrm>
            <a:off x="822960" y="2057400"/>
            <a:ext cx="3291840" cy="502920"/>
          </a:xfrm>
          <a:prstGeom prst="rect">
            <a:avLst/>
          </a:prstGeom>
          <a:noFill/>
          <a:ln/>
        </p:spPr>
        <p:txBody>
          <a:bodyPr wrap="square" lIns="0" tIns="0" rIns="0" bIns="0" rtlCol="0" anchor="ctr"/>
          <a:lstStyle/>
          <a:p>
            <a:pPr indent="0" marL="0">
              <a:buNone/>
            </a:pPr>
            <a:r>
              <a:rPr lang="en-US" sz="1250" b="1" dirty="0">
                <a:solidFill>
                  <a:srgbClr val="1F2A20"/>
                </a:solidFill>
                <a:latin typeface="Calibri" pitchFamily="34" charset="0"/>
                <a:ea typeface="Calibri" pitchFamily="34" charset="-122"/>
                <a:cs typeface="Calibri" pitchFamily="34" charset="-120"/>
              </a:rPr>
              <a:t>A brilliant autocomplete with no manners.</a:t>
            </a:r>
            <a:endParaRPr lang="en-US" sz="1250" dirty="0"/>
          </a:p>
        </p:txBody>
      </p:sp>
      <p:sp>
        <p:nvSpPr>
          <p:cNvPr id="7" name="Text 5"/>
          <p:cNvSpPr/>
          <p:nvPr/>
        </p:nvSpPr>
        <p:spPr>
          <a:xfrm>
            <a:off x="822960" y="2651760"/>
            <a:ext cx="3291840" cy="822960"/>
          </a:xfrm>
          <a:prstGeom prst="rect">
            <a:avLst/>
          </a:prstGeom>
          <a:noFill/>
          <a:ln/>
        </p:spPr>
        <p:txBody>
          <a:bodyPr wrap="square" lIns="0" tIns="0" rIns="0" bIns="0" rtlCol="0" anchor="ctr"/>
          <a:lstStyle/>
          <a:p>
            <a:pPr indent="0" marL="0">
              <a:buNone/>
            </a:pPr>
            <a:r>
              <a:rPr lang="en-US" sz="1050" i="1" dirty="0">
                <a:solidFill>
                  <a:srgbClr val="5C6B5A"/>
                </a:solidFill>
                <a:latin typeface="Courier New" pitchFamily="34" charset="0"/>
                <a:ea typeface="Courier New" pitchFamily="34" charset="-122"/>
                <a:cs typeface="Courier New" pitchFamily="34" charset="-120"/>
              </a:rPr>
              <a:t>You: How do I bake bread?</a:t>
            </a:r>
            <a:endParaRPr lang="en-US" sz="1050" dirty="0"/>
          </a:p>
          <a:p>
            <a:pPr indent="0" marL="0">
              <a:buNone/>
            </a:pPr>
            <a:r>
              <a:rPr lang="en-US" sz="1050" i="1" dirty="0">
                <a:solidFill>
                  <a:srgbClr val="5C6B5A"/>
                </a:solidFill>
                <a:latin typeface="Courier New" pitchFamily="34" charset="0"/>
                <a:ea typeface="Courier New" pitchFamily="34" charset="-122"/>
                <a:cs typeface="Courier New" pitchFamily="34" charset="-120"/>
              </a:rPr>
              <a:t>Base model: asked Jim, who had baked for years...</a:t>
            </a:r>
            <a:endParaRPr lang="en-US" sz="1050" dirty="0"/>
          </a:p>
        </p:txBody>
      </p:sp>
      <p:sp>
        <p:nvSpPr>
          <p:cNvPr id="8" name="Text 6"/>
          <p:cNvSpPr/>
          <p:nvPr/>
        </p:nvSpPr>
        <p:spPr>
          <a:xfrm>
            <a:off x="822960" y="3657600"/>
            <a:ext cx="3291840" cy="502920"/>
          </a:xfrm>
          <a:prstGeom prst="rect">
            <a:avLst/>
          </a:prstGeom>
          <a:noFill/>
          <a:ln/>
        </p:spPr>
        <p:txBody>
          <a:bodyPr wrap="square" lIns="0" tIns="0" rIns="0" bIns="0" rtlCol="0" anchor="ctr"/>
          <a:lstStyle/>
          <a:p>
            <a:pPr indent="0" marL="0">
              <a:buNone/>
            </a:pPr>
            <a:r>
              <a:rPr lang="en-US" sz="1050" dirty="0">
                <a:solidFill>
                  <a:srgbClr val="5C6B5A"/>
                </a:solidFill>
                <a:latin typeface="Calibri" pitchFamily="34" charset="0"/>
                <a:ea typeface="Calibri" pitchFamily="34" charset="-122"/>
                <a:cs typeface="Calibri" pitchFamily="34" charset="-120"/>
              </a:rPr>
              <a:t>It just continues the text. It was never taught to answer.</a:t>
            </a:r>
            <a:endParaRPr lang="en-US" sz="1050" dirty="0"/>
          </a:p>
        </p:txBody>
      </p:sp>
      <p:sp>
        <p:nvSpPr>
          <p:cNvPr id="9" name="Shape 7"/>
          <p:cNvSpPr/>
          <p:nvPr/>
        </p:nvSpPr>
        <p:spPr>
          <a:xfrm>
            <a:off x="4709160" y="1554480"/>
            <a:ext cx="3886200" cy="2743200"/>
          </a:xfrm>
          <a:prstGeom prst="roundRect">
            <a:avLst>
              <a:gd name="adj" fmla="val 2333"/>
            </a:avLst>
          </a:prstGeom>
          <a:solidFill>
            <a:srgbClr val="F0F5EC"/>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10" name="Text 8"/>
          <p:cNvSpPr/>
          <p:nvPr/>
        </p:nvSpPr>
        <p:spPr>
          <a:xfrm>
            <a:off x="4983480" y="1737360"/>
            <a:ext cx="3383280" cy="274320"/>
          </a:xfrm>
          <a:prstGeom prst="rect">
            <a:avLst/>
          </a:prstGeom>
          <a:noFill/>
          <a:ln/>
        </p:spPr>
        <p:txBody>
          <a:bodyPr wrap="square" lIns="0" tIns="0" rIns="0" bIns="0" rtlCol="0" anchor="ctr"/>
          <a:lstStyle/>
          <a:p>
            <a:pPr indent="0" marL="0">
              <a:buNone/>
            </a:pPr>
            <a:r>
              <a:rPr lang="en-US" sz="1100" b="1" spc="200" kern="0" dirty="0">
                <a:solidFill>
                  <a:srgbClr val="2C5F2D"/>
                </a:solidFill>
                <a:latin typeface="Calibri" pitchFamily="34" charset="0"/>
                <a:ea typeface="Calibri" pitchFamily="34" charset="-122"/>
                <a:cs typeface="Calibri" pitchFamily="34" charset="-120"/>
              </a:rPr>
              <a:t>AFTER FINE-TUNING + FEEDBACK</a:t>
            </a:r>
            <a:endParaRPr lang="en-US" sz="1100" dirty="0"/>
          </a:p>
        </p:txBody>
      </p:sp>
      <p:sp>
        <p:nvSpPr>
          <p:cNvPr id="11" name="Text 9"/>
          <p:cNvSpPr/>
          <p:nvPr/>
        </p:nvSpPr>
        <p:spPr>
          <a:xfrm>
            <a:off x="4983480" y="2057400"/>
            <a:ext cx="3291840" cy="320040"/>
          </a:xfrm>
          <a:prstGeom prst="rect">
            <a:avLst/>
          </a:prstGeom>
          <a:noFill/>
          <a:ln/>
        </p:spPr>
        <p:txBody>
          <a:bodyPr wrap="square" lIns="0" tIns="0" rIns="0" bIns="0" rtlCol="0" anchor="ctr"/>
          <a:lstStyle/>
          <a:p>
            <a:pPr indent="0" marL="0">
              <a:buNone/>
            </a:pPr>
            <a:r>
              <a:rPr lang="en-US" sz="1250" b="1" dirty="0">
                <a:solidFill>
                  <a:srgbClr val="1F2A20"/>
                </a:solidFill>
                <a:latin typeface="Calibri" pitchFamily="34" charset="0"/>
                <a:ea typeface="Calibri" pitchFamily="34" charset="-122"/>
                <a:cs typeface="Calibri" pitchFamily="34" charset="-120"/>
              </a:rPr>
              <a:t>A helpful assistant.</a:t>
            </a:r>
            <a:endParaRPr lang="en-US" sz="1250" dirty="0"/>
          </a:p>
        </p:txBody>
      </p:sp>
      <p:sp>
        <p:nvSpPr>
          <p:cNvPr id="12" name="Shape 10"/>
          <p:cNvSpPr/>
          <p:nvPr/>
        </p:nvSpPr>
        <p:spPr>
          <a:xfrm>
            <a:off x="4983480" y="2514600"/>
            <a:ext cx="310896" cy="310896"/>
          </a:xfrm>
          <a:prstGeom prst="ellipse">
            <a:avLst/>
          </a:prstGeom>
          <a:solidFill>
            <a:srgbClr val="FFFFFF"/>
          </a:solidFill>
          <a:ln/>
        </p:spPr>
      </p:sp>
      <p:pic>
        <p:nvPicPr>
          <p:cNvPr id="13" name="Image 0" descr="preencoded.png">    </p:cNvPr>
          <p:cNvPicPr>
            <a:picLocks noChangeAspect="1"/>
          </p:cNvPicPr>
          <p:nvPr/>
        </p:nvPicPr>
        <p:blipFill>
          <a:blip r:embed="rId1"/>
          <a:stretch>
            <a:fillRect/>
          </a:stretch>
        </p:blipFill>
        <p:spPr>
          <a:xfrm>
            <a:off x="5064313" y="2595433"/>
            <a:ext cx="149230" cy="149230"/>
          </a:xfrm>
          <a:prstGeom prst="rect">
            <a:avLst/>
          </a:prstGeom>
        </p:spPr>
      </p:pic>
      <p:sp>
        <p:nvSpPr>
          <p:cNvPr id="14" name="Text 11"/>
          <p:cNvSpPr/>
          <p:nvPr/>
        </p:nvSpPr>
        <p:spPr>
          <a:xfrm>
            <a:off x="5413248" y="2514600"/>
            <a:ext cx="3017520" cy="411480"/>
          </a:xfrm>
          <a:prstGeom prst="rect">
            <a:avLst/>
          </a:prstGeom>
          <a:noFill/>
          <a:ln/>
        </p:spPr>
        <p:txBody>
          <a:bodyPr wrap="square" lIns="0" tIns="0" rIns="0" bIns="0" rtlCol="0" anchor="ctr"/>
          <a:lstStyle/>
          <a:p>
            <a:pPr indent="0" marL="0">
              <a:buNone/>
            </a:pPr>
            <a:r>
              <a:rPr lang="en-US" sz="1150" dirty="0">
                <a:solidFill>
                  <a:srgbClr val="1F2A20"/>
                </a:solidFill>
                <a:latin typeface="Calibri" pitchFamily="34" charset="0"/>
                <a:ea typeface="Calibri" pitchFamily="34" charset="-122"/>
                <a:cs typeface="Calibri" pitchFamily="34" charset="-120"/>
              </a:rPr>
              <a:t>Answers the actual question, step by step</a:t>
            </a:r>
            <a:endParaRPr lang="en-US" sz="1150" dirty="0"/>
          </a:p>
        </p:txBody>
      </p:sp>
      <p:sp>
        <p:nvSpPr>
          <p:cNvPr id="15" name="Shape 12"/>
          <p:cNvSpPr/>
          <p:nvPr/>
        </p:nvSpPr>
        <p:spPr>
          <a:xfrm>
            <a:off x="4983480" y="3017520"/>
            <a:ext cx="310896" cy="310896"/>
          </a:xfrm>
          <a:prstGeom prst="ellipse">
            <a:avLst/>
          </a:prstGeom>
          <a:solidFill>
            <a:srgbClr val="FFFFFF"/>
          </a:solidFill>
          <a:ln/>
        </p:spPr>
      </p:sp>
      <p:pic>
        <p:nvPicPr>
          <p:cNvPr id="16" name="Image 1" descr="preencoded.png">    </p:cNvPr>
          <p:cNvPicPr>
            <a:picLocks noChangeAspect="1"/>
          </p:cNvPicPr>
          <p:nvPr/>
        </p:nvPicPr>
        <p:blipFill>
          <a:blip r:embed="rId2"/>
          <a:stretch>
            <a:fillRect/>
          </a:stretch>
        </p:blipFill>
        <p:spPr>
          <a:xfrm>
            <a:off x="5064313" y="3098353"/>
            <a:ext cx="149230" cy="149230"/>
          </a:xfrm>
          <a:prstGeom prst="rect">
            <a:avLst/>
          </a:prstGeom>
        </p:spPr>
      </p:pic>
      <p:sp>
        <p:nvSpPr>
          <p:cNvPr id="17" name="Text 13"/>
          <p:cNvSpPr/>
          <p:nvPr/>
        </p:nvSpPr>
        <p:spPr>
          <a:xfrm>
            <a:off x="5413248" y="3017520"/>
            <a:ext cx="3017520" cy="411480"/>
          </a:xfrm>
          <a:prstGeom prst="rect">
            <a:avLst/>
          </a:prstGeom>
          <a:noFill/>
          <a:ln/>
        </p:spPr>
        <p:txBody>
          <a:bodyPr wrap="square" lIns="0" tIns="0" rIns="0" bIns="0" rtlCol="0" anchor="ctr"/>
          <a:lstStyle/>
          <a:p>
            <a:pPr indent="0" marL="0">
              <a:buNone/>
            </a:pPr>
            <a:r>
              <a:rPr lang="en-US" sz="1150" dirty="0">
                <a:solidFill>
                  <a:srgbClr val="1F2A20"/>
                </a:solidFill>
                <a:latin typeface="Calibri" pitchFamily="34" charset="0"/>
                <a:ea typeface="Calibri" pitchFamily="34" charset="-122"/>
                <a:cs typeface="Calibri" pitchFamily="34" charset="-120"/>
              </a:rPr>
              <a:t>Declines harmful requests</a:t>
            </a:r>
            <a:endParaRPr lang="en-US" sz="1150" dirty="0"/>
          </a:p>
        </p:txBody>
      </p:sp>
      <p:sp>
        <p:nvSpPr>
          <p:cNvPr id="18" name="Shape 14"/>
          <p:cNvSpPr/>
          <p:nvPr/>
        </p:nvSpPr>
        <p:spPr>
          <a:xfrm>
            <a:off x="4983480" y="3520440"/>
            <a:ext cx="310896" cy="310896"/>
          </a:xfrm>
          <a:prstGeom prst="ellipse">
            <a:avLst/>
          </a:prstGeom>
          <a:solidFill>
            <a:srgbClr val="FFFFFF"/>
          </a:solidFill>
          <a:ln/>
        </p:spPr>
      </p:sp>
      <p:pic>
        <p:nvPicPr>
          <p:cNvPr id="19" name="Image 2" descr="preencoded.png">    </p:cNvPr>
          <p:cNvPicPr>
            <a:picLocks noChangeAspect="1"/>
          </p:cNvPicPr>
          <p:nvPr/>
        </p:nvPicPr>
        <p:blipFill>
          <a:blip r:embed="rId3"/>
          <a:stretch>
            <a:fillRect/>
          </a:stretch>
        </p:blipFill>
        <p:spPr>
          <a:xfrm>
            <a:off x="5064313" y="3601273"/>
            <a:ext cx="149230" cy="149230"/>
          </a:xfrm>
          <a:prstGeom prst="rect">
            <a:avLst/>
          </a:prstGeom>
        </p:spPr>
      </p:pic>
      <p:sp>
        <p:nvSpPr>
          <p:cNvPr id="20" name="Text 15"/>
          <p:cNvSpPr/>
          <p:nvPr/>
        </p:nvSpPr>
        <p:spPr>
          <a:xfrm>
            <a:off x="5413248" y="3520440"/>
            <a:ext cx="3017520" cy="411480"/>
          </a:xfrm>
          <a:prstGeom prst="rect">
            <a:avLst/>
          </a:prstGeom>
          <a:noFill/>
          <a:ln/>
        </p:spPr>
        <p:txBody>
          <a:bodyPr wrap="square" lIns="0" tIns="0" rIns="0" bIns="0" rtlCol="0" anchor="ctr"/>
          <a:lstStyle/>
          <a:p>
            <a:pPr indent="0" marL="0">
              <a:buNone/>
            </a:pPr>
            <a:r>
              <a:rPr lang="en-US" sz="1150" dirty="0">
                <a:solidFill>
                  <a:srgbClr val="1F2A20"/>
                </a:solidFill>
                <a:latin typeface="Calibri" pitchFamily="34" charset="0"/>
                <a:ea typeface="Calibri" pitchFamily="34" charset="-122"/>
                <a:cs typeface="Calibri" pitchFamily="34" charset="-120"/>
              </a:rPr>
              <a:t>Admits uncertainty instead of bluffing</a:t>
            </a:r>
            <a:endParaRPr lang="en-US" sz="1150" dirty="0"/>
          </a:p>
        </p:txBody>
      </p:sp>
      <p:sp>
        <p:nvSpPr>
          <p:cNvPr id="21" name="Text 16"/>
          <p:cNvSpPr/>
          <p:nvPr/>
        </p:nvSpPr>
        <p:spPr>
          <a:xfrm>
            <a:off x="4983480" y="4023360"/>
            <a:ext cx="3291840" cy="320040"/>
          </a:xfrm>
          <a:prstGeom prst="rect">
            <a:avLst/>
          </a:prstGeom>
          <a:noFill/>
          <a:ln/>
        </p:spPr>
        <p:txBody>
          <a:bodyPr wrap="square" lIns="0" tIns="0" rIns="0" bIns="0" rtlCol="0" anchor="ctr"/>
          <a:lstStyle/>
          <a:p>
            <a:pPr indent="0" marL="0">
              <a:buNone/>
            </a:pPr>
            <a:r>
              <a:rPr lang="en-US" sz="1050" i="1" dirty="0">
                <a:solidFill>
                  <a:srgbClr val="2C5F2D"/>
                </a:solidFill>
                <a:latin typeface="Calibri" pitchFamily="34" charset="0"/>
                <a:ea typeface="Calibri" pitchFamily="34" charset="-122"/>
                <a:cs typeface="Calibri" pitchFamily="34" charset="-120"/>
              </a:rPr>
              <a:t>This stage is why talking to AI feels natural.</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MODULE 3 · THE CATCH</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3100" b="1" dirty="0">
                <a:solidFill>
                  <a:srgbClr val="1F2A20"/>
                </a:solidFill>
                <a:latin typeface="Cambria" pitchFamily="34" charset="0"/>
                <a:ea typeface="Cambria" pitchFamily="34" charset="-122"/>
                <a:cs typeface="Cambria" pitchFamily="34" charset="-120"/>
              </a:rPr>
              <a:t>Why AI confidently makes things up</a:t>
            </a:r>
            <a:endParaRPr lang="en-US" sz="3100" dirty="0"/>
          </a:p>
        </p:txBody>
      </p:sp>
      <p:sp>
        <p:nvSpPr>
          <p:cNvPr id="4" name="Shape 2"/>
          <p:cNvSpPr/>
          <p:nvPr/>
        </p:nvSpPr>
        <p:spPr>
          <a:xfrm>
            <a:off x="548640" y="1554480"/>
            <a:ext cx="420624" cy="420624"/>
          </a:xfrm>
          <a:prstGeom prst="ellipse">
            <a:avLst/>
          </a:prstGeom>
          <a:solidFill>
            <a:srgbClr val="F0F5EC"/>
          </a:solidFill>
          <a:ln/>
        </p:spPr>
      </p:sp>
      <p:pic>
        <p:nvPicPr>
          <p:cNvPr id="5" name="Image 0" descr="preencoded.png">    </p:cNvPr>
          <p:cNvPicPr>
            <a:picLocks noChangeAspect="1"/>
          </p:cNvPicPr>
          <p:nvPr/>
        </p:nvPicPr>
        <p:blipFill>
          <a:blip r:embed="rId1"/>
          <a:stretch>
            <a:fillRect/>
          </a:stretch>
        </p:blipFill>
        <p:spPr>
          <a:xfrm>
            <a:off x="658002" y="1663842"/>
            <a:ext cx="201900" cy="201900"/>
          </a:xfrm>
          <a:prstGeom prst="rect">
            <a:avLst/>
          </a:prstGeom>
        </p:spPr>
      </p:pic>
      <p:sp>
        <p:nvSpPr>
          <p:cNvPr id="6" name="Text 3"/>
          <p:cNvSpPr/>
          <p:nvPr/>
        </p:nvSpPr>
        <p:spPr>
          <a:xfrm>
            <a:off x="1115568" y="1481328"/>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It always answers with the most plausible words</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Plausible is not the same as true. There is no built-in fact checker.</a:t>
            </a:r>
            <a:endParaRPr lang="en-US" sz="1350" dirty="0"/>
          </a:p>
        </p:txBody>
      </p:sp>
      <p:sp>
        <p:nvSpPr>
          <p:cNvPr id="7" name="Shape 4"/>
          <p:cNvSpPr/>
          <p:nvPr/>
        </p:nvSpPr>
        <p:spPr>
          <a:xfrm>
            <a:off x="548640" y="2340864"/>
            <a:ext cx="420624" cy="420624"/>
          </a:xfrm>
          <a:prstGeom prst="ellipse">
            <a:avLst/>
          </a:prstGeom>
          <a:solidFill>
            <a:srgbClr val="F0F5EC"/>
          </a:solidFill>
          <a:ln/>
        </p:spPr>
      </p:sp>
      <p:pic>
        <p:nvPicPr>
          <p:cNvPr id="8" name="Image 1" descr="preencoded.png">    </p:cNvPr>
          <p:cNvPicPr>
            <a:picLocks noChangeAspect="1"/>
          </p:cNvPicPr>
          <p:nvPr/>
        </p:nvPicPr>
        <p:blipFill>
          <a:blip r:embed="rId2"/>
          <a:stretch>
            <a:fillRect/>
          </a:stretch>
        </p:blipFill>
        <p:spPr>
          <a:xfrm>
            <a:off x="658002" y="2450226"/>
            <a:ext cx="201900" cy="201900"/>
          </a:xfrm>
          <a:prstGeom prst="rect">
            <a:avLst/>
          </a:prstGeom>
        </p:spPr>
      </p:pic>
      <p:sp>
        <p:nvSpPr>
          <p:cNvPr id="9" name="Text 5"/>
          <p:cNvSpPr/>
          <p:nvPr/>
        </p:nvSpPr>
        <p:spPr>
          <a:xfrm>
            <a:off x="1115568" y="2267712"/>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Gaps get filled smoothly</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Ask about something it does not know and it may invent names, dates, citations, or numbers that merely sound right.</a:t>
            </a:r>
            <a:endParaRPr lang="en-US" sz="1350" dirty="0"/>
          </a:p>
        </p:txBody>
      </p:sp>
      <p:sp>
        <p:nvSpPr>
          <p:cNvPr id="10" name="Shape 6"/>
          <p:cNvSpPr/>
          <p:nvPr/>
        </p:nvSpPr>
        <p:spPr>
          <a:xfrm>
            <a:off x="548640" y="3127248"/>
            <a:ext cx="420624" cy="420624"/>
          </a:xfrm>
          <a:prstGeom prst="ellipse">
            <a:avLst/>
          </a:prstGeom>
          <a:solidFill>
            <a:srgbClr val="F0F5EC"/>
          </a:solidFill>
          <a:ln/>
        </p:spPr>
      </p:sp>
      <p:pic>
        <p:nvPicPr>
          <p:cNvPr id="11" name="Image 2" descr="preencoded.png">    </p:cNvPr>
          <p:cNvPicPr>
            <a:picLocks noChangeAspect="1"/>
          </p:cNvPicPr>
          <p:nvPr/>
        </p:nvPicPr>
        <p:blipFill>
          <a:blip r:embed="rId3"/>
          <a:stretch>
            <a:fillRect/>
          </a:stretch>
        </p:blipFill>
        <p:spPr>
          <a:xfrm>
            <a:off x="658002" y="3236610"/>
            <a:ext cx="201900" cy="201900"/>
          </a:xfrm>
          <a:prstGeom prst="rect">
            <a:avLst/>
          </a:prstGeom>
        </p:spPr>
      </p:pic>
      <p:sp>
        <p:nvSpPr>
          <p:cNvPr id="12" name="Text 7"/>
          <p:cNvSpPr/>
          <p:nvPr/>
        </p:nvSpPr>
        <p:spPr>
          <a:xfrm>
            <a:off x="1115568" y="3054096"/>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Modern tools fight back</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Web search, citations, and reasoning modes reduce hallucinations. They do not eliminate them.</a:t>
            </a:r>
            <a:endParaRPr lang="en-US" sz="1350" dirty="0"/>
          </a:p>
        </p:txBody>
      </p:sp>
      <p:sp>
        <p:nvSpPr>
          <p:cNvPr id="13" name="Shape 8"/>
          <p:cNvSpPr/>
          <p:nvPr/>
        </p:nvSpPr>
        <p:spPr>
          <a:xfrm>
            <a:off x="548640" y="3977640"/>
            <a:ext cx="8046720" cy="777240"/>
          </a:xfrm>
          <a:prstGeom prst="roundRect">
            <a:avLst>
              <a:gd name="adj" fmla="val 8235"/>
            </a:avLst>
          </a:prstGeom>
          <a:solidFill>
            <a:srgbClr val="FBF3E4"/>
          </a:solidFill>
          <a:ln w="12700">
            <a:solidFill>
              <a:srgbClr val="DFE9D8"/>
            </a:solidFill>
            <a:prstDash val="solid"/>
          </a:ln>
        </p:spPr>
      </p:sp>
      <p:sp>
        <p:nvSpPr>
          <p:cNvPr id="14" name="Shape 9"/>
          <p:cNvSpPr/>
          <p:nvPr/>
        </p:nvSpPr>
        <p:spPr>
          <a:xfrm>
            <a:off x="777240" y="4114800"/>
            <a:ext cx="457200" cy="457200"/>
          </a:xfrm>
          <a:prstGeom prst="ellipse">
            <a:avLst/>
          </a:prstGeom>
          <a:solidFill>
            <a:srgbClr val="FFFFFF"/>
          </a:solidFill>
          <a:ln/>
        </p:spPr>
      </p:sp>
      <p:pic>
        <p:nvPicPr>
          <p:cNvPr id="15" name="Image 3" descr="preencoded.png">    </p:cNvPr>
          <p:cNvPicPr>
            <a:picLocks noChangeAspect="1"/>
          </p:cNvPicPr>
          <p:nvPr/>
        </p:nvPicPr>
        <p:blipFill>
          <a:blip r:embed="rId4"/>
          <a:stretch>
            <a:fillRect/>
          </a:stretch>
        </p:blipFill>
        <p:spPr>
          <a:xfrm>
            <a:off x="896112" y="4233672"/>
            <a:ext cx="219456" cy="219456"/>
          </a:xfrm>
          <a:prstGeom prst="rect">
            <a:avLst/>
          </a:prstGeom>
        </p:spPr>
      </p:pic>
      <p:sp>
        <p:nvSpPr>
          <p:cNvPr id="16" name="Text 10"/>
          <p:cNvSpPr/>
          <p:nvPr/>
        </p:nvSpPr>
        <p:spPr>
          <a:xfrm>
            <a:off x="1371600" y="4187952"/>
            <a:ext cx="6949440" cy="411480"/>
          </a:xfrm>
          <a:prstGeom prst="rect">
            <a:avLst/>
          </a:prstGeom>
          <a:noFill/>
          <a:ln/>
        </p:spPr>
        <p:txBody>
          <a:bodyPr wrap="square" lIns="0" tIns="0" rIns="0" bIns="0" rtlCol="0" anchor="ctr"/>
          <a:lstStyle/>
          <a:p>
            <a:pPr indent="0" marL="0">
              <a:buNone/>
            </a:pPr>
            <a:r>
              <a:rPr lang="en-US" sz="1300" b="1" dirty="0">
                <a:solidFill>
                  <a:srgbClr val="1F2A20"/>
                </a:solidFill>
                <a:latin typeface="Calibri" pitchFamily="34" charset="0"/>
                <a:ea typeface="Calibri" pitchFamily="34" charset="-122"/>
                <a:cs typeface="Calibri" pitchFamily="34" charset="-120"/>
              </a:rPr>
              <a:t>The one rule to remember:  </a:t>
            </a:r>
            <a:pPr indent="0" marL="0">
              <a:buNone/>
            </a:pPr>
            <a:r>
              <a:rPr lang="en-US" sz="1300" dirty="0">
                <a:solidFill>
                  <a:srgbClr val="1F2A20"/>
                </a:solidFill>
                <a:latin typeface="Calibri" pitchFamily="34" charset="0"/>
                <a:ea typeface="Calibri" pitchFamily="34" charset="-122"/>
                <a:cs typeface="Calibri" pitchFamily="34" charset="-120"/>
              </a:rPr>
              <a:t>trust, but verify. Check every name, number, date, and citation before you rely on it.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F3D24"/>
        </a:solidFill>
      </p:bgPr>
    </p:bg>
    <p:spTree>
      <p:nvGrpSpPr>
        <p:cNvPr id="1" name=""/>
        <p:cNvGrpSpPr/>
        <p:nvPr/>
      </p:nvGrpSpPr>
      <p:grpSpPr>
        <a:xfrm>
          <a:off x="0" y="0"/>
          <a:ext cx="0" cy="0"/>
          <a:chOff x="0" y="0"/>
          <a:chExt cx="0" cy="0"/>
        </a:xfrm>
      </p:grpSpPr>
      <p:sp>
        <p:nvSpPr>
          <p:cNvPr id="2" name="Text 0"/>
          <p:cNvSpPr/>
          <p:nvPr/>
        </p:nvSpPr>
        <p:spPr>
          <a:xfrm>
            <a:off x="548640" y="1371600"/>
            <a:ext cx="8046720" cy="365760"/>
          </a:xfrm>
          <a:prstGeom prst="rect">
            <a:avLst/>
          </a:prstGeom>
          <a:noFill/>
          <a:ln/>
        </p:spPr>
        <p:txBody>
          <a:bodyPr wrap="square" lIns="0" tIns="0" rIns="0" bIns="0" rtlCol="0" anchor="ctr"/>
          <a:lstStyle/>
          <a:p>
            <a:pPr indent="0" marL="0">
              <a:buNone/>
            </a:pPr>
            <a:r>
              <a:rPr lang="en-US" sz="1400" b="1" spc="400" kern="0" dirty="0">
                <a:solidFill>
                  <a:srgbClr val="97BC62"/>
                </a:solidFill>
                <a:latin typeface="Calibri" pitchFamily="34" charset="0"/>
                <a:ea typeface="Calibri" pitchFamily="34" charset="-122"/>
                <a:cs typeface="Calibri" pitchFamily="34" charset="-120"/>
              </a:rPr>
              <a:t>MODULE 4</a:t>
            </a:r>
            <a:endParaRPr lang="en-US" sz="1400" dirty="0"/>
          </a:p>
        </p:txBody>
      </p:sp>
      <p:sp>
        <p:nvSpPr>
          <p:cNvPr id="3" name="Text 1"/>
          <p:cNvSpPr/>
          <p:nvPr/>
        </p:nvSpPr>
        <p:spPr>
          <a:xfrm>
            <a:off x="548640" y="1783080"/>
            <a:ext cx="804672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2026 model landscape</a:t>
            </a:r>
            <a:endParaRPr lang="en-US" sz="4000" dirty="0"/>
          </a:p>
        </p:txBody>
      </p:sp>
      <p:sp>
        <p:nvSpPr>
          <p:cNvPr id="4" name="Text 2"/>
          <p:cNvSpPr/>
          <p:nvPr/>
        </p:nvSpPr>
        <p:spPr>
          <a:xfrm>
            <a:off x="548640" y="2788920"/>
            <a:ext cx="6949440" cy="548640"/>
          </a:xfrm>
          <a:prstGeom prst="rect">
            <a:avLst/>
          </a:prstGeom>
          <a:noFill/>
          <a:ln/>
        </p:spPr>
        <p:txBody>
          <a:bodyPr wrap="square" lIns="0" tIns="0" rIns="0" bIns="0" rtlCol="0" anchor="ctr"/>
          <a:lstStyle/>
          <a:p>
            <a:pPr indent="0" marL="0">
              <a:buNone/>
            </a:pPr>
            <a:r>
              <a:rPr lang="en-US" sz="1700" i="1" dirty="0">
                <a:solidFill>
                  <a:srgbClr val="97BC62"/>
                </a:solidFill>
                <a:latin typeface="Cambria" pitchFamily="34" charset="0"/>
                <a:ea typeface="Cambria" pitchFamily="34" charset="-122"/>
                <a:cs typeface="Cambria" pitchFamily="34" charset="-120"/>
              </a:rPr>
              <a:t>A handful of labs, two philosophies.</a:t>
            </a:r>
            <a:endParaRPr lang="en-US" sz="1700" dirty="0"/>
          </a:p>
        </p:txBody>
      </p:sp>
      <p:sp>
        <p:nvSpPr>
          <p:cNvPr id="5" name="Shape 3"/>
          <p:cNvSpPr/>
          <p:nvPr/>
        </p:nvSpPr>
        <p:spPr>
          <a:xfrm>
            <a:off x="7772400" y="3913632"/>
            <a:ext cx="868680" cy="868680"/>
          </a:xfrm>
          <a:prstGeom prst="ellipse">
            <a:avLst/>
          </a:prstGeom>
          <a:solidFill>
            <a:srgbClr val="FFFFFF"/>
          </a:solidFill>
          <a:ln/>
        </p:spPr>
      </p:sp>
      <p:pic>
        <p:nvPicPr>
          <p:cNvPr id="6" name="Image 0" descr="/sessions/jolly-optimistic-euler/build/logo-mark.png">    </p:cNvPr>
          <p:cNvPicPr>
            <a:picLocks noChangeAspect="1"/>
          </p:cNvPicPr>
          <p:nvPr/>
        </p:nvPicPr>
        <p:blipFill>
          <a:blip r:embed="rId1"/>
          <a:stretch>
            <a:fillRect/>
          </a:stretch>
        </p:blipFill>
        <p:spPr>
          <a:xfrm>
            <a:off x="7827264" y="3968496"/>
            <a:ext cx="758952" cy="758952"/>
          </a:xfrm>
          <a:prstGeom prst="rect">
            <a:avLst/>
          </a:prstGeom>
        </p:spPr>
      </p:pic>
      <p:sp>
        <p:nvSpPr>
          <p:cNvPr id="7" name="Text 4"/>
          <p:cNvSpPr/>
          <p:nvPr/>
        </p:nvSpPr>
        <p:spPr>
          <a:xfrm>
            <a:off x="548640" y="4617720"/>
            <a:ext cx="4572000" cy="274320"/>
          </a:xfrm>
          <a:prstGeom prst="rect">
            <a:avLst/>
          </a:prstGeom>
          <a:noFill/>
          <a:ln/>
        </p:spPr>
        <p:txBody>
          <a:bodyPr wrap="square" lIns="0" tIns="0" rIns="0" bIns="0" rtlCol="0" anchor="ctr"/>
          <a:lstStyle/>
          <a:p>
            <a:pPr indent="0" marL="0">
              <a:buNone/>
            </a:pPr>
            <a:r>
              <a:rPr lang="en-US" sz="1000" dirty="0">
                <a:solidFill>
                  <a:srgbClr val="7FA06F"/>
                </a:solidFill>
                <a:latin typeface="Calibri" pitchFamily="34" charset="0"/>
                <a:ea typeface="Calibri" pitchFamily="34" charset="-122"/>
                <a:cs typeface="Calibri" pitchFamily="34" charset="-120"/>
              </a:rPr>
              <a:t>Cambium Academy · Course 01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MODULE 4 · THE BIG SPLIT</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3100" b="1" dirty="0">
                <a:solidFill>
                  <a:srgbClr val="1F2A20"/>
                </a:solidFill>
                <a:latin typeface="Cambria" pitchFamily="34" charset="0"/>
                <a:ea typeface="Cambria" pitchFamily="34" charset="-122"/>
                <a:cs typeface="Cambria" pitchFamily="34" charset="-120"/>
              </a:rPr>
              <a:t>Closed weights or open weights</a:t>
            </a:r>
            <a:endParaRPr lang="en-US" sz="3100" dirty="0"/>
          </a:p>
        </p:txBody>
      </p:sp>
      <p:sp>
        <p:nvSpPr>
          <p:cNvPr id="4" name="Shape 2"/>
          <p:cNvSpPr/>
          <p:nvPr/>
        </p:nvSpPr>
        <p:spPr>
          <a:xfrm>
            <a:off x="548640" y="1554480"/>
            <a:ext cx="3886200" cy="3017520"/>
          </a:xfrm>
          <a:prstGeom prst="roundRect">
            <a:avLst>
              <a:gd name="adj" fmla="val 2121"/>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5" name="Shape 3"/>
          <p:cNvSpPr/>
          <p:nvPr/>
        </p:nvSpPr>
        <p:spPr>
          <a:xfrm>
            <a:off x="822960" y="1783080"/>
            <a:ext cx="420624" cy="420624"/>
          </a:xfrm>
          <a:prstGeom prst="ellipse">
            <a:avLst/>
          </a:prstGeom>
          <a:solidFill>
            <a:srgbClr val="F0F5EC"/>
          </a:solidFill>
          <a:ln/>
        </p:spPr>
      </p:sp>
      <p:pic>
        <p:nvPicPr>
          <p:cNvPr id="6" name="Image 0" descr="preencoded.png">    </p:cNvPr>
          <p:cNvPicPr>
            <a:picLocks noChangeAspect="1"/>
          </p:cNvPicPr>
          <p:nvPr/>
        </p:nvPicPr>
        <p:blipFill>
          <a:blip r:embed="rId1"/>
          <a:stretch>
            <a:fillRect/>
          </a:stretch>
        </p:blipFill>
        <p:spPr>
          <a:xfrm>
            <a:off x="932322" y="1892442"/>
            <a:ext cx="201900" cy="201900"/>
          </a:xfrm>
          <a:prstGeom prst="rect">
            <a:avLst/>
          </a:prstGeom>
        </p:spPr>
      </p:pic>
      <p:sp>
        <p:nvSpPr>
          <p:cNvPr id="7" name="Text 4"/>
          <p:cNvSpPr/>
          <p:nvPr/>
        </p:nvSpPr>
        <p:spPr>
          <a:xfrm>
            <a:off x="1371600" y="1828800"/>
            <a:ext cx="2926080" cy="320040"/>
          </a:xfrm>
          <a:prstGeom prst="rect">
            <a:avLst/>
          </a:prstGeom>
          <a:noFill/>
          <a:ln/>
        </p:spPr>
        <p:txBody>
          <a:bodyPr wrap="square" lIns="0" tIns="0" rIns="0" bIns="0" rtlCol="0" anchor="ctr"/>
          <a:lstStyle/>
          <a:p>
            <a:pPr indent="0" marL="0">
              <a:buNone/>
            </a:pPr>
            <a:r>
              <a:rPr lang="en-US" sz="1500" b="1" dirty="0">
                <a:solidFill>
                  <a:srgbClr val="1F2A20"/>
                </a:solidFill>
                <a:latin typeface="Calibri" pitchFamily="34" charset="0"/>
                <a:ea typeface="Calibri" pitchFamily="34" charset="-122"/>
                <a:cs typeface="Calibri" pitchFamily="34" charset="-120"/>
              </a:rPr>
              <a:t>Closed weights</a:t>
            </a:r>
            <a:endParaRPr lang="en-US" sz="1500" dirty="0"/>
          </a:p>
        </p:txBody>
      </p:sp>
      <p:sp>
        <p:nvSpPr>
          <p:cNvPr id="8" name="Text 5"/>
          <p:cNvSpPr/>
          <p:nvPr/>
        </p:nvSpPr>
        <p:spPr>
          <a:xfrm>
            <a:off x="822960" y="2331720"/>
            <a:ext cx="3291840" cy="457200"/>
          </a:xfrm>
          <a:prstGeom prst="rect">
            <a:avLst/>
          </a:prstGeom>
          <a:noFill/>
          <a:ln/>
        </p:spPr>
        <p:txBody>
          <a:bodyPr wrap="square" lIns="0" tIns="0" rIns="0" bIns="0" rtlCol="0" anchor="ctr"/>
          <a:lstStyle/>
          <a:p>
            <a:pPr indent="0" marL="0">
              <a:buNone/>
            </a:pPr>
            <a:r>
              <a:rPr lang="en-US" sz="1150" dirty="0">
                <a:solidFill>
                  <a:srgbClr val="5C6B5A"/>
                </a:solidFill>
                <a:latin typeface="Calibri" pitchFamily="34" charset="0"/>
                <a:ea typeface="Calibri" pitchFamily="34" charset="-122"/>
                <a:cs typeface="Calibri" pitchFamily="34" charset="-120"/>
              </a:rPr>
              <a:t>You use the model as a service. The recipe stays secret.</a:t>
            </a:r>
            <a:endParaRPr lang="en-US" sz="1150" dirty="0"/>
          </a:p>
        </p:txBody>
      </p:sp>
      <p:sp>
        <p:nvSpPr>
          <p:cNvPr id="9" name="Text 6"/>
          <p:cNvSpPr/>
          <p:nvPr/>
        </p:nvSpPr>
        <p:spPr>
          <a:xfrm>
            <a:off x="822960" y="2880360"/>
            <a:ext cx="3291840" cy="1463040"/>
          </a:xfrm>
          <a:prstGeom prst="rect">
            <a:avLst/>
          </a:prstGeom>
          <a:noFill/>
          <a:ln/>
        </p:spPr>
        <p:txBody>
          <a:bodyPr wrap="square" lIns="0" tIns="0" rIns="0" bIns="0" rtlCol="0" anchor="ctr"/>
          <a:lstStyle/>
          <a:p>
            <a:pPr indent="0" marL="0">
              <a:buNone/>
            </a:pPr>
            <a:r>
              <a:rPr lang="en-US" sz="1150" b="1" dirty="0">
                <a:solidFill>
                  <a:srgbClr val="2C5F2D"/>
                </a:solidFill>
                <a:latin typeface="Calibri" pitchFamily="34" charset="0"/>
                <a:ea typeface="Calibri" pitchFamily="34" charset="-122"/>
                <a:cs typeface="Calibri" pitchFamily="34" charset="-120"/>
              </a:rPr>
              <a:t>GPT, Claude, Gemini, Grok</a:t>
            </a:r>
            <a:endParaRPr lang="en-US" sz="1150" dirty="0"/>
          </a:p>
          <a:p>
            <a:pPr indent="0" marL="0">
              <a:buNone/>
            </a:pPr>
            <a:r>
              <a:rPr lang="en-US" sz="1100" dirty="0">
                <a:solidFill>
                  <a:srgbClr val="5C6B5A"/>
                </a:solidFill>
                <a:latin typeface="Calibri" pitchFamily="34" charset="0"/>
                <a:ea typeface="Calibri" pitchFamily="34" charset="-122"/>
                <a:cs typeface="Calibri" pitchFamily="34" charset="-120"/>
              </a:rPr>
              <a:t>Usually the strongest, easiest to use, and safest defaults. You need internet and their servers.</a:t>
            </a:r>
            <a:endParaRPr lang="en-US" sz="1150" dirty="0"/>
          </a:p>
        </p:txBody>
      </p:sp>
      <p:sp>
        <p:nvSpPr>
          <p:cNvPr id="10" name="Shape 7"/>
          <p:cNvSpPr/>
          <p:nvPr/>
        </p:nvSpPr>
        <p:spPr>
          <a:xfrm>
            <a:off x="4709160" y="1554480"/>
            <a:ext cx="3886200" cy="3017520"/>
          </a:xfrm>
          <a:prstGeom prst="roundRect">
            <a:avLst>
              <a:gd name="adj" fmla="val 2121"/>
            </a:avLst>
          </a:prstGeom>
          <a:solidFill>
            <a:srgbClr val="F0F5EC"/>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11" name="Shape 8"/>
          <p:cNvSpPr/>
          <p:nvPr/>
        </p:nvSpPr>
        <p:spPr>
          <a:xfrm>
            <a:off x="4983480" y="1783080"/>
            <a:ext cx="420624" cy="420624"/>
          </a:xfrm>
          <a:prstGeom prst="ellipse">
            <a:avLst/>
          </a:prstGeom>
          <a:solidFill>
            <a:srgbClr val="FFFFFF"/>
          </a:solidFill>
          <a:ln/>
        </p:spPr>
      </p:sp>
      <p:pic>
        <p:nvPicPr>
          <p:cNvPr id="12" name="Image 1" descr="preencoded.png">    </p:cNvPr>
          <p:cNvPicPr>
            <a:picLocks noChangeAspect="1"/>
          </p:cNvPicPr>
          <p:nvPr/>
        </p:nvPicPr>
        <p:blipFill>
          <a:blip r:embed="rId2"/>
          <a:stretch>
            <a:fillRect/>
          </a:stretch>
        </p:blipFill>
        <p:spPr>
          <a:xfrm>
            <a:off x="5092842" y="1892442"/>
            <a:ext cx="201900" cy="201900"/>
          </a:xfrm>
          <a:prstGeom prst="rect">
            <a:avLst/>
          </a:prstGeom>
        </p:spPr>
      </p:pic>
      <p:sp>
        <p:nvSpPr>
          <p:cNvPr id="13" name="Text 9"/>
          <p:cNvSpPr/>
          <p:nvPr/>
        </p:nvSpPr>
        <p:spPr>
          <a:xfrm>
            <a:off x="5532120" y="1828800"/>
            <a:ext cx="2926080" cy="320040"/>
          </a:xfrm>
          <a:prstGeom prst="rect">
            <a:avLst/>
          </a:prstGeom>
          <a:noFill/>
          <a:ln/>
        </p:spPr>
        <p:txBody>
          <a:bodyPr wrap="square" lIns="0" tIns="0" rIns="0" bIns="0" rtlCol="0" anchor="ctr"/>
          <a:lstStyle/>
          <a:p>
            <a:pPr indent="0" marL="0">
              <a:buNone/>
            </a:pPr>
            <a:r>
              <a:rPr lang="en-US" sz="1500" b="1" dirty="0">
                <a:solidFill>
                  <a:srgbClr val="1F2A20"/>
                </a:solidFill>
                <a:latin typeface="Calibri" pitchFamily="34" charset="0"/>
                <a:ea typeface="Calibri" pitchFamily="34" charset="-122"/>
                <a:cs typeface="Calibri" pitchFamily="34" charset="-120"/>
              </a:rPr>
              <a:t>Open weights</a:t>
            </a:r>
            <a:endParaRPr lang="en-US" sz="1500" dirty="0"/>
          </a:p>
        </p:txBody>
      </p:sp>
      <p:sp>
        <p:nvSpPr>
          <p:cNvPr id="14" name="Text 10"/>
          <p:cNvSpPr/>
          <p:nvPr/>
        </p:nvSpPr>
        <p:spPr>
          <a:xfrm>
            <a:off x="4983480" y="2331720"/>
            <a:ext cx="3291840" cy="457200"/>
          </a:xfrm>
          <a:prstGeom prst="rect">
            <a:avLst/>
          </a:prstGeom>
          <a:noFill/>
          <a:ln/>
        </p:spPr>
        <p:txBody>
          <a:bodyPr wrap="square" lIns="0" tIns="0" rIns="0" bIns="0" rtlCol="0" anchor="ctr"/>
          <a:lstStyle/>
          <a:p>
            <a:pPr indent="0" marL="0">
              <a:buNone/>
            </a:pPr>
            <a:r>
              <a:rPr lang="en-US" sz="1150" dirty="0">
                <a:solidFill>
                  <a:srgbClr val="5C6B5A"/>
                </a:solidFill>
                <a:latin typeface="Calibri" pitchFamily="34" charset="0"/>
                <a:ea typeface="Calibri" pitchFamily="34" charset="-122"/>
                <a:cs typeface="Calibri" pitchFamily="34" charset="-120"/>
              </a:rPr>
              <a:t>You can download the model and run it yourself.</a:t>
            </a:r>
            <a:endParaRPr lang="en-US" sz="1150" dirty="0"/>
          </a:p>
        </p:txBody>
      </p:sp>
      <p:sp>
        <p:nvSpPr>
          <p:cNvPr id="15" name="Text 11"/>
          <p:cNvSpPr/>
          <p:nvPr/>
        </p:nvSpPr>
        <p:spPr>
          <a:xfrm>
            <a:off x="4983480" y="2880360"/>
            <a:ext cx="3291840" cy="1463040"/>
          </a:xfrm>
          <a:prstGeom prst="rect">
            <a:avLst/>
          </a:prstGeom>
          <a:noFill/>
          <a:ln/>
        </p:spPr>
        <p:txBody>
          <a:bodyPr wrap="square" lIns="0" tIns="0" rIns="0" bIns="0" rtlCol="0" anchor="ctr"/>
          <a:lstStyle/>
          <a:p>
            <a:pPr indent="0" marL="0">
              <a:buNone/>
            </a:pPr>
            <a:r>
              <a:rPr lang="en-US" sz="1150" b="1" dirty="0">
                <a:solidFill>
                  <a:srgbClr val="2C5F2D"/>
                </a:solidFill>
                <a:latin typeface="Calibri" pitchFamily="34" charset="0"/>
                <a:ea typeface="Calibri" pitchFamily="34" charset="-122"/>
                <a:cs typeface="Calibri" pitchFamily="34" charset="-120"/>
              </a:rPr>
              <a:t>Llama, DeepSeek, Qwen, Mistral</a:t>
            </a:r>
            <a:endParaRPr lang="en-US" sz="1150" dirty="0"/>
          </a:p>
          <a:p>
            <a:pPr indent="0" marL="0">
              <a:buNone/>
            </a:pPr>
            <a:r>
              <a:rPr lang="en-US" sz="1100" dirty="0">
                <a:solidFill>
                  <a:srgbClr val="5C6B5A"/>
                </a:solidFill>
                <a:latin typeface="Calibri" pitchFamily="34" charset="0"/>
                <a:ea typeface="Calibri" pitchFamily="34" charset="-122"/>
                <a:cs typeface="Calibri" pitchFamily="34" charset="-120"/>
              </a:rPr>
              <a:t>Free, private, customizable, runs offline. You bring the hardware and the elbow grease.</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MODULE 4 · THE FRONTIER THREE</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3100" b="1" dirty="0">
                <a:solidFill>
                  <a:srgbClr val="1F2A20"/>
                </a:solidFill>
                <a:latin typeface="Cambria" pitchFamily="34" charset="0"/>
                <a:ea typeface="Cambria" pitchFamily="34" charset="-122"/>
                <a:cs typeface="Cambria" pitchFamily="34" charset="-120"/>
              </a:rPr>
              <a:t>OpenAI, Anthropic, Google</a:t>
            </a:r>
            <a:endParaRPr lang="en-US" sz="3100" dirty="0"/>
          </a:p>
        </p:txBody>
      </p:sp>
      <p:sp>
        <p:nvSpPr>
          <p:cNvPr id="4" name="Shape 2"/>
          <p:cNvSpPr/>
          <p:nvPr/>
        </p:nvSpPr>
        <p:spPr>
          <a:xfrm>
            <a:off x="548640" y="1508760"/>
            <a:ext cx="2606040" cy="3246120"/>
          </a:xfrm>
          <a:prstGeom prst="roundRect">
            <a:avLst>
              <a:gd name="adj" fmla="val 2456"/>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5" name="Shape 3"/>
          <p:cNvSpPr/>
          <p:nvPr/>
        </p:nvSpPr>
        <p:spPr>
          <a:xfrm>
            <a:off x="749808" y="1691640"/>
            <a:ext cx="420624" cy="420624"/>
          </a:xfrm>
          <a:prstGeom prst="ellipse">
            <a:avLst/>
          </a:prstGeom>
          <a:solidFill>
            <a:srgbClr val="F0F5EC"/>
          </a:solidFill>
          <a:ln/>
        </p:spPr>
      </p:sp>
      <p:pic>
        <p:nvPicPr>
          <p:cNvPr id="6" name="Image 0" descr="preencoded.png">    </p:cNvPr>
          <p:cNvPicPr>
            <a:picLocks noChangeAspect="1"/>
          </p:cNvPicPr>
          <p:nvPr/>
        </p:nvPicPr>
        <p:blipFill>
          <a:blip r:embed="rId1"/>
          <a:stretch>
            <a:fillRect/>
          </a:stretch>
        </p:blipFill>
        <p:spPr>
          <a:xfrm>
            <a:off x="859170" y="1801002"/>
            <a:ext cx="201900" cy="201900"/>
          </a:xfrm>
          <a:prstGeom prst="rect">
            <a:avLst/>
          </a:prstGeom>
        </p:spPr>
      </p:pic>
      <p:sp>
        <p:nvSpPr>
          <p:cNvPr id="7" name="Text 4"/>
          <p:cNvSpPr/>
          <p:nvPr/>
        </p:nvSpPr>
        <p:spPr>
          <a:xfrm>
            <a:off x="1298448" y="1755648"/>
            <a:ext cx="1828800" cy="365760"/>
          </a:xfrm>
          <a:prstGeom prst="rect">
            <a:avLst/>
          </a:prstGeom>
          <a:noFill/>
          <a:ln/>
        </p:spPr>
        <p:txBody>
          <a:bodyPr wrap="square" lIns="0" tIns="0" rIns="0" bIns="0" rtlCol="0" anchor="ctr"/>
          <a:lstStyle/>
          <a:p>
            <a:pPr indent="0" marL="0">
              <a:buNone/>
            </a:pPr>
            <a:r>
              <a:rPr lang="en-US" sz="1300" b="1" dirty="0">
                <a:solidFill>
                  <a:srgbClr val="1F2A20"/>
                </a:solidFill>
                <a:latin typeface="Calibri" pitchFamily="34" charset="0"/>
                <a:ea typeface="Calibri" pitchFamily="34" charset="-122"/>
                <a:cs typeface="Calibri" pitchFamily="34" charset="-120"/>
              </a:rPr>
              <a:t>OpenAI · GPT</a:t>
            </a:r>
            <a:endParaRPr lang="en-US" sz="1300" dirty="0"/>
          </a:p>
        </p:txBody>
      </p:sp>
      <p:sp>
        <p:nvSpPr>
          <p:cNvPr id="8" name="Text 5"/>
          <p:cNvSpPr/>
          <p:nvPr/>
        </p:nvSpPr>
        <p:spPr>
          <a:xfrm>
            <a:off x="749808" y="2240280"/>
            <a:ext cx="2240280" cy="502920"/>
          </a:xfrm>
          <a:prstGeom prst="rect">
            <a:avLst/>
          </a:prstGeom>
          <a:noFill/>
          <a:ln/>
        </p:spPr>
        <p:txBody>
          <a:bodyPr wrap="square" lIns="0" tIns="0" rIns="0" bIns="0" rtlCol="0" anchor="ctr"/>
          <a:lstStyle/>
          <a:p>
            <a:pPr indent="0" marL="0">
              <a:buNone/>
            </a:pPr>
            <a:r>
              <a:rPr lang="en-US" sz="1050" b="1" dirty="0">
                <a:solidFill>
                  <a:srgbClr val="2C5F2D"/>
                </a:solidFill>
                <a:latin typeface="Calibri" pitchFamily="34" charset="0"/>
                <a:ea typeface="Calibri" pitchFamily="34" charset="-122"/>
                <a:cs typeface="Calibri" pitchFamily="34" charset="-120"/>
              </a:rPr>
              <a:t>GPT-5.5 now, GPT-5.6 rolling out July 2026</a:t>
            </a:r>
            <a:endParaRPr lang="en-US" sz="1050" dirty="0"/>
          </a:p>
        </p:txBody>
      </p:sp>
      <p:sp>
        <p:nvSpPr>
          <p:cNvPr id="9" name="Text 6"/>
          <p:cNvSpPr/>
          <p:nvPr/>
        </p:nvSpPr>
        <p:spPr>
          <a:xfrm>
            <a:off x="749808" y="2788920"/>
            <a:ext cx="2240280" cy="1417320"/>
          </a:xfrm>
          <a:prstGeom prst="rect">
            <a:avLst/>
          </a:prstGeom>
          <a:noFill/>
          <a:ln/>
        </p:spPr>
        <p:txBody>
          <a:bodyPr wrap="square" lIns="0" tIns="0" rIns="0" bIns="0" rtlCol="0" anchor="ctr"/>
          <a:lstStyle/>
          <a:p>
            <a:pPr indent="0" marL="0">
              <a:buNone/>
            </a:pPr>
            <a:r>
              <a:rPr lang="en-US" sz="1000" dirty="0">
                <a:solidFill>
                  <a:srgbClr val="5C6B5A"/>
                </a:solidFill>
                <a:latin typeface="Calibri" pitchFamily="34" charset="0"/>
                <a:ea typeface="Calibri" pitchFamily="34" charset="-122"/>
                <a:cs typeface="Calibri" pitchFamily="34" charset="-120"/>
              </a:rPr>
              <a:t>The most-used AI on earth. New chips serve replies at up to 750 tokens a second, and an Ultra mode puts teams of AI agents on one hard task.</a:t>
            </a:r>
            <a:endParaRPr lang="en-US" sz="1000" dirty="0"/>
          </a:p>
        </p:txBody>
      </p:sp>
      <p:sp>
        <p:nvSpPr>
          <p:cNvPr id="10" name="Text 7"/>
          <p:cNvSpPr/>
          <p:nvPr/>
        </p:nvSpPr>
        <p:spPr>
          <a:xfrm>
            <a:off x="749808" y="4315968"/>
            <a:ext cx="2240280" cy="274320"/>
          </a:xfrm>
          <a:prstGeom prst="rect">
            <a:avLst/>
          </a:prstGeom>
          <a:noFill/>
          <a:ln/>
        </p:spPr>
        <p:txBody>
          <a:bodyPr wrap="square" lIns="0" tIns="0" rIns="0" bIns="0" rtlCol="0" anchor="ctr"/>
          <a:lstStyle/>
          <a:p>
            <a:pPr indent="0" marL="0">
              <a:buNone/>
            </a:pPr>
            <a:r>
              <a:rPr lang="en-US" sz="1000" b="1" dirty="0">
                <a:solidFill>
                  <a:srgbClr val="6E9648"/>
                </a:solidFill>
                <a:latin typeface="Calibri" pitchFamily="34" charset="0"/>
                <a:ea typeface="Calibri" pitchFamily="34" charset="-122"/>
                <a:cs typeface="Calibri" pitchFamily="34" charset="-120"/>
              </a:rPr>
              <a:t>Free: ChatGPT free tier</a:t>
            </a:r>
            <a:endParaRPr lang="en-US" sz="1000" dirty="0"/>
          </a:p>
        </p:txBody>
      </p:sp>
      <p:sp>
        <p:nvSpPr>
          <p:cNvPr id="11" name="Shape 8"/>
          <p:cNvSpPr/>
          <p:nvPr/>
        </p:nvSpPr>
        <p:spPr>
          <a:xfrm>
            <a:off x="3291840" y="1508760"/>
            <a:ext cx="2606040" cy="3246120"/>
          </a:xfrm>
          <a:prstGeom prst="roundRect">
            <a:avLst>
              <a:gd name="adj" fmla="val 2456"/>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12" name="Shape 9"/>
          <p:cNvSpPr/>
          <p:nvPr/>
        </p:nvSpPr>
        <p:spPr>
          <a:xfrm>
            <a:off x="3493008" y="1691640"/>
            <a:ext cx="420624" cy="420624"/>
          </a:xfrm>
          <a:prstGeom prst="ellipse">
            <a:avLst/>
          </a:prstGeom>
          <a:solidFill>
            <a:srgbClr val="F0F5EC"/>
          </a:solidFill>
          <a:ln/>
        </p:spPr>
      </p:sp>
      <p:pic>
        <p:nvPicPr>
          <p:cNvPr id="13" name="Image 1" descr="preencoded.png">    </p:cNvPr>
          <p:cNvPicPr>
            <a:picLocks noChangeAspect="1"/>
          </p:cNvPicPr>
          <p:nvPr/>
        </p:nvPicPr>
        <p:blipFill>
          <a:blip r:embed="rId2"/>
          <a:stretch>
            <a:fillRect/>
          </a:stretch>
        </p:blipFill>
        <p:spPr>
          <a:xfrm>
            <a:off x="3602370" y="1801002"/>
            <a:ext cx="201900" cy="201900"/>
          </a:xfrm>
          <a:prstGeom prst="rect">
            <a:avLst/>
          </a:prstGeom>
        </p:spPr>
      </p:pic>
      <p:sp>
        <p:nvSpPr>
          <p:cNvPr id="14" name="Text 10"/>
          <p:cNvSpPr/>
          <p:nvPr/>
        </p:nvSpPr>
        <p:spPr>
          <a:xfrm>
            <a:off x="4041648" y="1755648"/>
            <a:ext cx="1828800" cy="365760"/>
          </a:xfrm>
          <a:prstGeom prst="rect">
            <a:avLst/>
          </a:prstGeom>
          <a:noFill/>
          <a:ln/>
        </p:spPr>
        <p:txBody>
          <a:bodyPr wrap="square" lIns="0" tIns="0" rIns="0" bIns="0" rtlCol="0" anchor="ctr"/>
          <a:lstStyle/>
          <a:p>
            <a:pPr indent="0" marL="0">
              <a:buNone/>
            </a:pPr>
            <a:r>
              <a:rPr lang="en-US" sz="1300" b="1" dirty="0">
                <a:solidFill>
                  <a:srgbClr val="1F2A20"/>
                </a:solidFill>
                <a:latin typeface="Calibri" pitchFamily="34" charset="0"/>
                <a:ea typeface="Calibri" pitchFamily="34" charset="-122"/>
                <a:cs typeface="Calibri" pitchFamily="34" charset="-120"/>
              </a:rPr>
              <a:t>Anthropic · Claude</a:t>
            </a:r>
            <a:endParaRPr lang="en-US" sz="1300" dirty="0"/>
          </a:p>
        </p:txBody>
      </p:sp>
      <p:sp>
        <p:nvSpPr>
          <p:cNvPr id="15" name="Text 11"/>
          <p:cNvSpPr/>
          <p:nvPr/>
        </p:nvSpPr>
        <p:spPr>
          <a:xfrm>
            <a:off x="3493008" y="2240280"/>
            <a:ext cx="2240280" cy="502920"/>
          </a:xfrm>
          <a:prstGeom prst="rect">
            <a:avLst/>
          </a:prstGeom>
          <a:noFill/>
          <a:ln/>
        </p:spPr>
        <p:txBody>
          <a:bodyPr wrap="square" lIns="0" tIns="0" rIns="0" bIns="0" rtlCol="0" anchor="ctr"/>
          <a:lstStyle/>
          <a:p>
            <a:pPr indent="0" marL="0">
              <a:buNone/>
            </a:pPr>
            <a:r>
              <a:rPr lang="en-US" sz="1050" b="1" dirty="0">
                <a:solidFill>
                  <a:srgbClr val="2C5F2D"/>
                </a:solidFill>
                <a:latin typeface="Calibri" pitchFamily="34" charset="0"/>
                <a:ea typeface="Calibri" pitchFamily="34" charset="-122"/>
                <a:cs typeface="Calibri" pitchFamily="34" charset="-120"/>
              </a:rPr>
              <a:t>Sonnet 5 free, Opus 4.8, new Fable 5 on top</a:t>
            </a:r>
            <a:endParaRPr lang="en-US" sz="1050" dirty="0"/>
          </a:p>
        </p:txBody>
      </p:sp>
      <p:sp>
        <p:nvSpPr>
          <p:cNvPr id="16" name="Text 12"/>
          <p:cNvSpPr/>
          <p:nvPr/>
        </p:nvSpPr>
        <p:spPr>
          <a:xfrm>
            <a:off x="3493008" y="2788920"/>
            <a:ext cx="2240280" cy="1417320"/>
          </a:xfrm>
          <a:prstGeom prst="rect">
            <a:avLst/>
          </a:prstGeom>
          <a:noFill/>
          <a:ln/>
        </p:spPr>
        <p:txBody>
          <a:bodyPr wrap="square" lIns="0" tIns="0" rIns="0" bIns="0" rtlCol="0" anchor="ctr"/>
          <a:lstStyle/>
          <a:p>
            <a:pPr indent="0" marL="0">
              <a:buNone/>
            </a:pPr>
            <a:r>
              <a:rPr lang="en-US" sz="1000" dirty="0">
                <a:solidFill>
                  <a:srgbClr val="5C6B5A"/>
                </a:solidFill>
                <a:latin typeface="Calibri" pitchFamily="34" charset="0"/>
                <a:ea typeface="Calibri" pitchFamily="34" charset="-122"/>
                <a:cs typeface="Calibri" pitchFamily="34" charset="-120"/>
              </a:rPr>
              <a:t>Known for careful long-form work, top-tier coding via Claude Code, and million-token context. Sonnet 5 became the free default on July 1.</a:t>
            </a:r>
            <a:endParaRPr lang="en-US" sz="1000" dirty="0"/>
          </a:p>
        </p:txBody>
      </p:sp>
      <p:sp>
        <p:nvSpPr>
          <p:cNvPr id="17" name="Text 13"/>
          <p:cNvSpPr/>
          <p:nvPr/>
        </p:nvSpPr>
        <p:spPr>
          <a:xfrm>
            <a:off x="3493008" y="4315968"/>
            <a:ext cx="2240280" cy="274320"/>
          </a:xfrm>
          <a:prstGeom prst="rect">
            <a:avLst/>
          </a:prstGeom>
          <a:noFill/>
          <a:ln/>
        </p:spPr>
        <p:txBody>
          <a:bodyPr wrap="square" lIns="0" tIns="0" rIns="0" bIns="0" rtlCol="0" anchor="ctr"/>
          <a:lstStyle/>
          <a:p>
            <a:pPr indent="0" marL="0">
              <a:buNone/>
            </a:pPr>
            <a:r>
              <a:rPr lang="en-US" sz="1000" b="1" dirty="0">
                <a:solidFill>
                  <a:srgbClr val="6E9648"/>
                </a:solidFill>
                <a:latin typeface="Calibri" pitchFamily="34" charset="0"/>
                <a:ea typeface="Calibri" pitchFamily="34" charset="-122"/>
                <a:cs typeface="Calibri" pitchFamily="34" charset="-120"/>
              </a:rPr>
              <a:t>Free: claude.ai</a:t>
            </a:r>
            <a:endParaRPr lang="en-US" sz="1000" dirty="0"/>
          </a:p>
        </p:txBody>
      </p:sp>
      <p:sp>
        <p:nvSpPr>
          <p:cNvPr id="18" name="Shape 14"/>
          <p:cNvSpPr/>
          <p:nvPr/>
        </p:nvSpPr>
        <p:spPr>
          <a:xfrm>
            <a:off x="6035040" y="1508760"/>
            <a:ext cx="2606040" cy="3246120"/>
          </a:xfrm>
          <a:prstGeom prst="roundRect">
            <a:avLst>
              <a:gd name="adj" fmla="val 2456"/>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19" name="Shape 15"/>
          <p:cNvSpPr/>
          <p:nvPr/>
        </p:nvSpPr>
        <p:spPr>
          <a:xfrm>
            <a:off x="6236208" y="1691640"/>
            <a:ext cx="420624" cy="420624"/>
          </a:xfrm>
          <a:prstGeom prst="ellipse">
            <a:avLst/>
          </a:prstGeom>
          <a:solidFill>
            <a:srgbClr val="F0F5EC"/>
          </a:solidFill>
          <a:ln/>
        </p:spPr>
      </p:sp>
      <p:pic>
        <p:nvPicPr>
          <p:cNvPr id="20" name="Image 2" descr="preencoded.png">    </p:cNvPr>
          <p:cNvPicPr>
            <a:picLocks noChangeAspect="1"/>
          </p:cNvPicPr>
          <p:nvPr/>
        </p:nvPicPr>
        <p:blipFill>
          <a:blip r:embed="rId3"/>
          <a:stretch>
            <a:fillRect/>
          </a:stretch>
        </p:blipFill>
        <p:spPr>
          <a:xfrm>
            <a:off x="6345570" y="1801002"/>
            <a:ext cx="201900" cy="201900"/>
          </a:xfrm>
          <a:prstGeom prst="rect">
            <a:avLst/>
          </a:prstGeom>
        </p:spPr>
      </p:pic>
      <p:sp>
        <p:nvSpPr>
          <p:cNvPr id="21" name="Text 16"/>
          <p:cNvSpPr/>
          <p:nvPr/>
        </p:nvSpPr>
        <p:spPr>
          <a:xfrm>
            <a:off x="6784848" y="1755648"/>
            <a:ext cx="1828800" cy="365760"/>
          </a:xfrm>
          <a:prstGeom prst="rect">
            <a:avLst/>
          </a:prstGeom>
          <a:noFill/>
          <a:ln/>
        </p:spPr>
        <p:txBody>
          <a:bodyPr wrap="square" lIns="0" tIns="0" rIns="0" bIns="0" rtlCol="0" anchor="ctr"/>
          <a:lstStyle/>
          <a:p>
            <a:pPr indent="0" marL="0">
              <a:buNone/>
            </a:pPr>
            <a:r>
              <a:rPr lang="en-US" sz="1300" b="1" dirty="0">
                <a:solidFill>
                  <a:srgbClr val="1F2A20"/>
                </a:solidFill>
                <a:latin typeface="Calibri" pitchFamily="34" charset="0"/>
                <a:ea typeface="Calibri" pitchFamily="34" charset="-122"/>
                <a:cs typeface="Calibri" pitchFamily="34" charset="-120"/>
              </a:rPr>
              <a:t>Google · Gemini</a:t>
            </a:r>
            <a:endParaRPr lang="en-US" sz="1300" dirty="0"/>
          </a:p>
        </p:txBody>
      </p:sp>
      <p:sp>
        <p:nvSpPr>
          <p:cNvPr id="22" name="Text 17"/>
          <p:cNvSpPr/>
          <p:nvPr/>
        </p:nvSpPr>
        <p:spPr>
          <a:xfrm>
            <a:off x="6236208" y="2240280"/>
            <a:ext cx="2240280" cy="502920"/>
          </a:xfrm>
          <a:prstGeom prst="rect">
            <a:avLst/>
          </a:prstGeom>
          <a:noFill/>
          <a:ln/>
        </p:spPr>
        <p:txBody>
          <a:bodyPr wrap="square" lIns="0" tIns="0" rIns="0" bIns="0" rtlCol="0" anchor="ctr"/>
          <a:lstStyle/>
          <a:p>
            <a:pPr indent="0" marL="0">
              <a:buNone/>
            </a:pPr>
            <a:r>
              <a:rPr lang="en-US" sz="1050" b="1" dirty="0">
                <a:solidFill>
                  <a:srgbClr val="2C5F2D"/>
                </a:solidFill>
                <a:latin typeface="Calibri" pitchFamily="34" charset="0"/>
                <a:ea typeface="Calibri" pitchFamily="34" charset="-122"/>
                <a:cs typeface="Calibri" pitchFamily="34" charset="-120"/>
              </a:rPr>
              <a:t>Gemini 3.1 Pro and 3.5 Flash</a:t>
            </a:r>
            <a:endParaRPr lang="en-US" sz="1050" dirty="0"/>
          </a:p>
        </p:txBody>
      </p:sp>
      <p:sp>
        <p:nvSpPr>
          <p:cNvPr id="23" name="Text 18"/>
          <p:cNvSpPr/>
          <p:nvPr/>
        </p:nvSpPr>
        <p:spPr>
          <a:xfrm>
            <a:off x="6236208" y="2788920"/>
            <a:ext cx="2240280" cy="1417320"/>
          </a:xfrm>
          <a:prstGeom prst="rect">
            <a:avLst/>
          </a:prstGeom>
          <a:noFill/>
          <a:ln/>
        </p:spPr>
        <p:txBody>
          <a:bodyPr wrap="square" lIns="0" tIns="0" rIns="0" bIns="0" rtlCol="0" anchor="ctr"/>
          <a:lstStyle/>
          <a:p>
            <a:pPr indent="0" marL="0">
              <a:buNone/>
            </a:pPr>
            <a:r>
              <a:rPr lang="en-US" sz="1000" dirty="0">
                <a:solidFill>
                  <a:srgbClr val="5C6B5A"/>
                </a:solidFill>
                <a:latin typeface="Calibri" pitchFamily="34" charset="0"/>
                <a:ea typeface="Calibri" pitchFamily="34" charset="-122"/>
                <a:cs typeface="Calibri" pitchFamily="34" charset="-120"/>
              </a:rPr>
              <a:t>Woven through Search, Docs, and Gmail, with the broadest free tier: images, voice, and about five Deep Research reports a month at no cost.</a:t>
            </a:r>
            <a:endParaRPr lang="en-US" sz="1000" dirty="0"/>
          </a:p>
        </p:txBody>
      </p:sp>
      <p:sp>
        <p:nvSpPr>
          <p:cNvPr id="24" name="Text 19"/>
          <p:cNvSpPr/>
          <p:nvPr/>
        </p:nvSpPr>
        <p:spPr>
          <a:xfrm>
            <a:off x="6236208" y="4315968"/>
            <a:ext cx="2240280" cy="274320"/>
          </a:xfrm>
          <a:prstGeom prst="rect">
            <a:avLst/>
          </a:prstGeom>
          <a:noFill/>
          <a:ln/>
        </p:spPr>
        <p:txBody>
          <a:bodyPr wrap="square" lIns="0" tIns="0" rIns="0" bIns="0" rtlCol="0" anchor="ctr"/>
          <a:lstStyle/>
          <a:p>
            <a:pPr indent="0" marL="0">
              <a:buNone/>
            </a:pPr>
            <a:r>
              <a:rPr lang="en-US" sz="1000" b="1" dirty="0">
                <a:solidFill>
                  <a:srgbClr val="6E9648"/>
                </a:solidFill>
                <a:latin typeface="Calibri" pitchFamily="34" charset="0"/>
                <a:ea typeface="Calibri" pitchFamily="34" charset="-122"/>
                <a:cs typeface="Calibri" pitchFamily="34" charset="-120"/>
              </a:rPr>
              <a:t>Free: Gemini app</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MODULE 4 · MORE HEAVYWEIGHTS</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3100" b="1" dirty="0">
                <a:solidFill>
                  <a:srgbClr val="1F2A20"/>
                </a:solidFill>
                <a:latin typeface="Cambria" pitchFamily="34" charset="0"/>
                <a:ea typeface="Cambria" pitchFamily="34" charset="-122"/>
                <a:cs typeface="Cambria" pitchFamily="34" charset="-120"/>
              </a:rPr>
              <a:t>Meta, xAI, DeepSeek, Mistral</a:t>
            </a:r>
            <a:endParaRPr lang="en-US" sz="3100" dirty="0"/>
          </a:p>
        </p:txBody>
      </p:sp>
      <p:sp>
        <p:nvSpPr>
          <p:cNvPr id="4" name="Shape 2"/>
          <p:cNvSpPr/>
          <p:nvPr/>
        </p:nvSpPr>
        <p:spPr>
          <a:xfrm>
            <a:off x="548640" y="1554480"/>
            <a:ext cx="3886200" cy="1481328"/>
          </a:xfrm>
          <a:prstGeom prst="roundRect">
            <a:avLst>
              <a:gd name="adj" fmla="val 4321"/>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5" name="Shape 3"/>
          <p:cNvSpPr/>
          <p:nvPr/>
        </p:nvSpPr>
        <p:spPr>
          <a:xfrm>
            <a:off x="731520" y="1737360"/>
            <a:ext cx="402336" cy="402336"/>
          </a:xfrm>
          <a:prstGeom prst="ellipse">
            <a:avLst/>
          </a:prstGeom>
          <a:solidFill>
            <a:srgbClr val="F0F5EC"/>
          </a:solidFill>
          <a:ln/>
        </p:spPr>
      </p:sp>
      <p:pic>
        <p:nvPicPr>
          <p:cNvPr id="6" name="Image 0" descr="preencoded.png">    </p:cNvPr>
          <p:cNvPicPr>
            <a:picLocks noChangeAspect="1"/>
          </p:cNvPicPr>
          <p:nvPr/>
        </p:nvPicPr>
        <p:blipFill>
          <a:blip r:embed="rId1"/>
          <a:stretch>
            <a:fillRect/>
          </a:stretch>
        </p:blipFill>
        <p:spPr>
          <a:xfrm>
            <a:off x="836127" y="1841967"/>
            <a:ext cx="193121" cy="193121"/>
          </a:xfrm>
          <a:prstGeom prst="rect">
            <a:avLst/>
          </a:prstGeom>
        </p:spPr>
      </p:pic>
      <p:sp>
        <p:nvSpPr>
          <p:cNvPr id="7" name="Text 4"/>
          <p:cNvSpPr/>
          <p:nvPr/>
        </p:nvSpPr>
        <p:spPr>
          <a:xfrm>
            <a:off x="1261872" y="1773936"/>
            <a:ext cx="2926080" cy="320040"/>
          </a:xfrm>
          <a:prstGeom prst="rect">
            <a:avLst/>
          </a:prstGeom>
          <a:noFill/>
          <a:ln/>
        </p:spPr>
        <p:txBody>
          <a:bodyPr wrap="square" lIns="0" tIns="0" rIns="0" bIns="0" rtlCol="0" anchor="ctr"/>
          <a:lstStyle/>
          <a:p>
            <a:pPr indent="0" marL="0">
              <a:buNone/>
            </a:pPr>
            <a:r>
              <a:rPr lang="en-US" sz="1300" b="1" dirty="0">
                <a:solidFill>
                  <a:srgbClr val="1F2A20"/>
                </a:solidFill>
                <a:latin typeface="Calibri" pitchFamily="34" charset="0"/>
                <a:ea typeface="Calibri" pitchFamily="34" charset="-122"/>
                <a:cs typeface="Calibri" pitchFamily="34" charset="-120"/>
              </a:rPr>
              <a:t>Meta</a:t>
            </a:r>
            <a:endParaRPr lang="en-US" sz="1300" dirty="0"/>
          </a:p>
        </p:txBody>
      </p:sp>
      <p:sp>
        <p:nvSpPr>
          <p:cNvPr id="8" name="Text 5"/>
          <p:cNvSpPr/>
          <p:nvPr/>
        </p:nvSpPr>
        <p:spPr>
          <a:xfrm>
            <a:off x="731520" y="2176272"/>
            <a:ext cx="3520440" cy="822960"/>
          </a:xfrm>
          <a:prstGeom prst="rect">
            <a:avLst/>
          </a:prstGeom>
          <a:noFill/>
          <a:ln/>
        </p:spPr>
        <p:txBody>
          <a:bodyPr wrap="square" lIns="0" tIns="0" rIns="0" bIns="0" rtlCol="0" anchor="ctr"/>
          <a:lstStyle/>
          <a:p>
            <a:pPr indent="0" marL="0">
              <a:buNone/>
            </a:pPr>
            <a:r>
              <a:rPr lang="en-US" sz="1000" dirty="0">
                <a:solidFill>
                  <a:srgbClr val="5C6B5A"/>
                </a:solidFill>
                <a:latin typeface="Calibri" pitchFamily="34" charset="0"/>
                <a:ea typeface="Calibri" pitchFamily="34" charset="-122"/>
                <a:cs typeface="Calibri" pitchFamily="34" charset="-120"/>
              </a:rPr>
              <a:t>Muse Spark is its new closed flagship, a strategy shift. Open Llama 4 remains, with a 10M-token context on Scout. Free inside WhatsApp and Instagram.</a:t>
            </a:r>
            <a:endParaRPr lang="en-US" sz="1000" dirty="0"/>
          </a:p>
        </p:txBody>
      </p:sp>
      <p:sp>
        <p:nvSpPr>
          <p:cNvPr id="9" name="Shape 6"/>
          <p:cNvSpPr/>
          <p:nvPr/>
        </p:nvSpPr>
        <p:spPr>
          <a:xfrm>
            <a:off x="4709160" y="1554480"/>
            <a:ext cx="3886200" cy="1481328"/>
          </a:xfrm>
          <a:prstGeom prst="roundRect">
            <a:avLst>
              <a:gd name="adj" fmla="val 4321"/>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10" name="Shape 7"/>
          <p:cNvSpPr/>
          <p:nvPr/>
        </p:nvSpPr>
        <p:spPr>
          <a:xfrm>
            <a:off x="4892040" y="1737360"/>
            <a:ext cx="402336" cy="402336"/>
          </a:xfrm>
          <a:prstGeom prst="ellipse">
            <a:avLst/>
          </a:prstGeom>
          <a:solidFill>
            <a:srgbClr val="F0F5EC"/>
          </a:solidFill>
          <a:ln/>
        </p:spPr>
      </p:sp>
      <p:pic>
        <p:nvPicPr>
          <p:cNvPr id="11" name="Image 1" descr="preencoded.png">    </p:cNvPr>
          <p:cNvPicPr>
            <a:picLocks noChangeAspect="1"/>
          </p:cNvPicPr>
          <p:nvPr/>
        </p:nvPicPr>
        <p:blipFill>
          <a:blip r:embed="rId2"/>
          <a:stretch>
            <a:fillRect/>
          </a:stretch>
        </p:blipFill>
        <p:spPr>
          <a:xfrm>
            <a:off x="4996647" y="1841967"/>
            <a:ext cx="193121" cy="193121"/>
          </a:xfrm>
          <a:prstGeom prst="rect">
            <a:avLst/>
          </a:prstGeom>
        </p:spPr>
      </p:pic>
      <p:sp>
        <p:nvSpPr>
          <p:cNvPr id="12" name="Text 8"/>
          <p:cNvSpPr/>
          <p:nvPr/>
        </p:nvSpPr>
        <p:spPr>
          <a:xfrm>
            <a:off x="5422392" y="1773936"/>
            <a:ext cx="2926080" cy="320040"/>
          </a:xfrm>
          <a:prstGeom prst="rect">
            <a:avLst/>
          </a:prstGeom>
          <a:noFill/>
          <a:ln/>
        </p:spPr>
        <p:txBody>
          <a:bodyPr wrap="square" lIns="0" tIns="0" rIns="0" bIns="0" rtlCol="0" anchor="ctr"/>
          <a:lstStyle/>
          <a:p>
            <a:pPr indent="0" marL="0">
              <a:buNone/>
            </a:pPr>
            <a:r>
              <a:rPr lang="en-US" sz="1300" b="1" dirty="0">
                <a:solidFill>
                  <a:srgbClr val="1F2A20"/>
                </a:solidFill>
                <a:latin typeface="Calibri" pitchFamily="34" charset="0"/>
                <a:ea typeface="Calibri" pitchFamily="34" charset="-122"/>
                <a:cs typeface="Calibri" pitchFamily="34" charset="-120"/>
              </a:rPr>
              <a:t>xAI · Grok</a:t>
            </a:r>
            <a:endParaRPr lang="en-US" sz="1300" dirty="0"/>
          </a:p>
        </p:txBody>
      </p:sp>
      <p:sp>
        <p:nvSpPr>
          <p:cNvPr id="13" name="Text 9"/>
          <p:cNvSpPr/>
          <p:nvPr/>
        </p:nvSpPr>
        <p:spPr>
          <a:xfrm>
            <a:off x="4892040" y="2176272"/>
            <a:ext cx="3520440" cy="822960"/>
          </a:xfrm>
          <a:prstGeom prst="rect">
            <a:avLst/>
          </a:prstGeom>
          <a:noFill/>
          <a:ln/>
        </p:spPr>
        <p:txBody>
          <a:bodyPr wrap="square" lIns="0" tIns="0" rIns="0" bIns="0" rtlCol="0" anchor="ctr"/>
          <a:lstStyle/>
          <a:p>
            <a:pPr indent="0" marL="0">
              <a:buNone/>
            </a:pPr>
            <a:r>
              <a:rPr lang="en-US" sz="1000" dirty="0">
                <a:solidFill>
                  <a:srgbClr val="5C6B5A"/>
                </a:solidFill>
                <a:latin typeface="Calibri" pitchFamily="34" charset="0"/>
                <a:ea typeface="Calibri" pitchFamily="34" charset="-122"/>
                <a:cs typeface="Calibri" pitchFamily="34" charset="-120"/>
              </a:rPr>
              <a:t>Grok 4.3 taps the live X firehose for real-time answers, takes video input, and holds a million tokens. Free tier is thin; most features are paid.</a:t>
            </a:r>
            <a:endParaRPr lang="en-US" sz="1000" dirty="0"/>
          </a:p>
        </p:txBody>
      </p:sp>
      <p:sp>
        <p:nvSpPr>
          <p:cNvPr id="14" name="Shape 10"/>
          <p:cNvSpPr/>
          <p:nvPr/>
        </p:nvSpPr>
        <p:spPr>
          <a:xfrm>
            <a:off x="548640" y="3218688"/>
            <a:ext cx="3886200" cy="1481328"/>
          </a:xfrm>
          <a:prstGeom prst="roundRect">
            <a:avLst>
              <a:gd name="adj" fmla="val 4321"/>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15" name="Shape 11"/>
          <p:cNvSpPr/>
          <p:nvPr/>
        </p:nvSpPr>
        <p:spPr>
          <a:xfrm>
            <a:off x="731520" y="3401568"/>
            <a:ext cx="402336" cy="402336"/>
          </a:xfrm>
          <a:prstGeom prst="ellipse">
            <a:avLst/>
          </a:prstGeom>
          <a:solidFill>
            <a:srgbClr val="F0F5EC"/>
          </a:solidFill>
          <a:ln/>
        </p:spPr>
      </p:sp>
      <p:pic>
        <p:nvPicPr>
          <p:cNvPr id="16" name="Image 2" descr="preencoded.png">    </p:cNvPr>
          <p:cNvPicPr>
            <a:picLocks noChangeAspect="1"/>
          </p:cNvPicPr>
          <p:nvPr/>
        </p:nvPicPr>
        <p:blipFill>
          <a:blip r:embed="rId3"/>
          <a:stretch>
            <a:fillRect/>
          </a:stretch>
        </p:blipFill>
        <p:spPr>
          <a:xfrm>
            <a:off x="836127" y="3506175"/>
            <a:ext cx="193121" cy="193121"/>
          </a:xfrm>
          <a:prstGeom prst="rect">
            <a:avLst/>
          </a:prstGeom>
        </p:spPr>
      </p:pic>
      <p:sp>
        <p:nvSpPr>
          <p:cNvPr id="17" name="Text 12"/>
          <p:cNvSpPr/>
          <p:nvPr/>
        </p:nvSpPr>
        <p:spPr>
          <a:xfrm>
            <a:off x="1261872" y="3438144"/>
            <a:ext cx="2926080" cy="320040"/>
          </a:xfrm>
          <a:prstGeom prst="rect">
            <a:avLst/>
          </a:prstGeom>
          <a:noFill/>
          <a:ln/>
        </p:spPr>
        <p:txBody>
          <a:bodyPr wrap="square" lIns="0" tIns="0" rIns="0" bIns="0" rtlCol="0" anchor="ctr"/>
          <a:lstStyle/>
          <a:p>
            <a:pPr indent="0" marL="0">
              <a:buNone/>
            </a:pPr>
            <a:r>
              <a:rPr lang="en-US" sz="1300" b="1" dirty="0">
                <a:solidFill>
                  <a:srgbClr val="1F2A20"/>
                </a:solidFill>
                <a:latin typeface="Calibri" pitchFamily="34" charset="0"/>
                <a:ea typeface="Calibri" pitchFamily="34" charset="-122"/>
                <a:cs typeface="Calibri" pitchFamily="34" charset="-120"/>
              </a:rPr>
              <a:t>DeepSeek</a:t>
            </a:r>
            <a:endParaRPr lang="en-US" sz="1300" dirty="0"/>
          </a:p>
        </p:txBody>
      </p:sp>
      <p:sp>
        <p:nvSpPr>
          <p:cNvPr id="18" name="Text 13"/>
          <p:cNvSpPr/>
          <p:nvPr/>
        </p:nvSpPr>
        <p:spPr>
          <a:xfrm>
            <a:off x="731520" y="3840480"/>
            <a:ext cx="3520440" cy="822960"/>
          </a:xfrm>
          <a:prstGeom prst="rect">
            <a:avLst/>
          </a:prstGeom>
          <a:noFill/>
          <a:ln/>
        </p:spPr>
        <p:txBody>
          <a:bodyPr wrap="square" lIns="0" tIns="0" rIns="0" bIns="0" rtlCol="0" anchor="ctr"/>
          <a:lstStyle/>
          <a:p>
            <a:pPr indent="0" marL="0">
              <a:buNone/>
            </a:pPr>
            <a:r>
              <a:rPr lang="en-US" sz="1000" dirty="0">
                <a:solidFill>
                  <a:srgbClr val="5C6B5A"/>
                </a:solidFill>
                <a:latin typeface="Calibri" pitchFamily="34" charset="0"/>
                <a:ea typeface="Calibri" pitchFamily="34" charset="-122"/>
                <a:cs typeface="Calibri" pitchFamily="34" charset="-120"/>
              </a:rPr>
              <a:t>Open V4 model matches top-tier benchmarks at roughly a tenth of the serving cost. Generous free app. Hosted in China, so mind where your data goes.</a:t>
            </a:r>
            <a:endParaRPr lang="en-US" sz="1000" dirty="0"/>
          </a:p>
        </p:txBody>
      </p:sp>
      <p:sp>
        <p:nvSpPr>
          <p:cNvPr id="19" name="Shape 14"/>
          <p:cNvSpPr/>
          <p:nvPr/>
        </p:nvSpPr>
        <p:spPr>
          <a:xfrm>
            <a:off x="4709160" y="3218688"/>
            <a:ext cx="3886200" cy="1481328"/>
          </a:xfrm>
          <a:prstGeom prst="roundRect">
            <a:avLst>
              <a:gd name="adj" fmla="val 4321"/>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20" name="Shape 15"/>
          <p:cNvSpPr/>
          <p:nvPr/>
        </p:nvSpPr>
        <p:spPr>
          <a:xfrm>
            <a:off x="4892040" y="3401568"/>
            <a:ext cx="402336" cy="402336"/>
          </a:xfrm>
          <a:prstGeom prst="ellipse">
            <a:avLst/>
          </a:prstGeom>
          <a:solidFill>
            <a:srgbClr val="F0F5EC"/>
          </a:solidFill>
          <a:ln/>
        </p:spPr>
      </p:sp>
      <p:pic>
        <p:nvPicPr>
          <p:cNvPr id="21" name="Image 3" descr="preencoded.png">    </p:cNvPr>
          <p:cNvPicPr>
            <a:picLocks noChangeAspect="1"/>
          </p:cNvPicPr>
          <p:nvPr/>
        </p:nvPicPr>
        <p:blipFill>
          <a:blip r:embed="rId4"/>
          <a:stretch>
            <a:fillRect/>
          </a:stretch>
        </p:blipFill>
        <p:spPr>
          <a:xfrm>
            <a:off x="4996647" y="3506175"/>
            <a:ext cx="193121" cy="193121"/>
          </a:xfrm>
          <a:prstGeom prst="rect">
            <a:avLst/>
          </a:prstGeom>
        </p:spPr>
      </p:pic>
      <p:sp>
        <p:nvSpPr>
          <p:cNvPr id="22" name="Text 16"/>
          <p:cNvSpPr/>
          <p:nvPr/>
        </p:nvSpPr>
        <p:spPr>
          <a:xfrm>
            <a:off x="5422392" y="3438144"/>
            <a:ext cx="2926080" cy="320040"/>
          </a:xfrm>
          <a:prstGeom prst="rect">
            <a:avLst/>
          </a:prstGeom>
          <a:noFill/>
          <a:ln/>
        </p:spPr>
        <p:txBody>
          <a:bodyPr wrap="square" lIns="0" tIns="0" rIns="0" bIns="0" rtlCol="0" anchor="ctr"/>
          <a:lstStyle/>
          <a:p>
            <a:pPr indent="0" marL="0">
              <a:buNone/>
            </a:pPr>
            <a:r>
              <a:rPr lang="en-US" sz="1300" b="1" dirty="0">
                <a:solidFill>
                  <a:srgbClr val="1F2A20"/>
                </a:solidFill>
                <a:latin typeface="Calibri" pitchFamily="34" charset="0"/>
                <a:ea typeface="Calibri" pitchFamily="34" charset="-122"/>
                <a:cs typeface="Calibri" pitchFamily="34" charset="-120"/>
              </a:rPr>
              <a:t>Mistral</a:t>
            </a:r>
            <a:endParaRPr lang="en-US" sz="1300" dirty="0"/>
          </a:p>
        </p:txBody>
      </p:sp>
      <p:sp>
        <p:nvSpPr>
          <p:cNvPr id="23" name="Text 17"/>
          <p:cNvSpPr/>
          <p:nvPr/>
        </p:nvSpPr>
        <p:spPr>
          <a:xfrm>
            <a:off x="4892040" y="3840480"/>
            <a:ext cx="3520440" cy="822960"/>
          </a:xfrm>
          <a:prstGeom prst="rect">
            <a:avLst/>
          </a:prstGeom>
          <a:noFill/>
          <a:ln/>
        </p:spPr>
        <p:txBody>
          <a:bodyPr wrap="square" lIns="0" tIns="0" rIns="0" bIns="0" rtlCol="0" anchor="ctr"/>
          <a:lstStyle/>
          <a:p>
            <a:pPr indent="0" marL="0">
              <a:buNone/>
            </a:pPr>
            <a:r>
              <a:rPr lang="en-US" sz="1000" dirty="0">
                <a:solidFill>
                  <a:srgbClr val="5C6B5A"/>
                </a:solidFill>
                <a:latin typeface="Calibri" pitchFamily="34" charset="0"/>
                <a:ea typeface="Calibri" pitchFamily="34" charset="-122"/>
                <a:cs typeface="Calibri" pitchFamily="34" charset="-120"/>
              </a:rPr>
              <a:t>Europe's champion. Mistral Large 3 is the largest fully open (Apache 2.0) model from a Western lab. Free casual use via its Vibe chat app.</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MODULE 4 · THE OPEN-WEIGHTS WAVE</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2600" b="1" dirty="0">
                <a:solidFill>
                  <a:srgbClr val="1F2A20"/>
                </a:solidFill>
                <a:latin typeface="Cambria" pitchFamily="34" charset="0"/>
                <a:ea typeface="Cambria" pitchFamily="34" charset="-122"/>
                <a:cs typeface="Cambria" pitchFamily="34" charset="-120"/>
              </a:rPr>
              <a:t>The strongest free models now come from open labs</a:t>
            </a:r>
            <a:endParaRPr lang="en-US" sz="2600" dirty="0"/>
          </a:p>
        </p:txBody>
      </p:sp>
      <p:sp>
        <p:nvSpPr>
          <p:cNvPr id="4" name="Shape 2"/>
          <p:cNvSpPr/>
          <p:nvPr/>
        </p:nvSpPr>
        <p:spPr>
          <a:xfrm>
            <a:off x="548640" y="1554480"/>
            <a:ext cx="2606040" cy="2286000"/>
          </a:xfrm>
          <a:prstGeom prst="roundRect">
            <a:avLst>
              <a:gd name="adj" fmla="val 2800"/>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5" name="Text 3"/>
          <p:cNvSpPr/>
          <p:nvPr/>
        </p:nvSpPr>
        <p:spPr>
          <a:xfrm>
            <a:off x="749808" y="1737360"/>
            <a:ext cx="2194560" cy="320040"/>
          </a:xfrm>
          <a:prstGeom prst="rect">
            <a:avLst/>
          </a:prstGeom>
          <a:noFill/>
          <a:ln/>
        </p:spPr>
        <p:txBody>
          <a:bodyPr wrap="square" lIns="0" tIns="0" rIns="0" bIns="0" rtlCol="0" anchor="ctr"/>
          <a:lstStyle/>
          <a:p>
            <a:pPr indent="0" marL="0">
              <a:buNone/>
            </a:pPr>
            <a:r>
              <a:rPr lang="en-US" sz="1400" b="1" dirty="0">
                <a:solidFill>
                  <a:srgbClr val="2C5F2D"/>
                </a:solidFill>
                <a:latin typeface="Calibri" pitchFamily="34" charset="0"/>
                <a:ea typeface="Calibri" pitchFamily="34" charset="-122"/>
                <a:cs typeface="Calibri" pitchFamily="34" charset="-120"/>
              </a:rPr>
              <a:t>Qwen 3.5 / 3.6</a:t>
            </a:r>
            <a:endParaRPr lang="en-US" sz="1400" dirty="0"/>
          </a:p>
        </p:txBody>
      </p:sp>
      <p:sp>
        <p:nvSpPr>
          <p:cNvPr id="6" name="Text 4"/>
          <p:cNvSpPr/>
          <p:nvPr/>
        </p:nvSpPr>
        <p:spPr>
          <a:xfrm>
            <a:off x="749808" y="2084832"/>
            <a:ext cx="2194560" cy="274320"/>
          </a:xfrm>
          <a:prstGeom prst="rect">
            <a:avLst/>
          </a:prstGeom>
          <a:noFill/>
          <a:ln/>
        </p:spPr>
        <p:txBody>
          <a:bodyPr wrap="square" lIns="0" tIns="0" rIns="0" bIns="0" rtlCol="0" anchor="ctr"/>
          <a:lstStyle/>
          <a:p>
            <a:pPr indent="0" marL="0">
              <a:buNone/>
            </a:pPr>
            <a:r>
              <a:rPr lang="en-US" sz="1050" b="1" dirty="0">
                <a:solidFill>
                  <a:srgbClr val="5C6B5A"/>
                </a:solidFill>
                <a:latin typeface="Calibri" pitchFamily="34" charset="0"/>
                <a:ea typeface="Calibri" pitchFamily="34" charset="-122"/>
                <a:cs typeface="Calibri" pitchFamily="34" charset="-120"/>
              </a:rPr>
              <a:t>Alibaba</a:t>
            </a:r>
            <a:endParaRPr lang="en-US" sz="1050" dirty="0"/>
          </a:p>
        </p:txBody>
      </p:sp>
      <p:sp>
        <p:nvSpPr>
          <p:cNvPr id="7" name="Text 5"/>
          <p:cNvSpPr/>
          <p:nvPr/>
        </p:nvSpPr>
        <p:spPr>
          <a:xfrm>
            <a:off x="749808" y="2423160"/>
            <a:ext cx="2240280" cy="1280160"/>
          </a:xfrm>
          <a:prstGeom prst="rect">
            <a:avLst/>
          </a:prstGeom>
          <a:noFill/>
          <a:ln/>
        </p:spPr>
        <p:txBody>
          <a:bodyPr wrap="square" lIns="0" tIns="0" rIns="0" bIns="0" rtlCol="0" anchor="ctr"/>
          <a:lstStyle/>
          <a:p>
            <a:pPr indent="0" marL="0">
              <a:buNone/>
            </a:pPr>
            <a:r>
              <a:rPr lang="en-US" sz="1050" dirty="0">
                <a:solidFill>
                  <a:srgbClr val="5C6B5A"/>
                </a:solidFill>
                <a:latin typeface="Calibri" pitchFamily="34" charset="0"/>
                <a:ea typeface="Calibri" pitchFamily="34" charset="-122"/>
                <a:cs typeface="Calibri" pitchFamily="34" charset="-120"/>
              </a:rPr>
              <a:t>Open family in every size from 0.8B to 397B parameters. Excellent multilingual skills. Free chat and free weights.</a:t>
            </a:r>
            <a:endParaRPr lang="en-US" sz="1050" dirty="0"/>
          </a:p>
        </p:txBody>
      </p:sp>
      <p:sp>
        <p:nvSpPr>
          <p:cNvPr id="8" name="Shape 6"/>
          <p:cNvSpPr/>
          <p:nvPr/>
        </p:nvSpPr>
        <p:spPr>
          <a:xfrm>
            <a:off x="3291840" y="1554480"/>
            <a:ext cx="2606040" cy="2286000"/>
          </a:xfrm>
          <a:prstGeom prst="roundRect">
            <a:avLst>
              <a:gd name="adj" fmla="val 2800"/>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9" name="Text 7"/>
          <p:cNvSpPr/>
          <p:nvPr/>
        </p:nvSpPr>
        <p:spPr>
          <a:xfrm>
            <a:off x="3493008" y="1737360"/>
            <a:ext cx="2194560" cy="320040"/>
          </a:xfrm>
          <a:prstGeom prst="rect">
            <a:avLst/>
          </a:prstGeom>
          <a:noFill/>
          <a:ln/>
        </p:spPr>
        <p:txBody>
          <a:bodyPr wrap="square" lIns="0" tIns="0" rIns="0" bIns="0" rtlCol="0" anchor="ctr"/>
          <a:lstStyle/>
          <a:p>
            <a:pPr indent="0" marL="0">
              <a:buNone/>
            </a:pPr>
            <a:r>
              <a:rPr lang="en-US" sz="1400" b="1" dirty="0">
                <a:solidFill>
                  <a:srgbClr val="2C5F2D"/>
                </a:solidFill>
                <a:latin typeface="Calibri" pitchFamily="34" charset="0"/>
                <a:ea typeface="Calibri" pitchFamily="34" charset="-122"/>
                <a:cs typeface="Calibri" pitchFamily="34" charset="-120"/>
              </a:rPr>
              <a:t>Kimi K2.6</a:t>
            </a:r>
            <a:endParaRPr lang="en-US" sz="1400" dirty="0"/>
          </a:p>
        </p:txBody>
      </p:sp>
      <p:sp>
        <p:nvSpPr>
          <p:cNvPr id="10" name="Text 8"/>
          <p:cNvSpPr/>
          <p:nvPr/>
        </p:nvSpPr>
        <p:spPr>
          <a:xfrm>
            <a:off x="3493008" y="2084832"/>
            <a:ext cx="2194560" cy="274320"/>
          </a:xfrm>
          <a:prstGeom prst="rect">
            <a:avLst/>
          </a:prstGeom>
          <a:noFill/>
          <a:ln/>
        </p:spPr>
        <p:txBody>
          <a:bodyPr wrap="square" lIns="0" tIns="0" rIns="0" bIns="0" rtlCol="0" anchor="ctr"/>
          <a:lstStyle/>
          <a:p>
            <a:pPr indent="0" marL="0">
              <a:buNone/>
            </a:pPr>
            <a:r>
              <a:rPr lang="en-US" sz="1050" b="1" dirty="0">
                <a:solidFill>
                  <a:srgbClr val="5C6B5A"/>
                </a:solidFill>
                <a:latin typeface="Calibri" pitchFamily="34" charset="0"/>
                <a:ea typeface="Calibri" pitchFamily="34" charset="-122"/>
                <a:cs typeface="Calibri" pitchFamily="34" charset="-120"/>
              </a:rPr>
              <a:t>Moonshot AI</a:t>
            </a:r>
            <a:endParaRPr lang="en-US" sz="1050" dirty="0"/>
          </a:p>
        </p:txBody>
      </p:sp>
      <p:sp>
        <p:nvSpPr>
          <p:cNvPr id="11" name="Text 9"/>
          <p:cNvSpPr/>
          <p:nvPr/>
        </p:nvSpPr>
        <p:spPr>
          <a:xfrm>
            <a:off x="3493008" y="2423160"/>
            <a:ext cx="2240280" cy="1280160"/>
          </a:xfrm>
          <a:prstGeom prst="rect">
            <a:avLst/>
          </a:prstGeom>
          <a:noFill/>
          <a:ln/>
        </p:spPr>
        <p:txBody>
          <a:bodyPr wrap="square" lIns="0" tIns="0" rIns="0" bIns="0" rtlCol="0" anchor="ctr"/>
          <a:lstStyle/>
          <a:p>
            <a:pPr indent="0" marL="0">
              <a:buNone/>
            </a:pPr>
            <a:r>
              <a:rPr lang="en-US" sz="1050" dirty="0">
                <a:solidFill>
                  <a:srgbClr val="5C6B5A"/>
                </a:solidFill>
                <a:latin typeface="Calibri" pitchFamily="34" charset="0"/>
                <a:ea typeface="Calibri" pitchFamily="34" charset="-122"/>
                <a:cs typeface="Calibri" pitchFamily="34" charset="-120"/>
              </a:rPr>
              <a:t>Around a trillion parameters, open, and a favorite for agentic coding on a budget. Free chat at kimi.com.</a:t>
            </a:r>
            <a:endParaRPr lang="en-US" sz="1050" dirty="0"/>
          </a:p>
        </p:txBody>
      </p:sp>
      <p:sp>
        <p:nvSpPr>
          <p:cNvPr id="12" name="Shape 10"/>
          <p:cNvSpPr/>
          <p:nvPr/>
        </p:nvSpPr>
        <p:spPr>
          <a:xfrm>
            <a:off x="6035040" y="1554480"/>
            <a:ext cx="2606040" cy="2286000"/>
          </a:xfrm>
          <a:prstGeom prst="roundRect">
            <a:avLst>
              <a:gd name="adj" fmla="val 2800"/>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13" name="Text 11"/>
          <p:cNvSpPr/>
          <p:nvPr/>
        </p:nvSpPr>
        <p:spPr>
          <a:xfrm>
            <a:off x="6236208" y="1737360"/>
            <a:ext cx="2194560" cy="320040"/>
          </a:xfrm>
          <a:prstGeom prst="rect">
            <a:avLst/>
          </a:prstGeom>
          <a:noFill/>
          <a:ln/>
        </p:spPr>
        <p:txBody>
          <a:bodyPr wrap="square" lIns="0" tIns="0" rIns="0" bIns="0" rtlCol="0" anchor="ctr"/>
          <a:lstStyle/>
          <a:p>
            <a:pPr indent="0" marL="0">
              <a:buNone/>
            </a:pPr>
            <a:r>
              <a:rPr lang="en-US" sz="1400" b="1" dirty="0">
                <a:solidFill>
                  <a:srgbClr val="2C5F2D"/>
                </a:solidFill>
                <a:latin typeface="Calibri" pitchFamily="34" charset="0"/>
                <a:ea typeface="Calibri" pitchFamily="34" charset="-122"/>
                <a:cs typeface="Calibri" pitchFamily="34" charset="-120"/>
              </a:rPr>
              <a:t>GLM-5.2</a:t>
            </a:r>
            <a:endParaRPr lang="en-US" sz="1400" dirty="0"/>
          </a:p>
        </p:txBody>
      </p:sp>
      <p:sp>
        <p:nvSpPr>
          <p:cNvPr id="14" name="Text 12"/>
          <p:cNvSpPr/>
          <p:nvPr/>
        </p:nvSpPr>
        <p:spPr>
          <a:xfrm>
            <a:off x="6236208" y="2084832"/>
            <a:ext cx="2194560" cy="274320"/>
          </a:xfrm>
          <a:prstGeom prst="rect">
            <a:avLst/>
          </a:prstGeom>
          <a:noFill/>
          <a:ln/>
        </p:spPr>
        <p:txBody>
          <a:bodyPr wrap="square" lIns="0" tIns="0" rIns="0" bIns="0" rtlCol="0" anchor="ctr"/>
          <a:lstStyle/>
          <a:p>
            <a:pPr indent="0" marL="0">
              <a:buNone/>
            </a:pPr>
            <a:r>
              <a:rPr lang="en-US" sz="1050" b="1" dirty="0">
                <a:solidFill>
                  <a:srgbClr val="5C6B5A"/>
                </a:solidFill>
                <a:latin typeface="Calibri" pitchFamily="34" charset="0"/>
                <a:ea typeface="Calibri" pitchFamily="34" charset="-122"/>
                <a:cs typeface="Calibri" pitchFamily="34" charset="-120"/>
              </a:rPr>
              <a:t>Z.ai</a:t>
            </a:r>
            <a:endParaRPr lang="en-US" sz="1050" dirty="0"/>
          </a:p>
        </p:txBody>
      </p:sp>
      <p:sp>
        <p:nvSpPr>
          <p:cNvPr id="15" name="Text 13"/>
          <p:cNvSpPr/>
          <p:nvPr/>
        </p:nvSpPr>
        <p:spPr>
          <a:xfrm>
            <a:off x="6236208" y="2423160"/>
            <a:ext cx="2240280" cy="1280160"/>
          </a:xfrm>
          <a:prstGeom prst="rect">
            <a:avLst/>
          </a:prstGeom>
          <a:noFill/>
          <a:ln/>
        </p:spPr>
        <p:txBody>
          <a:bodyPr wrap="square" lIns="0" tIns="0" rIns="0" bIns="0" rtlCol="0" anchor="ctr"/>
          <a:lstStyle/>
          <a:p>
            <a:pPr indent="0" marL="0">
              <a:buNone/>
            </a:pPr>
            <a:r>
              <a:rPr lang="en-US" sz="1050" dirty="0">
                <a:solidFill>
                  <a:srgbClr val="5C6B5A"/>
                </a:solidFill>
                <a:latin typeface="Calibri" pitchFamily="34" charset="0"/>
                <a:ea typeface="Calibri" pitchFamily="34" charset="-122"/>
                <a:cs typeface="Calibri" pitchFamily="34" charset="-120"/>
              </a:rPr>
              <a:t>MIT licensed with a million-token context, rivaling Western flagships on coding benchmarks. Free chat at chat.z.ai.</a:t>
            </a:r>
            <a:endParaRPr lang="en-US" sz="1050" dirty="0"/>
          </a:p>
        </p:txBody>
      </p:sp>
      <p:sp>
        <p:nvSpPr>
          <p:cNvPr id="16" name="Shape 14"/>
          <p:cNvSpPr/>
          <p:nvPr/>
        </p:nvSpPr>
        <p:spPr>
          <a:xfrm>
            <a:off x="548640" y="4069080"/>
            <a:ext cx="8046720" cy="731520"/>
          </a:xfrm>
          <a:prstGeom prst="roundRect">
            <a:avLst>
              <a:gd name="adj" fmla="val 8750"/>
            </a:avLst>
          </a:prstGeom>
          <a:solidFill>
            <a:srgbClr val="F0F5EC"/>
          </a:solidFill>
          <a:ln w="12700">
            <a:solidFill>
              <a:srgbClr val="DFE9D8"/>
            </a:solidFill>
            <a:prstDash val="solid"/>
          </a:ln>
        </p:spPr>
      </p:sp>
      <p:sp>
        <p:nvSpPr>
          <p:cNvPr id="17" name="Text 15"/>
          <p:cNvSpPr/>
          <p:nvPr/>
        </p:nvSpPr>
        <p:spPr>
          <a:xfrm>
            <a:off x="822960" y="4187952"/>
            <a:ext cx="7498080" cy="502920"/>
          </a:xfrm>
          <a:prstGeom prst="rect">
            <a:avLst/>
          </a:prstGeom>
          <a:noFill/>
          <a:ln/>
        </p:spPr>
        <p:txBody>
          <a:bodyPr wrap="square" lIns="0" tIns="0" rIns="0" bIns="0" rtlCol="0" anchor="ctr"/>
          <a:lstStyle/>
          <a:p>
            <a:pPr indent="0" marL="0">
              <a:buNone/>
            </a:pPr>
            <a:r>
              <a:rPr lang="en-US" sz="1100" b="1" dirty="0">
                <a:solidFill>
                  <a:srgbClr val="1F2A20"/>
                </a:solidFill>
                <a:latin typeface="Calibri" pitchFamily="34" charset="0"/>
                <a:ea typeface="Calibri" pitchFamily="34" charset="-122"/>
                <a:cs typeface="Calibri" pitchFamily="34" charset="-120"/>
              </a:rPr>
              <a:t>Worth knowing: </a:t>
            </a:r>
            <a:pPr indent="0" marL="0">
              <a:buNone/>
            </a:pPr>
            <a:r>
              <a:rPr lang="en-US" sz="1100" dirty="0">
                <a:solidFill>
                  <a:srgbClr val="5C6B5A"/>
                </a:solidFill>
                <a:latin typeface="Calibri" pitchFamily="34" charset="0"/>
                <a:ea typeface="Calibri" pitchFamily="34" charset="-122"/>
                <a:cs typeface="Calibri" pitchFamily="34" charset="-120"/>
              </a:rPr>
              <a:t>these labs are China-based. The models are world class and free, but chats on their hosted apps fall under Chinese data rules. For sensitive work, run the open weights locally instead.</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MODULE 4 · THE SCALE OF IT</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3100" b="1" dirty="0">
                <a:solidFill>
                  <a:srgbClr val="1F2A20"/>
                </a:solidFill>
                <a:latin typeface="Cambria" pitchFamily="34" charset="0"/>
                <a:ea typeface="Cambria" pitchFamily="34" charset="-122"/>
                <a:cs typeface="Cambria" pitchFamily="34" charset="-120"/>
              </a:rPr>
              <a:t>Four numbers from 2026</a:t>
            </a:r>
            <a:endParaRPr lang="en-US" sz="3100" dirty="0"/>
          </a:p>
        </p:txBody>
      </p:sp>
      <p:sp>
        <p:nvSpPr>
          <p:cNvPr id="4" name="Shape 2"/>
          <p:cNvSpPr/>
          <p:nvPr/>
        </p:nvSpPr>
        <p:spPr>
          <a:xfrm>
            <a:off x="548640" y="1600200"/>
            <a:ext cx="3886200" cy="1463040"/>
          </a:xfrm>
          <a:prstGeom prst="roundRect">
            <a:avLst>
              <a:gd name="adj" fmla="val 4375"/>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5" name="Text 3"/>
          <p:cNvSpPr/>
          <p:nvPr/>
        </p:nvSpPr>
        <p:spPr>
          <a:xfrm>
            <a:off x="777240" y="1764792"/>
            <a:ext cx="3383280" cy="685800"/>
          </a:xfrm>
          <a:prstGeom prst="rect">
            <a:avLst/>
          </a:prstGeom>
          <a:noFill/>
          <a:ln/>
        </p:spPr>
        <p:txBody>
          <a:bodyPr wrap="square" lIns="0" tIns="0" rIns="0" bIns="0" rtlCol="0" anchor="ctr"/>
          <a:lstStyle/>
          <a:p>
            <a:pPr indent="0" marL="0">
              <a:buNone/>
            </a:pPr>
            <a:r>
              <a:rPr lang="en-US" sz="3800" b="1" dirty="0">
                <a:solidFill>
                  <a:srgbClr val="D97706"/>
                </a:solidFill>
                <a:latin typeface="Cambria" pitchFamily="34" charset="0"/>
                <a:ea typeface="Cambria" pitchFamily="34" charset="-122"/>
                <a:cs typeface="Cambria" pitchFamily="34" charset="-120"/>
              </a:rPr>
              <a:t>1B+</a:t>
            </a:r>
            <a:endParaRPr lang="en-US" sz="3800" dirty="0"/>
          </a:p>
        </p:txBody>
      </p:sp>
      <p:sp>
        <p:nvSpPr>
          <p:cNvPr id="6" name="Text 4"/>
          <p:cNvSpPr/>
          <p:nvPr/>
        </p:nvSpPr>
        <p:spPr>
          <a:xfrm>
            <a:off x="777240" y="2496312"/>
            <a:ext cx="3429000" cy="502920"/>
          </a:xfrm>
          <a:prstGeom prst="rect">
            <a:avLst/>
          </a:prstGeom>
          <a:noFill/>
          <a:ln/>
        </p:spPr>
        <p:txBody>
          <a:bodyPr wrap="square" lIns="0" tIns="0" rIns="0" bIns="0" rtlCol="0" anchor="ctr"/>
          <a:lstStyle/>
          <a:p>
            <a:pPr indent="0" marL="0">
              <a:buNone/>
            </a:pPr>
            <a:r>
              <a:rPr lang="en-US" sz="1050" dirty="0">
                <a:solidFill>
                  <a:srgbClr val="5C6B5A"/>
                </a:solidFill>
                <a:latin typeface="Calibri" pitchFamily="34" charset="0"/>
                <a:ea typeface="Calibri" pitchFamily="34" charset="-122"/>
                <a:cs typeface="Calibri" pitchFamily="34" charset="-120"/>
              </a:rPr>
              <a:t>monthly ChatGPT app users by June 2026, the fastest app ever to get there</a:t>
            </a:r>
            <a:endParaRPr lang="en-US" sz="1050" dirty="0"/>
          </a:p>
        </p:txBody>
      </p:sp>
      <p:sp>
        <p:nvSpPr>
          <p:cNvPr id="7" name="Shape 5"/>
          <p:cNvSpPr/>
          <p:nvPr/>
        </p:nvSpPr>
        <p:spPr>
          <a:xfrm>
            <a:off x="4709160" y="1600200"/>
            <a:ext cx="3886200" cy="1463040"/>
          </a:xfrm>
          <a:prstGeom prst="roundRect">
            <a:avLst>
              <a:gd name="adj" fmla="val 4375"/>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8" name="Text 6"/>
          <p:cNvSpPr/>
          <p:nvPr/>
        </p:nvSpPr>
        <p:spPr>
          <a:xfrm>
            <a:off x="4937760" y="1764792"/>
            <a:ext cx="3383280" cy="685800"/>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900M</a:t>
            </a:r>
            <a:endParaRPr lang="en-US" sz="3800" dirty="0"/>
          </a:p>
        </p:txBody>
      </p:sp>
      <p:sp>
        <p:nvSpPr>
          <p:cNvPr id="9" name="Text 7"/>
          <p:cNvSpPr/>
          <p:nvPr/>
        </p:nvSpPr>
        <p:spPr>
          <a:xfrm>
            <a:off x="4937760" y="2496312"/>
            <a:ext cx="3429000" cy="502920"/>
          </a:xfrm>
          <a:prstGeom prst="rect">
            <a:avLst/>
          </a:prstGeom>
          <a:noFill/>
          <a:ln/>
        </p:spPr>
        <p:txBody>
          <a:bodyPr wrap="square" lIns="0" tIns="0" rIns="0" bIns="0" rtlCol="0" anchor="ctr"/>
          <a:lstStyle/>
          <a:p>
            <a:pPr indent="0" marL="0">
              <a:buNone/>
            </a:pPr>
            <a:r>
              <a:rPr lang="en-US" sz="1050" dirty="0">
                <a:solidFill>
                  <a:srgbClr val="5C6B5A"/>
                </a:solidFill>
                <a:latin typeface="Calibri" pitchFamily="34" charset="0"/>
                <a:ea typeface="Calibri" pitchFamily="34" charset="-122"/>
                <a:cs typeface="Calibri" pitchFamily="34" charset="-120"/>
              </a:rPr>
              <a:t>monthly users of Google's Gemini app by May 2026</a:t>
            </a:r>
            <a:endParaRPr lang="en-US" sz="1050" dirty="0"/>
          </a:p>
        </p:txBody>
      </p:sp>
      <p:sp>
        <p:nvSpPr>
          <p:cNvPr id="10" name="Shape 8"/>
          <p:cNvSpPr/>
          <p:nvPr/>
        </p:nvSpPr>
        <p:spPr>
          <a:xfrm>
            <a:off x="548640" y="3246120"/>
            <a:ext cx="3886200" cy="1463040"/>
          </a:xfrm>
          <a:prstGeom prst="roundRect">
            <a:avLst>
              <a:gd name="adj" fmla="val 4375"/>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11" name="Text 9"/>
          <p:cNvSpPr/>
          <p:nvPr/>
        </p:nvSpPr>
        <p:spPr>
          <a:xfrm>
            <a:off x="777240" y="3410712"/>
            <a:ext cx="3383280" cy="685800"/>
          </a:xfrm>
          <a:prstGeom prst="rect">
            <a:avLst/>
          </a:prstGeom>
          <a:noFill/>
          <a:ln/>
        </p:spPr>
        <p:txBody>
          <a:bodyPr wrap="square" lIns="0" tIns="0" rIns="0" bIns="0" rtlCol="0" anchor="ctr"/>
          <a:lstStyle/>
          <a:p>
            <a:pPr indent="0" marL="0">
              <a:buNone/>
            </a:pPr>
            <a:r>
              <a:rPr lang="en-US" sz="3800" b="1" dirty="0">
                <a:solidFill>
                  <a:srgbClr val="D97706"/>
                </a:solidFill>
                <a:latin typeface="Cambria" pitchFamily="34" charset="0"/>
                <a:ea typeface="Cambria" pitchFamily="34" charset="-122"/>
                <a:cs typeface="Cambria" pitchFamily="34" charset="-120"/>
              </a:rPr>
              <a:t>5B</a:t>
            </a:r>
            <a:endParaRPr lang="en-US" sz="3800" dirty="0"/>
          </a:p>
        </p:txBody>
      </p:sp>
      <p:sp>
        <p:nvSpPr>
          <p:cNvPr id="12" name="Text 10"/>
          <p:cNvSpPr/>
          <p:nvPr/>
        </p:nvSpPr>
        <p:spPr>
          <a:xfrm>
            <a:off x="777240" y="4142232"/>
            <a:ext cx="3429000" cy="502920"/>
          </a:xfrm>
          <a:prstGeom prst="rect">
            <a:avLst/>
          </a:prstGeom>
          <a:noFill/>
          <a:ln/>
        </p:spPr>
        <p:txBody>
          <a:bodyPr wrap="square" lIns="0" tIns="0" rIns="0" bIns="0" rtlCol="0" anchor="ctr"/>
          <a:lstStyle/>
          <a:p>
            <a:pPr indent="0" marL="0">
              <a:buNone/>
            </a:pPr>
            <a:r>
              <a:rPr lang="en-US" sz="1050" dirty="0">
                <a:solidFill>
                  <a:srgbClr val="5C6B5A"/>
                </a:solidFill>
                <a:latin typeface="Calibri" pitchFamily="34" charset="0"/>
                <a:ea typeface="Calibri" pitchFamily="34" charset="-122"/>
                <a:cs typeface="Calibri" pitchFamily="34" charset="-120"/>
              </a:rPr>
              <a:t>images created with Gemini's Nano Banana tool in about two months</a:t>
            </a:r>
            <a:endParaRPr lang="en-US" sz="1050" dirty="0"/>
          </a:p>
        </p:txBody>
      </p:sp>
      <p:sp>
        <p:nvSpPr>
          <p:cNvPr id="13" name="Shape 11"/>
          <p:cNvSpPr/>
          <p:nvPr/>
        </p:nvSpPr>
        <p:spPr>
          <a:xfrm>
            <a:off x="4709160" y="3246120"/>
            <a:ext cx="3886200" cy="1463040"/>
          </a:xfrm>
          <a:prstGeom prst="roundRect">
            <a:avLst>
              <a:gd name="adj" fmla="val 4375"/>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14" name="Text 12"/>
          <p:cNvSpPr/>
          <p:nvPr/>
        </p:nvSpPr>
        <p:spPr>
          <a:xfrm>
            <a:off x="4937760" y="3410712"/>
            <a:ext cx="3383280" cy="685800"/>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$965B</a:t>
            </a:r>
            <a:endParaRPr lang="en-US" sz="3800" dirty="0"/>
          </a:p>
        </p:txBody>
      </p:sp>
      <p:sp>
        <p:nvSpPr>
          <p:cNvPr id="15" name="Text 13"/>
          <p:cNvSpPr/>
          <p:nvPr/>
        </p:nvSpPr>
        <p:spPr>
          <a:xfrm>
            <a:off x="4937760" y="4142232"/>
            <a:ext cx="3429000" cy="502920"/>
          </a:xfrm>
          <a:prstGeom prst="rect">
            <a:avLst/>
          </a:prstGeom>
          <a:noFill/>
          <a:ln/>
        </p:spPr>
        <p:txBody>
          <a:bodyPr wrap="square" lIns="0" tIns="0" rIns="0" bIns="0" rtlCol="0" anchor="ctr"/>
          <a:lstStyle/>
          <a:p>
            <a:pPr indent="0" marL="0">
              <a:buNone/>
            </a:pPr>
            <a:r>
              <a:rPr lang="en-US" sz="1050" dirty="0">
                <a:solidFill>
                  <a:srgbClr val="5C6B5A"/>
                </a:solidFill>
                <a:latin typeface="Calibri" pitchFamily="34" charset="0"/>
                <a:ea typeface="Calibri" pitchFamily="34" charset="-122"/>
                <a:cs typeface="Calibri" pitchFamily="34" charset="-120"/>
              </a:rPr>
              <a:t>Anthropic's May 2026 valuation, briefly the highest of any AI lab</a:t>
            </a:r>
            <a:endParaRPr lang="en-US" sz="1050" dirty="0"/>
          </a:p>
        </p:txBody>
      </p:sp>
      <p:sp>
        <p:nvSpPr>
          <p:cNvPr id="16" name="Text 14"/>
          <p:cNvSpPr/>
          <p:nvPr/>
        </p:nvSpPr>
        <p:spPr>
          <a:xfrm>
            <a:off x="548640" y="4800600"/>
            <a:ext cx="8046720" cy="274320"/>
          </a:xfrm>
          <a:prstGeom prst="rect">
            <a:avLst/>
          </a:prstGeom>
          <a:noFill/>
          <a:ln/>
        </p:spPr>
        <p:txBody>
          <a:bodyPr wrap="square" lIns="0" tIns="0" rIns="0" bIns="0" rtlCol="0" anchor="ctr"/>
          <a:lstStyle/>
          <a:p>
            <a:pPr indent="0" marL="0">
              <a:buNone/>
            </a:pPr>
            <a:r>
              <a:rPr lang="en-US" sz="1000" i="1" dirty="0">
                <a:solidFill>
                  <a:srgbClr val="5C6B5A"/>
                </a:solidFill>
                <a:latin typeface="Calibri" pitchFamily="34" charset="0"/>
                <a:ea typeface="Calibri" pitchFamily="34" charset="-122"/>
                <a:cs typeface="Calibri" pitchFamily="34" charset="-120"/>
              </a:rPr>
              <a:t>Sources and dates for every figure are on the course resources page.</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MODULE 4 · OPEN WEIGHTS, YOUR MACHINE</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2600" b="1" dirty="0">
                <a:solidFill>
                  <a:srgbClr val="1F2A20"/>
                </a:solidFill>
                <a:latin typeface="Cambria" pitchFamily="34" charset="0"/>
                <a:ea typeface="Cambria" pitchFamily="34" charset="-122"/>
                <a:cs typeface="Cambria" pitchFamily="34" charset="-120"/>
              </a:rPr>
              <a:t>You can run a real AI model on your own computer</a:t>
            </a:r>
            <a:endParaRPr lang="en-US" sz="2600" dirty="0"/>
          </a:p>
        </p:txBody>
      </p:sp>
      <p:sp>
        <p:nvSpPr>
          <p:cNvPr id="4" name="Shape 2"/>
          <p:cNvSpPr/>
          <p:nvPr/>
        </p:nvSpPr>
        <p:spPr>
          <a:xfrm>
            <a:off x="548640" y="1554480"/>
            <a:ext cx="420624" cy="420624"/>
          </a:xfrm>
          <a:prstGeom prst="ellipse">
            <a:avLst/>
          </a:prstGeom>
          <a:solidFill>
            <a:srgbClr val="F0F5EC"/>
          </a:solidFill>
          <a:ln/>
        </p:spPr>
      </p:sp>
      <p:pic>
        <p:nvPicPr>
          <p:cNvPr id="5" name="Image 0" descr="preencoded.png">    </p:cNvPr>
          <p:cNvPicPr>
            <a:picLocks noChangeAspect="1"/>
          </p:cNvPicPr>
          <p:nvPr/>
        </p:nvPicPr>
        <p:blipFill>
          <a:blip r:embed="rId1"/>
          <a:stretch>
            <a:fillRect/>
          </a:stretch>
        </p:blipFill>
        <p:spPr>
          <a:xfrm>
            <a:off x="658002" y="1663842"/>
            <a:ext cx="201900" cy="201900"/>
          </a:xfrm>
          <a:prstGeom prst="rect">
            <a:avLst/>
          </a:prstGeom>
        </p:spPr>
      </p:pic>
      <p:sp>
        <p:nvSpPr>
          <p:cNvPr id="6" name="Text 3"/>
          <p:cNvSpPr/>
          <p:nvPr/>
        </p:nvSpPr>
        <p:spPr>
          <a:xfrm>
            <a:off x="1115568" y="1481328"/>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Install Ollama, pick a model</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Ollama is a free app for Windows, Mac, and Linux that downloads and runs open models with one command.</a:t>
            </a:r>
            <a:endParaRPr lang="en-US" sz="1350" dirty="0"/>
          </a:p>
        </p:txBody>
      </p:sp>
      <p:sp>
        <p:nvSpPr>
          <p:cNvPr id="7" name="Shape 4"/>
          <p:cNvSpPr/>
          <p:nvPr/>
        </p:nvSpPr>
        <p:spPr>
          <a:xfrm>
            <a:off x="548640" y="2359152"/>
            <a:ext cx="420624" cy="420624"/>
          </a:xfrm>
          <a:prstGeom prst="ellipse">
            <a:avLst/>
          </a:prstGeom>
          <a:solidFill>
            <a:srgbClr val="F0F5EC"/>
          </a:solidFill>
          <a:ln/>
        </p:spPr>
      </p:sp>
      <p:pic>
        <p:nvPicPr>
          <p:cNvPr id="8" name="Image 1" descr="preencoded.png">    </p:cNvPr>
          <p:cNvPicPr>
            <a:picLocks noChangeAspect="1"/>
          </p:cNvPicPr>
          <p:nvPr/>
        </p:nvPicPr>
        <p:blipFill>
          <a:blip r:embed="rId2"/>
          <a:stretch>
            <a:fillRect/>
          </a:stretch>
        </p:blipFill>
        <p:spPr>
          <a:xfrm>
            <a:off x="658002" y="2468514"/>
            <a:ext cx="201900" cy="201900"/>
          </a:xfrm>
          <a:prstGeom prst="rect">
            <a:avLst/>
          </a:prstGeom>
        </p:spPr>
      </p:pic>
      <p:sp>
        <p:nvSpPr>
          <p:cNvPr id="9" name="Text 5"/>
          <p:cNvSpPr/>
          <p:nvPr/>
        </p:nvSpPr>
        <p:spPr>
          <a:xfrm>
            <a:off x="1115568" y="2286000"/>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Everything stays local</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No internet needed after download. Nothing you type leaves your machine. Cost: zero, forever.</a:t>
            </a:r>
            <a:endParaRPr lang="en-US" sz="1350" dirty="0"/>
          </a:p>
        </p:txBody>
      </p:sp>
      <p:sp>
        <p:nvSpPr>
          <p:cNvPr id="10" name="Shape 6"/>
          <p:cNvSpPr/>
          <p:nvPr/>
        </p:nvSpPr>
        <p:spPr>
          <a:xfrm>
            <a:off x="548640" y="3163824"/>
            <a:ext cx="420624" cy="420624"/>
          </a:xfrm>
          <a:prstGeom prst="ellipse">
            <a:avLst/>
          </a:prstGeom>
          <a:solidFill>
            <a:srgbClr val="F0F5EC"/>
          </a:solidFill>
          <a:ln/>
        </p:spPr>
      </p:sp>
      <p:pic>
        <p:nvPicPr>
          <p:cNvPr id="11" name="Image 2" descr="preencoded.png">    </p:cNvPr>
          <p:cNvPicPr>
            <a:picLocks noChangeAspect="1"/>
          </p:cNvPicPr>
          <p:nvPr/>
        </p:nvPicPr>
        <p:blipFill>
          <a:blip r:embed="rId3"/>
          <a:stretch>
            <a:fillRect/>
          </a:stretch>
        </p:blipFill>
        <p:spPr>
          <a:xfrm>
            <a:off x="658002" y="3273186"/>
            <a:ext cx="201900" cy="201900"/>
          </a:xfrm>
          <a:prstGeom prst="rect">
            <a:avLst/>
          </a:prstGeom>
        </p:spPr>
      </p:pic>
      <p:sp>
        <p:nvSpPr>
          <p:cNvPr id="12" name="Text 7"/>
          <p:cNvSpPr/>
          <p:nvPr/>
        </p:nvSpPr>
        <p:spPr>
          <a:xfrm>
            <a:off x="1115568" y="3090672"/>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Small models got good</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Qwen3 4B or 8B suits most laptops. Gemma 3 and Phi-4-mini shine on lighter hardware.</a:t>
            </a:r>
            <a:endParaRPr lang="en-US" sz="1350" dirty="0"/>
          </a:p>
        </p:txBody>
      </p:sp>
      <p:sp>
        <p:nvSpPr>
          <p:cNvPr id="13" name="Shape 8"/>
          <p:cNvSpPr/>
          <p:nvPr/>
        </p:nvSpPr>
        <p:spPr>
          <a:xfrm>
            <a:off x="548640" y="4023360"/>
            <a:ext cx="8046720" cy="731520"/>
          </a:xfrm>
          <a:prstGeom prst="roundRect">
            <a:avLst>
              <a:gd name="adj" fmla="val 8750"/>
            </a:avLst>
          </a:prstGeom>
          <a:solidFill>
            <a:srgbClr val="F0F5EC"/>
          </a:solidFill>
          <a:ln w="12700">
            <a:solidFill>
              <a:srgbClr val="DFE9D8"/>
            </a:solidFill>
            <a:prstDash val="solid"/>
          </a:ln>
        </p:spPr>
      </p:sp>
      <p:sp>
        <p:nvSpPr>
          <p:cNvPr id="14" name="Shape 9"/>
          <p:cNvSpPr/>
          <p:nvPr/>
        </p:nvSpPr>
        <p:spPr>
          <a:xfrm>
            <a:off x="777240" y="4160520"/>
            <a:ext cx="438912" cy="438912"/>
          </a:xfrm>
          <a:prstGeom prst="ellipse">
            <a:avLst/>
          </a:prstGeom>
          <a:solidFill>
            <a:srgbClr val="FFFFFF"/>
          </a:solidFill>
          <a:ln/>
        </p:spPr>
      </p:sp>
      <p:pic>
        <p:nvPicPr>
          <p:cNvPr id="15" name="Image 3" descr="preencoded.png">    </p:cNvPr>
          <p:cNvPicPr>
            <a:picLocks noChangeAspect="1"/>
          </p:cNvPicPr>
          <p:nvPr/>
        </p:nvPicPr>
        <p:blipFill>
          <a:blip r:embed="rId4"/>
          <a:stretch>
            <a:fillRect/>
          </a:stretch>
        </p:blipFill>
        <p:spPr>
          <a:xfrm>
            <a:off x="891357" y="4274637"/>
            <a:ext cx="210678" cy="210678"/>
          </a:xfrm>
          <a:prstGeom prst="rect">
            <a:avLst/>
          </a:prstGeom>
        </p:spPr>
      </p:pic>
      <p:sp>
        <p:nvSpPr>
          <p:cNvPr id="16" name="Text 10"/>
          <p:cNvSpPr/>
          <p:nvPr/>
        </p:nvSpPr>
        <p:spPr>
          <a:xfrm>
            <a:off x="1371600" y="4224528"/>
            <a:ext cx="7040880" cy="457200"/>
          </a:xfrm>
          <a:prstGeom prst="rect">
            <a:avLst/>
          </a:prstGeom>
          <a:noFill/>
          <a:ln/>
        </p:spPr>
        <p:txBody>
          <a:bodyPr wrap="square" lIns="0" tIns="0" rIns="0" bIns="0" rtlCol="0" anchor="ctr"/>
          <a:lstStyle/>
          <a:p>
            <a:pPr indent="0" marL="0">
              <a:buNone/>
            </a:pPr>
            <a:r>
              <a:rPr lang="en-US" sz="1150" b="1" dirty="0">
                <a:solidFill>
                  <a:srgbClr val="1F2A20"/>
                </a:solidFill>
                <a:latin typeface="Calibri" pitchFamily="34" charset="0"/>
                <a:ea typeface="Calibri" pitchFamily="34" charset="-122"/>
                <a:cs typeface="Calibri" pitchFamily="34" charset="-120"/>
              </a:rPr>
              <a:t>Honest trade-off: </a:t>
            </a:r>
            <a:pPr indent="0" marL="0">
              <a:buNone/>
            </a:pPr>
            <a:r>
              <a:rPr lang="en-US" sz="1150" dirty="0">
                <a:solidFill>
                  <a:srgbClr val="5C6B5A"/>
                </a:solidFill>
                <a:latin typeface="Calibri" pitchFamily="34" charset="0"/>
                <a:ea typeface="Calibri" pitchFamily="34" charset="-122"/>
                <a:cs typeface="Calibri" pitchFamily="34" charset="-120"/>
              </a:rPr>
              <a:t>local models are noticeably weaker than the frontier. Perfect for private notes, drafts, and learning. Not for your hardest problems.</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F3D24"/>
        </a:solidFill>
      </p:bgPr>
    </p:bg>
    <p:spTree>
      <p:nvGrpSpPr>
        <p:cNvPr id="1" name=""/>
        <p:cNvGrpSpPr/>
        <p:nvPr/>
      </p:nvGrpSpPr>
      <p:grpSpPr>
        <a:xfrm>
          <a:off x="0" y="0"/>
          <a:ext cx="0" cy="0"/>
          <a:chOff x="0" y="0"/>
          <a:chExt cx="0" cy="0"/>
        </a:xfrm>
      </p:grpSpPr>
      <p:sp>
        <p:nvSpPr>
          <p:cNvPr id="2" name="Text 0"/>
          <p:cNvSpPr/>
          <p:nvPr/>
        </p:nvSpPr>
        <p:spPr>
          <a:xfrm>
            <a:off x="548640" y="1371600"/>
            <a:ext cx="8046720" cy="365760"/>
          </a:xfrm>
          <a:prstGeom prst="rect">
            <a:avLst/>
          </a:prstGeom>
          <a:noFill/>
          <a:ln/>
        </p:spPr>
        <p:txBody>
          <a:bodyPr wrap="square" lIns="0" tIns="0" rIns="0" bIns="0" rtlCol="0" anchor="ctr"/>
          <a:lstStyle/>
          <a:p>
            <a:pPr indent="0" marL="0">
              <a:buNone/>
            </a:pPr>
            <a:r>
              <a:rPr lang="en-US" sz="1400" b="1" spc="400" kern="0" dirty="0">
                <a:solidFill>
                  <a:srgbClr val="97BC62"/>
                </a:solidFill>
                <a:latin typeface="Calibri" pitchFamily="34" charset="0"/>
                <a:ea typeface="Calibri" pitchFamily="34" charset="-122"/>
                <a:cs typeface="Calibri" pitchFamily="34" charset="-120"/>
              </a:rPr>
              <a:t>MODULE 5</a:t>
            </a:r>
            <a:endParaRPr lang="en-US" sz="1400" dirty="0"/>
          </a:p>
        </p:txBody>
      </p:sp>
      <p:sp>
        <p:nvSpPr>
          <p:cNvPr id="3" name="Text 1"/>
          <p:cNvSpPr/>
          <p:nvPr/>
        </p:nvSpPr>
        <p:spPr>
          <a:xfrm>
            <a:off x="548640" y="1783080"/>
            <a:ext cx="804672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Which model for which job?</a:t>
            </a:r>
            <a:endParaRPr lang="en-US" sz="4000" dirty="0"/>
          </a:p>
        </p:txBody>
      </p:sp>
      <p:sp>
        <p:nvSpPr>
          <p:cNvPr id="4" name="Text 2"/>
          <p:cNvSpPr/>
          <p:nvPr/>
        </p:nvSpPr>
        <p:spPr>
          <a:xfrm>
            <a:off x="548640" y="2788920"/>
            <a:ext cx="6949440" cy="548640"/>
          </a:xfrm>
          <a:prstGeom prst="rect">
            <a:avLst/>
          </a:prstGeom>
          <a:noFill/>
          <a:ln/>
        </p:spPr>
        <p:txBody>
          <a:bodyPr wrap="square" lIns="0" tIns="0" rIns="0" bIns="0" rtlCol="0" anchor="ctr"/>
          <a:lstStyle/>
          <a:p>
            <a:pPr indent="0" marL="0">
              <a:buNone/>
            </a:pPr>
            <a:r>
              <a:rPr lang="en-US" sz="1700" i="1" dirty="0">
                <a:solidFill>
                  <a:srgbClr val="97BC62"/>
                </a:solidFill>
                <a:latin typeface="Cambria" pitchFamily="34" charset="0"/>
                <a:ea typeface="Cambria" pitchFamily="34" charset="-122"/>
                <a:cs typeface="Cambria" pitchFamily="34" charset="-120"/>
              </a:rPr>
              <a:t>There is no single best model. There is a best model for each job.</a:t>
            </a:r>
            <a:endParaRPr lang="en-US" sz="1700" dirty="0"/>
          </a:p>
        </p:txBody>
      </p:sp>
      <p:sp>
        <p:nvSpPr>
          <p:cNvPr id="5" name="Shape 3"/>
          <p:cNvSpPr/>
          <p:nvPr/>
        </p:nvSpPr>
        <p:spPr>
          <a:xfrm>
            <a:off x="7772400" y="3913632"/>
            <a:ext cx="868680" cy="868680"/>
          </a:xfrm>
          <a:prstGeom prst="ellipse">
            <a:avLst/>
          </a:prstGeom>
          <a:solidFill>
            <a:srgbClr val="FFFFFF"/>
          </a:solidFill>
          <a:ln/>
        </p:spPr>
      </p:sp>
      <p:pic>
        <p:nvPicPr>
          <p:cNvPr id="6" name="Image 0" descr="/sessions/jolly-optimistic-euler/build/logo-mark.png">    </p:cNvPr>
          <p:cNvPicPr>
            <a:picLocks noChangeAspect="1"/>
          </p:cNvPicPr>
          <p:nvPr/>
        </p:nvPicPr>
        <p:blipFill>
          <a:blip r:embed="rId1"/>
          <a:stretch>
            <a:fillRect/>
          </a:stretch>
        </p:blipFill>
        <p:spPr>
          <a:xfrm>
            <a:off x="7827264" y="3968496"/>
            <a:ext cx="758952" cy="758952"/>
          </a:xfrm>
          <a:prstGeom prst="rect">
            <a:avLst/>
          </a:prstGeom>
        </p:spPr>
      </p:pic>
      <p:sp>
        <p:nvSpPr>
          <p:cNvPr id="7" name="Text 4"/>
          <p:cNvSpPr/>
          <p:nvPr/>
        </p:nvSpPr>
        <p:spPr>
          <a:xfrm>
            <a:off x="548640" y="4617720"/>
            <a:ext cx="4572000" cy="274320"/>
          </a:xfrm>
          <a:prstGeom prst="rect">
            <a:avLst/>
          </a:prstGeom>
          <a:noFill/>
          <a:ln/>
        </p:spPr>
        <p:txBody>
          <a:bodyPr wrap="square" lIns="0" tIns="0" rIns="0" bIns="0" rtlCol="0" anchor="ctr"/>
          <a:lstStyle/>
          <a:p>
            <a:pPr indent="0" marL="0">
              <a:buNone/>
            </a:pPr>
            <a:r>
              <a:rPr lang="en-US" sz="1000" dirty="0">
                <a:solidFill>
                  <a:srgbClr val="7FA06F"/>
                </a:solidFill>
                <a:latin typeface="Calibri" pitchFamily="34" charset="0"/>
                <a:ea typeface="Calibri" pitchFamily="34" charset="-122"/>
                <a:cs typeface="Calibri" pitchFamily="34" charset="-120"/>
              </a:rPr>
              <a:t>Cambium Academy · Course 01</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MODULE 5 · CHEAT SHEET, PART 1</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3100" b="1" dirty="0">
                <a:solidFill>
                  <a:srgbClr val="1F2A20"/>
                </a:solidFill>
                <a:latin typeface="Cambria" pitchFamily="34" charset="0"/>
                <a:ea typeface="Cambria" pitchFamily="34" charset="-122"/>
                <a:cs typeface="Cambria" pitchFamily="34" charset="-120"/>
              </a:rPr>
              <a:t>Words and work</a:t>
            </a:r>
            <a:endParaRPr lang="en-US" sz="3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8046720" cy="914400"/>
        </p:xfrm>
        <a:graphic>
          <a:graphicData uri="http://schemas.openxmlformats.org/drawingml/2006/table">
            <a:tbl>
              <a:tblPr/>
              <a:tblGrid>
                <a:gridCol w="2286000"/>
                <a:gridCol w="2743200"/>
                <a:gridCol w="3017520"/>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Your job</a:t>
                      </a:r>
                      <a:endParaRPr lang="en-US" sz="120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2C5F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Reach for</a:t>
                      </a:r>
                      <a:endParaRPr lang="en-US" sz="120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2C5F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Also great</a:t>
                      </a:r>
                      <a:endParaRPr lang="en-US" sz="120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2C5F2D"/>
                    </a:solidFill>
                  </a:tcPr>
                </a:tc>
              </a:tr>
              <a:tr h="566928">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Everyday writing and Q&amp;A</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FFFFF"/>
                    </a:solidFill>
                  </a:tcPr>
                </a:tc>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ChatGPT, free tier</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FFFFF"/>
                    </a:solidFill>
                  </a:tcPr>
                </a:tc>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Claude Sonnet 5, often the more natural writer</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Coding</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7FAF4"/>
                    </a:solidFill>
                  </a:tcPr>
                </a:tc>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Claude with Claude Code</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7FAF4"/>
                    </a:solidFill>
                  </a:tcPr>
                </a:tc>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DeepSeek V4 or Kimi K2.6, strong and free</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7FAF4"/>
                    </a:solidFill>
                  </a:tcPr>
                </a:tc>
              </a:tr>
              <a:tr h="566928">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Research with sources</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FFFFF"/>
                    </a:solidFill>
                  </a:tcPr>
                </a:tc>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Perplexity, free, cites as it answers</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FFFFF"/>
                    </a:solidFill>
                  </a:tcPr>
                </a:tc>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Gemini Deep Research, about 5 free reports a month</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Long documents</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7FAF4"/>
                    </a:solidFill>
                  </a:tcPr>
                </a:tc>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Claude, million-token context</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7FAF4"/>
                    </a:solidFill>
                  </a:tcPr>
                </a:tc>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Gemini 3.1 Pro, 1M context plus Docs and Drive</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7FAF4"/>
                    </a:solidFill>
                  </a:tcPr>
                </a:tc>
              </a:tr>
            </a:tbl>
          </a:graphicData>
        </a:graphic>
      </p:graphicFrame>
      <p:sp>
        <p:nvSpPr>
          <p:cNvPr id="5" name="Text 2"/>
          <p:cNvSpPr/>
          <p:nvPr/>
        </p:nvSpPr>
        <p:spPr>
          <a:xfrm>
            <a:off x="548640" y="4526280"/>
            <a:ext cx="8046720" cy="274320"/>
          </a:xfrm>
          <a:prstGeom prst="rect">
            <a:avLst/>
          </a:prstGeom>
          <a:noFill/>
          <a:ln/>
        </p:spPr>
        <p:txBody>
          <a:bodyPr wrap="square" lIns="0" tIns="0" rIns="0" bIns="0" rtlCol="0" anchor="ctr"/>
          <a:lstStyle/>
          <a:p>
            <a:pPr indent="0" marL="0">
              <a:buNone/>
            </a:pPr>
            <a:r>
              <a:rPr lang="en-US" sz="1000" i="1" dirty="0">
                <a:solidFill>
                  <a:srgbClr val="5C6B5A"/>
                </a:solidFill>
                <a:latin typeface="Calibri" pitchFamily="34" charset="0"/>
                <a:ea typeface="Calibri" pitchFamily="34" charset="-122"/>
                <a:cs typeface="Calibri" pitchFamily="34" charset="-120"/>
              </a:rPr>
              <a:t>Snapshot: July 2026. Free tiers and model names shift often; the course page keeps the current version.</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MODULE 5 · CHEAT SHEET, PART 2</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2800" b="1" dirty="0">
                <a:solidFill>
                  <a:srgbClr val="1F2A20"/>
                </a:solidFill>
                <a:latin typeface="Cambria" pitchFamily="34" charset="0"/>
                <a:ea typeface="Cambria" pitchFamily="34" charset="-122"/>
                <a:cs typeface="Cambria" pitchFamily="34" charset="-120"/>
              </a:rPr>
              <a:t>Media, privacy, and the best free picks</a:t>
            </a:r>
            <a:endParaRPr lang="en-US" sz="28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8046720" cy="914400"/>
        </p:xfrm>
        <a:graphic>
          <a:graphicData uri="http://schemas.openxmlformats.org/drawingml/2006/table">
            <a:tbl>
              <a:tblPr/>
              <a:tblGrid>
                <a:gridCol w="2286000"/>
                <a:gridCol w="2743200"/>
                <a:gridCol w="3017520"/>
              </a:tblGrid>
              <a:tr h="53035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Your job</a:t>
                      </a:r>
                      <a:endParaRPr lang="en-US" sz="120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2C5F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Reach for</a:t>
                      </a:r>
                      <a:endParaRPr lang="en-US" sz="120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2C5F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Also great</a:t>
                      </a:r>
                      <a:endParaRPr lang="en-US" sz="120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2C5F2D"/>
                    </a:solidFill>
                  </a:tcPr>
                </a:tc>
              </a:tr>
              <a:tr h="530352">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Images</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FFFFF"/>
                    </a:solidFill>
                  </a:tcPr>
                </a:tc>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Gemini's Nano Banana, free</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FFFFF"/>
                    </a:solidFill>
                  </a:tcPr>
                </a:tc>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Midjourney, paid, for fine art control</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FFFFF"/>
                    </a:solidFill>
                  </a:tcPr>
                </a:tc>
              </a:tr>
              <a:tr h="530352">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Video clips</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7FAF4"/>
                    </a:solidFill>
                  </a:tcPr>
                </a:tc>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Google Veo 3.1, 4K with sound</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7FAF4"/>
                    </a:solidFill>
                  </a:tcPr>
                </a:tc>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Kling 3.0, cheaper per clip</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7FAF4"/>
                    </a:solidFill>
                  </a:tcPr>
                </a:tc>
              </a:tr>
              <a:tr h="530352">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Voice and speech</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FFFFF"/>
                    </a:solidFill>
                  </a:tcPr>
                </a:tc>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ElevenLabs, free tier</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FFFFF"/>
                    </a:solidFill>
                  </a:tcPr>
                </a:tc>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ChatGPT voice mode, simple and bundled</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FFFFF"/>
                    </a:solidFill>
                  </a:tcPr>
                </a:tc>
              </a:tr>
              <a:tr h="530352">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Private and offline</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7FAF4"/>
                    </a:solidFill>
                  </a:tcPr>
                </a:tc>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Qwen3 via Ollama, local</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7FAF4"/>
                    </a:solidFill>
                  </a:tcPr>
                </a:tc>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Gemma 3 or Phi-4-mini on light hardware</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7FAF4"/>
                    </a:solidFill>
                  </a:tcPr>
                </a:tc>
              </a:tr>
              <a:tr h="530352">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Best free overall</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FFFFF"/>
                    </a:solidFill>
                  </a:tcPr>
                </a:tc>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Gemini free tier, broadest features</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FFFFF"/>
                    </a:solidFill>
                  </a:tcPr>
                </a:tc>
                <a:tc>
                  <a:txBody>
                    <a:bodyPr/>
                    <a:lstStyle/>
                    <a:p>
                      <a:pPr indent="0" marL="0">
                        <a:buNone/>
                      </a:pPr>
                      <a:r>
                        <a:rPr lang="en-US" sz="1150" dirty="0">
                          <a:solidFill>
                            <a:srgbClr val="1F2A20"/>
                          </a:solidFill>
                          <a:latin typeface="Calibri" pitchFamily="34" charset="0"/>
                          <a:ea typeface="Calibri" pitchFamily="34" charset="-122"/>
                          <a:cs typeface="Calibri" pitchFamily="34" charset="-120"/>
                        </a:rPr>
                        <a:t>ChatGPT free tier, easiest to get help with</a:t>
                      </a:r>
                      <a:endParaRPr lang="en-US" sz="1150" dirty="0">
                        <a:latin typeface="Calibri" charset="0"/>
                        <a:ea typeface="Calibri" charset="0"/>
                        <a:cs typeface="Calibri" charset="0"/>
                      </a:endParaRPr>
                    </a:p>
                  </a:txBody>
                  <a:tcPr marL="82296" marR="82296" marT="82296" marB="82296" anchor="ctr">
                    <a:lnL w="9525" cap="flat" cmpd="sng" algn="ctr">
                      <a:solidFill>
                        <a:srgbClr val="DFE9D8"/>
                      </a:solidFill>
                      <a:prstDash val="solid"/>
                      <a:round/>
                      <a:headEnd type="none" w="med" len="med"/>
                      <a:tailEnd type="none" w="med" len="med"/>
                    </a:lnL>
                    <a:lnR w="9525" cap="flat" cmpd="sng" algn="ctr">
                      <a:solidFill>
                        <a:srgbClr val="DFE9D8"/>
                      </a:solidFill>
                      <a:prstDash val="solid"/>
                      <a:round/>
                      <a:headEnd type="none" w="med" len="med"/>
                      <a:tailEnd type="none" w="med" len="med"/>
                    </a:lnR>
                    <a:lnT w="9525" cap="flat" cmpd="sng" algn="ctr">
                      <a:solidFill>
                        <a:srgbClr val="DFE9D8"/>
                      </a:solidFill>
                      <a:prstDash val="solid"/>
                      <a:round/>
                      <a:headEnd type="none" w="med" len="med"/>
                      <a:tailEnd type="none" w="med" len="med"/>
                    </a:lnT>
                    <a:lnB w="9525" cap="flat" cmpd="sng" algn="ctr">
                      <a:solidFill>
                        <a:srgbClr val="DFE9D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MODULE 5 · A 10-SECOND DECISION</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3100" b="1" dirty="0">
                <a:solidFill>
                  <a:srgbClr val="1F2A20"/>
                </a:solidFill>
                <a:latin typeface="Cambria" pitchFamily="34" charset="0"/>
                <a:ea typeface="Cambria" pitchFamily="34" charset="-122"/>
                <a:cs typeface="Cambria" pitchFamily="34" charset="-120"/>
              </a:rPr>
              <a:t>Four questions beat any leaderboard</a:t>
            </a:r>
            <a:endParaRPr lang="en-US" sz="3100" dirty="0"/>
          </a:p>
        </p:txBody>
      </p:sp>
      <p:sp>
        <p:nvSpPr>
          <p:cNvPr id="4" name="Shape 2"/>
          <p:cNvSpPr/>
          <p:nvPr/>
        </p:nvSpPr>
        <p:spPr>
          <a:xfrm>
            <a:off x="548640" y="1554480"/>
            <a:ext cx="420624" cy="420624"/>
          </a:xfrm>
          <a:prstGeom prst="ellipse">
            <a:avLst/>
          </a:prstGeom>
          <a:solidFill>
            <a:srgbClr val="F0F5EC"/>
          </a:solidFill>
          <a:ln/>
        </p:spPr>
      </p:sp>
      <p:pic>
        <p:nvPicPr>
          <p:cNvPr id="5" name="Image 0" descr="preencoded.png">    </p:cNvPr>
          <p:cNvPicPr>
            <a:picLocks noChangeAspect="1"/>
          </p:cNvPicPr>
          <p:nvPr/>
        </p:nvPicPr>
        <p:blipFill>
          <a:blip r:embed="rId1"/>
          <a:stretch>
            <a:fillRect/>
          </a:stretch>
        </p:blipFill>
        <p:spPr>
          <a:xfrm>
            <a:off x="658002" y="1663842"/>
            <a:ext cx="201900" cy="201900"/>
          </a:xfrm>
          <a:prstGeom prst="rect">
            <a:avLst/>
          </a:prstGeom>
        </p:spPr>
      </p:pic>
      <p:sp>
        <p:nvSpPr>
          <p:cNvPr id="6" name="Text 3"/>
          <p:cNvSpPr/>
          <p:nvPr/>
        </p:nvSpPr>
        <p:spPr>
          <a:xfrm>
            <a:off x="1115568" y="1481328"/>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Is the data sensitive?</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Run an open model locally, or use a paid plan with training turned off.</a:t>
            </a:r>
            <a:endParaRPr lang="en-US" sz="1350" dirty="0"/>
          </a:p>
        </p:txBody>
      </p:sp>
      <p:sp>
        <p:nvSpPr>
          <p:cNvPr id="7" name="Shape 4"/>
          <p:cNvSpPr/>
          <p:nvPr/>
        </p:nvSpPr>
        <p:spPr>
          <a:xfrm>
            <a:off x="548640" y="2221992"/>
            <a:ext cx="420624" cy="420624"/>
          </a:xfrm>
          <a:prstGeom prst="ellipse">
            <a:avLst/>
          </a:prstGeom>
          <a:solidFill>
            <a:srgbClr val="F0F5EC"/>
          </a:solidFill>
          <a:ln/>
        </p:spPr>
      </p:sp>
      <p:pic>
        <p:nvPicPr>
          <p:cNvPr id="8" name="Image 1" descr="preencoded.png">    </p:cNvPr>
          <p:cNvPicPr>
            <a:picLocks noChangeAspect="1"/>
          </p:cNvPicPr>
          <p:nvPr/>
        </p:nvPicPr>
        <p:blipFill>
          <a:blip r:embed="rId2"/>
          <a:stretch>
            <a:fillRect/>
          </a:stretch>
        </p:blipFill>
        <p:spPr>
          <a:xfrm>
            <a:off x="658002" y="2331354"/>
            <a:ext cx="201900" cy="201900"/>
          </a:xfrm>
          <a:prstGeom prst="rect">
            <a:avLst/>
          </a:prstGeom>
        </p:spPr>
      </p:pic>
      <p:sp>
        <p:nvSpPr>
          <p:cNvPr id="9" name="Text 5"/>
          <p:cNvSpPr/>
          <p:nvPr/>
        </p:nvSpPr>
        <p:spPr>
          <a:xfrm>
            <a:off x="1115568" y="2148840"/>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Do you need checkable sources?</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Use a research tool that cites: Perplexity or Deep Research.</a:t>
            </a:r>
            <a:endParaRPr lang="en-US" sz="1350" dirty="0"/>
          </a:p>
        </p:txBody>
      </p:sp>
      <p:sp>
        <p:nvSpPr>
          <p:cNvPr id="10" name="Shape 6"/>
          <p:cNvSpPr/>
          <p:nvPr/>
        </p:nvSpPr>
        <p:spPr>
          <a:xfrm>
            <a:off x="548640" y="2889504"/>
            <a:ext cx="420624" cy="420624"/>
          </a:xfrm>
          <a:prstGeom prst="ellipse">
            <a:avLst/>
          </a:prstGeom>
          <a:solidFill>
            <a:srgbClr val="F0F5EC"/>
          </a:solidFill>
          <a:ln/>
        </p:spPr>
      </p:sp>
      <p:pic>
        <p:nvPicPr>
          <p:cNvPr id="11" name="Image 2" descr="preencoded.png">    </p:cNvPr>
          <p:cNvPicPr>
            <a:picLocks noChangeAspect="1"/>
          </p:cNvPicPr>
          <p:nvPr/>
        </p:nvPicPr>
        <p:blipFill>
          <a:blip r:embed="rId3"/>
          <a:stretch>
            <a:fillRect/>
          </a:stretch>
        </p:blipFill>
        <p:spPr>
          <a:xfrm>
            <a:off x="658002" y="2998866"/>
            <a:ext cx="201900" cy="201900"/>
          </a:xfrm>
          <a:prstGeom prst="rect">
            <a:avLst/>
          </a:prstGeom>
        </p:spPr>
      </p:pic>
      <p:sp>
        <p:nvSpPr>
          <p:cNvPr id="12" name="Text 7"/>
          <p:cNvSpPr/>
          <p:nvPr/>
        </p:nvSpPr>
        <p:spPr>
          <a:xfrm>
            <a:off x="1115568" y="2816352"/>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Is the input huge?</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Pick a million-token context model: Claude or Gemini.</a:t>
            </a:r>
            <a:endParaRPr lang="en-US" sz="1350" dirty="0"/>
          </a:p>
        </p:txBody>
      </p:sp>
      <p:sp>
        <p:nvSpPr>
          <p:cNvPr id="13" name="Shape 8"/>
          <p:cNvSpPr/>
          <p:nvPr/>
        </p:nvSpPr>
        <p:spPr>
          <a:xfrm>
            <a:off x="548640" y="3557016"/>
            <a:ext cx="420624" cy="420624"/>
          </a:xfrm>
          <a:prstGeom prst="ellipse">
            <a:avLst/>
          </a:prstGeom>
          <a:solidFill>
            <a:srgbClr val="F0F5EC"/>
          </a:solidFill>
          <a:ln/>
        </p:spPr>
      </p:sp>
      <p:pic>
        <p:nvPicPr>
          <p:cNvPr id="14" name="Image 3" descr="preencoded.png">    </p:cNvPr>
          <p:cNvPicPr>
            <a:picLocks noChangeAspect="1"/>
          </p:cNvPicPr>
          <p:nvPr/>
        </p:nvPicPr>
        <p:blipFill>
          <a:blip r:embed="rId4"/>
          <a:stretch>
            <a:fillRect/>
          </a:stretch>
        </p:blipFill>
        <p:spPr>
          <a:xfrm>
            <a:off x="658002" y="3666378"/>
            <a:ext cx="201900" cy="201900"/>
          </a:xfrm>
          <a:prstGeom prst="rect">
            <a:avLst/>
          </a:prstGeom>
        </p:spPr>
      </p:pic>
      <p:sp>
        <p:nvSpPr>
          <p:cNvPr id="15" name="Text 9"/>
          <p:cNvSpPr/>
          <p:nvPr/>
        </p:nvSpPr>
        <p:spPr>
          <a:xfrm>
            <a:off x="1115568" y="3483864"/>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Just everyday help?</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Any of the big three free tiers is excellent. Stop optimizing.</a:t>
            </a:r>
            <a:endParaRPr lang="en-US" sz="1350" dirty="0"/>
          </a:p>
        </p:txBody>
      </p:sp>
      <p:sp>
        <p:nvSpPr>
          <p:cNvPr id="16" name="Shape 10"/>
          <p:cNvSpPr/>
          <p:nvPr/>
        </p:nvSpPr>
        <p:spPr>
          <a:xfrm>
            <a:off x="548640" y="4251960"/>
            <a:ext cx="8046720" cy="566928"/>
          </a:xfrm>
          <a:prstGeom prst="roundRect">
            <a:avLst>
              <a:gd name="adj" fmla="val 11290"/>
            </a:avLst>
          </a:prstGeom>
          <a:solidFill>
            <a:srgbClr val="F0F5EC"/>
          </a:solidFill>
          <a:ln w="12700">
            <a:solidFill>
              <a:srgbClr val="DFE9D8"/>
            </a:solidFill>
            <a:prstDash val="solid"/>
          </a:ln>
        </p:spPr>
      </p:sp>
      <p:sp>
        <p:nvSpPr>
          <p:cNvPr id="17" name="Text 11"/>
          <p:cNvSpPr/>
          <p:nvPr/>
        </p:nvSpPr>
        <p:spPr>
          <a:xfrm>
            <a:off x="822960" y="4361688"/>
            <a:ext cx="7498080" cy="365760"/>
          </a:xfrm>
          <a:prstGeom prst="rect">
            <a:avLst/>
          </a:prstGeom>
          <a:noFill/>
          <a:ln/>
        </p:spPr>
        <p:txBody>
          <a:bodyPr wrap="square" lIns="0" tIns="0" rIns="0" bIns="0" rtlCol="0" anchor="ctr"/>
          <a:lstStyle/>
          <a:p>
            <a:pPr indent="0" marL="0">
              <a:buNone/>
            </a:pPr>
            <a:r>
              <a:rPr lang="en-US" sz="1200" b="1" dirty="0">
                <a:solidFill>
                  <a:srgbClr val="2C5F2D"/>
                </a:solidFill>
                <a:latin typeface="Calibri" pitchFamily="34" charset="0"/>
                <a:ea typeface="Calibri" pitchFamily="34" charset="-122"/>
                <a:cs typeface="Calibri" pitchFamily="34" charset="-120"/>
              </a:rPr>
              <a:t>Best advice: </a:t>
            </a:r>
            <a:pPr indent="0" marL="0">
              <a:buNone/>
            </a:pPr>
            <a:r>
              <a:rPr lang="en-US" sz="1200" dirty="0">
                <a:solidFill>
                  <a:srgbClr val="1F2A20"/>
                </a:solidFill>
                <a:latin typeface="Calibri" pitchFamily="34" charset="0"/>
                <a:ea typeface="Calibri" pitchFamily="34" charset="-122"/>
                <a:cs typeface="Calibri" pitchFamily="34" charset="-120"/>
              </a:rPr>
              <a:t>pick one model and learn it deeply. Prompting skill transfers everywhere; tool-hopping does not compound.</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F3D24"/>
        </a:solidFill>
      </p:bgPr>
    </p:bg>
    <p:spTree>
      <p:nvGrpSpPr>
        <p:cNvPr id="1" name=""/>
        <p:cNvGrpSpPr/>
        <p:nvPr/>
      </p:nvGrpSpPr>
      <p:grpSpPr>
        <a:xfrm>
          <a:off x="0" y="0"/>
          <a:ext cx="0" cy="0"/>
          <a:chOff x="0" y="0"/>
          <a:chExt cx="0" cy="0"/>
        </a:xfrm>
      </p:grpSpPr>
      <p:sp>
        <p:nvSpPr>
          <p:cNvPr id="2" name="Text 0"/>
          <p:cNvSpPr/>
          <p:nvPr/>
        </p:nvSpPr>
        <p:spPr>
          <a:xfrm>
            <a:off x="548640" y="1371600"/>
            <a:ext cx="8046720" cy="365760"/>
          </a:xfrm>
          <a:prstGeom prst="rect">
            <a:avLst/>
          </a:prstGeom>
          <a:noFill/>
          <a:ln/>
        </p:spPr>
        <p:txBody>
          <a:bodyPr wrap="square" lIns="0" tIns="0" rIns="0" bIns="0" rtlCol="0" anchor="ctr"/>
          <a:lstStyle/>
          <a:p>
            <a:pPr indent="0" marL="0">
              <a:buNone/>
            </a:pPr>
            <a:r>
              <a:rPr lang="en-US" sz="1400" b="1" spc="400" kern="0" dirty="0">
                <a:solidFill>
                  <a:srgbClr val="97BC62"/>
                </a:solidFill>
                <a:latin typeface="Calibri" pitchFamily="34" charset="0"/>
                <a:ea typeface="Calibri" pitchFamily="34" charset="-122"/>
                <a:cs typeface="Calibri" pitchFamily="34" charset="-120"/>
              </a:rPr>
              <a:t>MODULE 6</a:t>
            </a:r>
            <a:endParaRPr lang="en-US" sz="1400" dirty="0"/>
          </a:p>
        </p:txBody>
      </p:sp>
      <p:sp>
        <p:nvSpPr>
          <p:cNvPr id="3" name="Text 1"/>
          <p:cNvSpPr/>
          <p:nvPr/>
        </p:nvSpPr>
        <p:spPr>
          <a:xfrm>
            <a:off x="548640" y="1783080"/>
            <a:ext cx="804672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Using AI well</a:t>
            </a:r>
            <a:endParaRPr lang="en-US" sz="4000" dirty="0"/>
          </a:p>
        </p:txBody>
      </p:sp>
      <p:sp>
        <p:nvSpPr>
          <p:cNvPr id="4" name="Text 2"/>
          <p:cNvSpPr/>
          <p:nvPr/>
        </p:nvSpPr>
        <p:spPr>
          <a:xfrm>
            <a:off x="548640" y="2788920"/>
            <a:ext cx="6949440" cy="548640"/>
          </a:xfrm>
          <a:prstGeom prst="rect">
            <a:avLst/>
          </a:prstGeom>
          <a:noFill/>
          <a:ln/>
        </p:spPr>
        <p:txBody>
          <a:bodyPr wrap="square" lIns="0" tIns="0" rIns="0" bIns="0" rtlCol="0" anchor="ctr"/>
          <a:lstStyle/>
          <a:p>
            <a:pPr indent="0" marL="0">
              <a:buNone/>
            </a:pPr>
            <a:r>
              <a:rPr lang="en-US" sz="1700" i="1" dirty="0">
                <a:solidFill>
                  <a:srgbClr val="97BC62"/>
                </a:solidFill>
                <a:latin typeface="Cambria" pitchFamily="34" charset="0"/>
                <a:ea typeface="Cambria" pitchFamily="34" charset="-122"/>
                <a:cs typeface="Cambria" pitchFamily="34" charset="-120"/>
              </a:rPr>
              <a:t>The human stays in charge.</a:t>
            </a:r>
            <a:endParaRPr lang="en-US" sz="1700" dirty="0"/>
          </a:p>
        </p:txBody>
      </p:sp>
      <p:sp>
        <p:nvSpPr>
          <p:cNvPr id="5" name="Shape 3"/>
          <p:cNvSpPr/>
          <p:nvPr/>
        </p:nvSpPr>
        <p:spPr>
          <a:xfrm>
            <a:off x="7772400" y="3913632"/>
            <a:ext cx="868680" cy="868680"/>
          </a:xfrm>
          <a:prstGeom prst="ellipse">
            <a:avLst/>
          </a:prstGeom>
          <a:solidFill>
            <a:srgbClr val="FFFFFF"/>
          </a:solidFill>
          <a:ln/>
        </p:spPr>
      </p:sp>
      <p:pic>
        <p:nvPicPr>
          <p:cNvPr id="6" name="Image 0" descr="/sessions/jolly-optimistic-euler/build/logo-mark.png">    </p:cNvPr>
          <p:cNvPicPr>
            <a:picLocks noChangeAspect="1"/>
          </p:cNvPicPr>
          <p:nvPr/>
        </p:nvPicPr>
        <p:blipFill>
          <a:blip r:embed="rId1"/>
          <a:stretch>
            <a:fillRect/>
          </a:stretch>
        </p:blipFill>
        <p:spPr>
          <a:xfrm>
            <a:off x="7827264" y="3968496"/>
            <a:ext cx="758952" cy="758952"/>
          </a:xfrm>
          <a:prstGeom prst="rect">
            <a:avLst/>
          </a:prstGeom>
        </p:spPr>
      </p:pic>
      <p:sp>
        <p:nvSpPr>
          <p:cNvPr id="7" name="Text 4"/>
          <p:cNvSpPr/>
          <p:nvPr/>
        </p:nvSpPr>
        <p:spPr>
          <a:xfrm>
            <a:off x="548640" y="4617720"/>
            <a:ext cx="4572000" cy="274320"/>
          </a:xfrm>
          <a:prstGeom prst="rect">
            <a:avLst/>
          </a:prstGeom>
          <a:noFill/>
          <a:ln/>
        </p:spPr>
        <p:txBody>
          <a:bodyPr wrap="square" lIns="0" tIns="0" rIns="0" bIns="0" rtlCol="0" anchor="ctr"/>
          <a:lstStyle/>
          <a:p>
            <a:pPr indent="0" marL="0">
              <a:buNone/>
            </a:pPr>
            <a:r>
              <a:rPr lang="en-US" sz="1000" dirty="0">
                <a:solidFill>
                  <a:srgbClr val="7FA06F"/>
                </a:solidFill>
                <a:latin typeface="Calibri" pitchFamily="34" charset="0"/>
                <a:ea typeface="Calibri" pitchFamily="34" charset="-122"/>
                <a:cs typeface="Calibri" pitchFamily="34" charset="-120"/>
              </a:rPr>
              <a:t>Cambium Academy · Course 01</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MODULE 6 · HABITS</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3100" b="1" dirty="0">
                <a:solidFill>
                  <a:srgbClr val="1F2A20"/>
                </a:solidFill>
                <a:latin typeface="Cambria" pitchFamily="34" charset="0"/>
                <a:ea typeface="Cambria" pitchFamily="34" charset="-122"/>
                <a:cs typeface="Cambria" pitchFamily="34" charset="-120"/>
              </a:rPr>
              <a:t>Five golden rules</a:t>
            </a:r>
            <a:endParaRPr lang="en-US" sz="3100" dirty="0"/>
          </a:p>
        </p:txBody>
      </p:sp>
      <p:sp>
        <p:nvSpPr>
          <p:cNvPr id="4" name="Shape 2"/>
          <p:cNvSpPr/>
          <p:nvPr/>
        </p:nvSpPr>
        <p:spPr>
          <a:xfrm>
            <a:off x="548640" y="1481328"/>
            <a:ext cx="420624" cy="420624"/>
          </a:xfrm>
          <a:prstGeom prst="ellipse">
            <a:avLst/>
          </a:prstGeom>
          <a:solidFill>
            <a:srgbClr val="F0F5EC"/>
          </a:solidFill>
          <a:ln/>
        </p:spPr>
      </p:sp>
      <p:pic>
        <p:nvPicPr>
          <p:cNvPr id="5" name="Image 0" descr="preencoded.png">    </p:cNvPr>
          <p:cNvPicPr>
            <a:picLocks noChangeAspect="1"/>
          </p:cNvPicPr>
          <p:nvPr/>
        </p:nvPicPr>
        <p:blipFill>
          <a:blip r:embed="rId1"/>
          <a:stretch>
            <a:fillRect/>
          </a:stretch>
        </p:blipFill>
        <p:spPr>
          <a:xfrm>
            <a:off x="658002" y="1590690"/>
            <a:ext cx="201900" cy="201900"/>
          </a:xfrm>
          <a:prstGeom prst="rect">
            <a:avLst/>
          </a:prstGeom>
        </p:spPr>
      </p:pic>
      <p:sp>
        <p:nvSpPr>
          <p:cNvPr id="6" name="Text 3"/>
          <p:cNvSpPr/>
          <p:nvPr/>
        </p:nvSpPr>
        <p:spPr>
          <a:xfrm>
            <a:off x="1115568" y="1408176"/>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Verify before you rely</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Check names, numbers, dates, and citations. AI is confident even when wrong.</a:t>
            </a:r>
            <a:endParaRPr lang="en-US" sz="1350" dirty="0"/>
          </a:p>
        </p:txBody>
      </p:sp>
      <p:sp>
        <p:nvSpPr>
          <p:cNvPr id="7" name="Shape 4"/>
          <p:cNvSpPr/>
          <p:nvPr/>
        </p:nvSpPr>
        <p:spPr>
          <a:xfrm>
            <a:off x="548640" y="2139696"/>
            <a:ext cx="420624" cy="420624"/>
          </a:xfrm>
          <a:prstGeom prst="ellipse">
            <a:avLst/>
          </a:prstGeom>
          <a:solidFill>
            <a:srgbClr val="F0F5EC"/>
          </a:solidFill>
          <a:ln/>
        </p:spPr>
      </p:sp>
      <p:pic>
        <p:nvPicPr>
          <p:cNvPr id="8" name="Image 1" descr="preencoded.png">    </p:cNvPr>
          <p:cNvPicPr>
            <a:picLocks noChangeAspect="1"/>
          </p:cNvPicPr>
          <p:nvPr/>
        </p:nvPicPr>
        <p:blipFill>
          <a:blip r:embed="rId2"/>
          <a:stretch>
            <a:fillRect/>
          </a:stretch>
        </p:blipFill>
        <p:spPr>
          <a:xfrm>
            <a:off x="658002" y="2249058"/>
            <a:ext cx="201900" cy="201900"/>
          </a:xfrm>
          <a:prstGeom prst="rect">
            <a:avLst/>
          </a:prstGeom>
        </p:spPr>
      </p:pic>
      <p:sp>
        <p:nvSpPr>
          <p:cNvPr id="9" name="Text 5"/>
          <p:cNvSpPr/>
          <p:nvPr/>
        </p:nvSpPr>
        <p:spPr>
          <a:xfrm>
            <a:off x="1115568" y="2066544"/>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Guard private data</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Do not paste passwords, client records, or secrets into tools you have not vetted.</a:t>
            </a:r>
            <a:endParaRPr lang="en-US" sz="1350" dirty="0"/>
          </a:p>
        </p:txBody>
      </p:sp>
      <p:sp>
        <p:nvSpPr>
          <p:cNvPr id="10" name="Shape 6"/>
          <p:cNvSpPr/>
          <p:nvPr/>
        </p:nvSpPr>
        <p:spPr>
          <a:xfrm>
            <a:off x="548640" y="2798064"/>
            <a:ext cx="420624" cy="420624"/>
          </a:xfrm>
          <a:prstGeom prst="ellipse">
            <a:avLst/>
          </a:prstGeom>
          <a:solidFill>
            <a:srgbClr val="F0F5EC"/>
          </a:solidFill>
          <a:ln/>
        </p:spPr>
      </p:sp>
      <p:pic>
        <p:nvPicPr>
          <p:cNvPr id="11" name="Image 2" descr="preencoded.png">    </p:cNvPr>
          <p:cNvPicPr>
            <a:picLocks noChangeAspect="1"/>
          </p:cNvPicPr>
          <p:nvPr/>
        </p:nvPicPr>
        <p:blipFill>
          <a:blip r:embed="rId3"/>
          <a:stretch>
            <a:fillRect/>
          </a:stretch>
        </p:blipFill>
        <p:spPr>
          <a:xfrm>
            <a:off x="658002" y="2907426"/>
            <a:ext cx="201900" cy="201900"/>
          </a:xfrm>
          <a:prstGeom prst="rect">
            <a:avLst/>
          </a:prstGeom>
        </p:spPr>
      </p:pic>
      <p:sp>
        <p:nvSpPr>
          <p:cNvPr id="12" name="Text 7"/>
          <p:cNvSpPr/>
          <p:nvPr/>
        </p:nvSpPr>
        <p:spPr>
          <a:xfrm>
            <a:off x="1115568" y="2724912"/>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You own the judgment</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AI drafts, suggests, and accelerates. Decisions and responsibility stay with you.</a:t>
            </a:r>
            <a:endParaRPr lang="en-US" sz="1350" dirty="0"/>
          </a:p>
        </p:txBody>
      </p:sp>
      <p:sp>
        <p:nvSpPr>
          <p:cNvPr id="13" name="Shape 8"/>
          <p:cNvSpPr/>
          <p:nvPr/>
        </p:nvSpPr>
        <p:spPr>
          <a:xfrm>
            <a:off x="548640" y="3456432"/>
            <a:ext cx="420624" cy="420624"/>
          </a:xfrm>
          <a:prstGeom prst="ellipse">
            <a:avLst/>
          </a:prstGeom>
          <a:solidFill>
            <a:srgbClr val="F0F5EC"/>
          </a:solidFill>
          <a:ln/>
        </p:spPr>
      </p:sp>
      <p:pic>
        <p:nvPicPr>
          <p:cNvPr id="14" name="Image 3" descr="preencoded.png">    </p:cNvPr>
          <p:cNvPicPr>
            <a:picLocks noChangeAspect="1"/>
          </p:cNvPicPr>
          <p:nvPr/>
        </p:nvPicPr>
        <p:blipFill>
          <a:blip r:embed="rId4"/>
          <a:stretch>
            <a:fillRect/>
          </a:stretch>
        </p:blipFill>
        <p:spPr>
          <a:xfrm>
            <a:off x="658002" y="3565794"/>
            <a:ext cx="201900" cy="201900"/>
          </a:xfrm>
          <a:prstGeom prst="rect">
            <a:avLst/>
          </a:prstGeom>
        </p:spPr>
      </p:pic>
      <p:sp>
        <p:nvSpPr>
          <p:cNvPr id="15" name="Text 9"/>
          <p:cNvSpPr/>
          <p:nvPr/>
        </p:nvSpPr>
        <p:spPr>
          <a:xfrm>
            <a:off x="1115568" y="3383280"/>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Disclose when it matters</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School, work, publishing: say when AI helped. Honesty ages well.</a:t>
            </a:r>
            <a:endParaRPr lang="en-US" sz="1350" dirty="0"/>
          </a:p>
        </p:txBody>
      </p:sp>
      <p:sp>
        <p:nvSpPr>
          <p:cNvPr id="16" name="Shape 10"/>
          <p:cNvSpPr/>
          <p:nvPr/>
        </p:nvSpPr>
        <p:spPr>
          <a:xfrm>
            <a:off x="548640" y="4114800"/>
            <a:ext cx="420624" cy="420624"/>
          </a:xfrm>
          <a:prstGeom prst="ellipse">
            <a:avLst/>
          </a:prstGeom>
          <a:solidFill>
            <a:srgbClr val="F0F5EC"/>
          </a:solidFill>
          <a:ln/>
        </p:spPr>
      </p:sp>
      <p:pic>
        <p:nvPicPr>
          <p:cNvPr id="17" name="Image 4" descr="preencoded.png">    </p:cNvPr>
          <p:cNvPicPr>
            <a:picLocks noChangeAspect="1"/>
          </p:cNvPicPr>
          <p:nvPr/>
        </p:nvPicPr>
        <p:blipFill>
          <a:blip r:embed="rId5"/>
          <a:stretch>
            <a:fillRect/>
          </a:stretch>
        </p:blipFill>
        <p:spPr>
          <a:xfrm>
            <a:off x="658002" y="4224162"/>
            <a:ext cx="201900" cy="201900"/>
          </a:xfrm>
          <a:prstGeom prst="rect">
            <a:avLst/>
          </a:prstGeom>
        </p:spPr>
      </p:pic>
      <p:sp>
        <p:nvSpPr>
          <p:cNvPr id="18" name="Text 11"/>
          <p:cNvSpPr/>
          <p:nvPr/>
        </p:nvSpPr>
        <p:spPr>
          <a:xfrm>
            <a:off x="1115568" y="4041648"/>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Reassess monthly</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Models leapfrog each other constantly. Today's winner is next month's runner-up.</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MODULE 6 · A TASTE OF COURSE 02</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3100" b="1" dirty="0">
                <a:solidFill>
                  <a:srgbClr val="1F2A20"/>
                </a:solidFill>
                <a:latin typeface="Cambria" pitchFamily="34" charset="0"/>
                <a:ea typeface="Cambria" pitchFamily="34" charset="-122"/>
                <a:cs typeface="Cambria" pitchFamily="34" charset="-120"/>
              </a:rPr>
              <a:t>Better answers in four moves</a:t>
            </a:r>
            <a:endParaRPr lang="en-US" sz="3100" dirty="0"/>
          </a:p>
        </p:txBody>
      </p:sp>
      <p:sp>
        <p:nvSpPr>
          <p:cNvPr id="4" name="Shape 2"/>
          <p:cNvSpPr/>
          <p:nvPr/>
        </p:nvSpPr>
        <p:spPr>
          <a:xfrm>
            <a:off x="548640" y="1554480"/>
            <a:ext cx="1874520" cy="1051560"/>
          </a:xfrm>
          <a:prstGeom prst="roundRect">
            <a:avLst>
              <a:gd name="adj" fmla="val 6087"/>
            </a:avLst>
          </a:prstGeom>
          <a:solidFill>
            <a:srgbClr val="F0F5EC"/>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5" name="Text 3"/>
          <p:cNvSpPr/>
          <p:nvPr/>
        </p:nvSpPr>
        <p:spPr>
          <a:xfrm>
            <a:off x="713232" y="1691640"/>
            <a:ext cx="1554480" cy="32004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Role</a:t>
            </a:r>
            <a:endParaRPr lang="en-US" sz="1600" dirty="0"/>
          </a:p>
        </p:txBody>
      </p:sp>
      <p:sp>
        <p:nvSpPr>
          <p:cNvPr id="6" name="Text 4"/>
          <p:cNvSpPr/>
          <p:nvPr/>
        </p:nvSpPr>
        <p:spPr>
          <a:xfrm>
            <a:off x="713232" y="2057400"/>
            <a:ext cx="1572768" cy="457200"/>
          </a:xfrm>
          <a:prstGeom prst="rect">
            <a:avLst/>
          </a:prstGeom>
          <a:noFill/>
          <a:ln/>
        </p:spPr>
        <p:txBody>
          <a:bodyPr wrap="square" lIns="0" tIns="0" rIns="0" bIns="0" rtlCol="0" anchor="ctr"/>
          <a:lstStyle/>
          <a:p>
            <a:pPr indent="0" marL="0">
              <a:buNone/>
            </a:pPr>
            <a:r>
              <a:rPr lang="en-US" sz="1050" dirty="0">
                <a:solidFill>
                  <a:srgbClr val="5C6B5A"/>
                </a:solidFill>
                <a:latin typeface="Calibri" pitchFamily="34" charset="0"/>
                <a:ea typeface="Calibri" pitchFamily="34" charset="-122"/>
                <a:cs typeface="Calibri" pitchFamily="34" charset="-120"/>
              </a:rPr>
              <a:t>Who should the AI be?</a:t>
            </a:r>
            <a:endParaRPr lang="en-US" sz="1050" dirty="0"/>
          </a:p>
        </p:txBody>
      </p:sp>
      <p:sp>
        <p:nvSpPr>
          <p:cNvPr id="7" name="Shape 5"/>
          <p:cNvSpPr/>
          <p:nvPr/>
        </p:nvSpPr>
        <p:spPr>
          <a:xfrm>
            <a:off x="2615184" y="1554480"/>
            <a:ext cx="1874520" cy="1051560"/>
          </a:xfrm>
          <a:prstGeom prst="roundRect">
            <a:avLst>
              <a:gd name="adj" fmla="val 6087"/>
            </a:avLst>
          </a:prstGeom>
          <a:solidFill>
            <a:srgbClr val="F0F5EC"/>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8" name="Text 6"/>
          <p:cNvSpPr/>
          <p:nvPr/>
        </p:nvSpPr>
        <p:spPr>
          <a:xfrm>
            <a:off x="2779776" y="1691640"/>
            <a:ext cx="1554480" cy="32004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Context</a:t>
            </a:r>
            <a:endParaRPr lang="en-US" sz="1600" dirty="0"/>
          </a:p>
        </p:txBody>
      </p:sp>
      <p:sp>
        <p:nvSpPr>
          <p:cNvPr id="9" name="Text 7"/>
          <p:cNvSpPr/>
          <p:nvPr/>
        </p:nvSpPr>
        <p:spPr>
          <a:xfrm>
            <a:off x="2779776" y="2057400"/>
            <a:ext cx="1572768" cy="457200"/>
          </a:xfrm>
          <a:prstGeom prst="rect">
            <a:avLst/>
          </a:prstGeom>
          <a:noFill/>
          <a:ln/>
        </p:spPr>
        <p:txBody>
          <a:bodyPr wrap="square" lIns="0" tIns="0" rIns="0" bIns="0" rtlCol="0" anchor="ctr"/>
          <a:lstStyle/>
          <a:p>
            <a:pPr indent="0" marL="0">
              <a:buNone/>
            </a:pPr>
            <a:r>
              <a:rPr lang="en-US" sz="1050" dirty="0">
                <a:solidFill>
                  <a:srgbClr val="5C6B5A"/>
                </a:solidFill>
                <a:latin typeface="Calibri" pitchFamily="34" charset="0"/>
                <a:ea typeface="Calibri" pitchFamily="34" charset="-122"/>
                <a:cs typeface="Calibri" pitchFamily="34" charset="-120"/>
              </a:rPr>
              <a:t>What does it need to know?</a:t>
            </a:r>
            <a:endParaRPr lang="en-US" sz="1050" dirty="0"/>
          </a:p>
        </p:txBody>
      </p:sp>
      <p:sp>
        <p:nvSpPr>
          <p:cNvPr id="10" name="Shape 8"/>
          <p:cNvSpPr/>
          <p:nvPr/>
        </p:nvSpPr>
        <p:spPr>
          <a:xfrm>
            <a:off x="4681728" y="1554480"/>
            <a:ext cx="1874520" cy="1051560"/>
          </a:xfrm>
          <a:prstGeom prst="roundRect">
            <a:avLst>
              <a:gd name="adj" fmla="val 6087"/>
            </a:avLst>
          </a:prstGeom>
          <a:solidFill>
            <a:srgbClr val="F0F5EC"/>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11" name="Text 9"/>
          <p:cNvSpPr/>
          <p:nvPr/>
        </p:nvSpPr>
        <p:spPr>
          <a:xfrm>
            <a:off x="4846320" y="1691640"/>
            <a:ext cx="1554480" cy="32004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Task</a:t>
            </a:r>
            <a:endParaRPr lang="en-US" sz="1600" dirty="0"/>
          </a:p>
        </p:txBody>
      </p:sp>
      <p:sp>
        <p:nvSpPr>
          <p:cNvPr id="12" name="Text 10"/>
          <p:cNvSpPr/>
          <p:nvPr/>
        </p:nvSpPr>
        <p:spPr>
          <a:xfrm>
            <a:off x="4846320" y="2057400"/>
            <a:ext cx="1572768" cy="457200"/>
          </a:xfrm>
          <a:prstGeom prst="rect">
            <a:avLst/>
          </a:prstGeom>
          <a:noFill/>
          <a:ln/>
        </p:spPr>
        <p:txBody>
          <a:bodyPr wrap="square" lIns="0" tIns="0" rIns="0" bIns="0" rtlCol="0" anchor="ctr"/>
          <a:lstStyle/>
          <a:p>
            <a:pPr indent="0" marL="0">
              <a:buNone/>
            </a:pPr>
            <a:r>
              <a:rPr lang="en-US" sz="1050" dirty="0">
                <a:solidFill>
                  <a:srgbClr val="5C6B5A"/>
                </a:solidFill>
                <a:latin typeface="Calibri" pitchFamily="34" charset="0"/>
                <a:ea typeface="Calibri" pitchFamily="34" charset="-122"/>
                <a:cs typeface="Calibri" pitchFamily="34" charset="-120"/>
              </a:rPr>
              <a:t>Exactly what do you want?</a:t>
            </a:r>
            <a:endParaRPr lang="en-US" sz="1050" dirty="0"/>
          </a:p>
        </p:txBody>
      </p:sp>
      <p:sp>
        <p:nvSpPr>
          <p:cNvPr id="13" name="Shape 11"/>
          <p:cNvSpPr/>
          <p:nvPr/>
        </p:nvSpPr>
        <p:spPr>
          <a:xfrm>
            <a:off x="6748272" y="1554480"/>
            <a:ext cx="1874520" cy="1051560"/>
          </a:xfrm>
          <a:prstGeom prst="roundRect">
            <a:avLst>
              <a:gd name="adj" fmla="val 6087"/>
            </a:avLst>
          </a:prstGeom>
          <a:solidFill>
            <a:srgbClr val="F0F5EC"/>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14" name="Text 12"/>
          <p:cNvSpPr/>
          <p:nvPr/>
        </p:nvSpPr>
        <p:spPr>
          <a:xfrm>
            <a:off x="6912864" y="1691640"/>
            <a:ext cx="1554480" cy="32004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Format</a:t>
            </a:r>
            <a:endParaRPr lang="en-US" sz="1600" dirty="0"/>
          </a:p>
        </p:txBody>
      </p:sp>
      <p:sp>
        <p:nvSpPr>
          <p:cNvPr id="15" name="Text 13"/>
          <p:cNvSpPr/>
          <p:nvPr/>
        </p:nvSpPr>
        <p:spPr>
          <a:xfrm>
            <a:off x="6912864" y="2057400"/>
            <a:ext cx="1572768" cy="457200"/>
          </a:xfrm>
          <a:prstGeom prst="rect">
            <a:avLst/>
          </a:prstGeom>
          <a:noFill/>
          <a:ln/>
        </p:spPr>
        <p:txBody>
          <a:bodyPr wrap="square" lIns="0" tIns="0" rIns="0" bIns="0" rtlCol="0" anchor="ctr"/>
          <a:lstStyle/>
          <a:p>
            <a:pPr indent="0" marL="0">
              <a:buNone/>
            </a:pPr>
            <a:r>
              <a:rPr lang="en-US" sz="1050" dirty="0">
                <a:solidFill>
                  <a:srgbClr val="5C6B5A"/>
                </a:solidFill>
                <a:latin typeface="Calibri" pitchFamily="34" charset="0"/>
                <a:ea typeface="Calibri" pitchFamily="34" charset="-122"/>
                <a:cs typeface="Calibri" pitchFamily="34" charset="-120"/>
              </a:rPr>
              <a:t>How should the answer look?</a:t>
            </a:r>
            <a:endParaRPr lang="en-US" sz="1050" dirty="0"/>
          </a:p>
        </p:txBody>
      </p:sp>
      <p:sp>
        <p:nvSpPr>
          <p:cNvPr id="16" name="Shape 14"/>
          <p:cNvSpPr/>
          <p:nvPr/>
        </p:nvSpPr>
        <p:spPr>
          <a:xfrm>
            <a:off x="548640" y="2834640"/>
            <a:ext cx="8046720" cy="1417320"/>
          </a:xfrm>
          <a:prstGeom prst="roundRect">
            <a:avLst>
              <a:gd name="adj" fmla="val 4516"/>
            </a:avLst>
          </a:prstGeom>
          <a:solidFill>
            <a:srgbClr val="FFFFFF"/>
          </a:solidFill>
          <a:ln w="12700">
            <a:solidFill>
              <a:srgbClr val="DFE9D8"/>
            </a:solidFill>
            <a:prstDash val="solid"/>
          </a:ln>
          <a:effectLst>
            <a:outerShdw sx="100000" sy="100000" kx="0" ky="0" algn="bl" rotWithShape="0" blurRad="88900" dist="25400" dir="2700000">
              <a:srgbClr val="000000">
                <a:alpha val="13000"/>
              </a:srgbClr>
            </a:outerShdw>
          </a:effectLst>
        </p:spPr>
      </p:sp>
      <p:sp>
        <p:nvSpPr>
          <p:cNvPr id="17" name="Text 15"/>
          <p:cNvSpPr/>
          <p:nvPr/>
        </p:nvSpPr>
        <p:spPr>
          <a:xfrm>
            <a:off x="822960" y="2971800"/>
            <a:ext cx="2743200" cy="256032"/>
          </a:xfrm>
          <a:prstGeom prst="rect">
            <a:avLst/>
          </a:prstGeom>
          <a:noFill/>
          <a:ln/>
        </p:spPr>
        <p:txBody>
          <a:bodyPr wrap="square" lIns="0" tIns="0" rIns="0" bIns="0" rtlCol="0" anchor="ctr"/>
          <a:lstStyle/>
          <a:p>
            <a:pPr indent="0" marL="0">
              <a:buNone/>
            </a:pPr>
            <a:r>
              <a:rPr lang="en-US" sz="1000" b="1" spc="200" kern="0" dirty="0">
                <a:solidFill>
                  <a:srgbClr val="5C6B5A"/>
                </a:solidFill>
                <a:latin typeface="Calibri" pitchFamily="34" charset="0"/>
                <a:ea typeface="Calibri" pitchFamily="34" charset="-122"/>
                <a:cs typeface="Calibri" pitchFamily="34" charset="-120"/>
              </a:rPr>
              <a:t>EXAMPLE PROMPT</a:t>
            </a:r>
            <a:endParaRPr lang="en-US" sz="1000" dirty="0"/>
          </a:p>
        </p:txBody>
      </p:sp>
      <p:sp>
        <p:nvSpPr>
          <p:cNvPr id="18" name="Text 16"/>
          <p:cNvSpPr/>
          <p:nvPr/>
        </p:nvSpPr>
        <p:spPr>
          <a:xfrm>
            <a:off x="822960" y="3291840"/>
            <a:ext cx="7498080" cy="822960"/>
          </a:xfrm>
          <a:prstGeom prst="rect">
            <a:avLst/>
          </a:prstGeom>
          <a:noFill/>
          <a:ln/>
        </p:spPr>
        <p:txBody>
          <a:bodyPr wrap="square" lIns="0" tIns="0" rIns="0" bIns="0" rtlCol="0" anchor="ctr"/>
          <a:lstStyle/>
          <a:p>
            <a:pPr indent="0" marL="0">
              <a:buNone/>
            </a:pPr>
            <a:r>
              <a:rPr lang="en-US" sz="1150" b="1" dirty="0">
                <a:solidFill>
                  <a:srgbClr val="2C5F2D"/>
                </a:solidFill>
                <a:latin typeface="Courier New" pitchFamily="34" charset="0"/>
                <a:ea typeface="Courier New" pitchFamily="34" charset="-122"/>
                <a:cs typeface="Courier New" pitchFamily="34" charset="-120"/>
              </a:rPr>
              <a:t>You are a seasoned travel planner. </a:t>
            </a:r>
            <a:pPr indent="0" marL="0">
              <a:buNone/>
            </a:pPr>
            <a:r>
              <a:rPr lang="en-US" sz="1150" dirty="0">
                <a:solidFill>
                  <a:srgbClr val="1F2A20"/>
                </a:solidFill>
                <a:latin typeface="Courier New" pitchFamily="34" charset="0"/>
                <a:ea typeface="Courier New" pitchFamily="34" charset="-122"/>
                <a:cs typeface="Courier New" pitchFamily="34" charset="-120"/>
              </a:rPr>
              <a:t>Two adults are visiting Boise for three days in October on a modest budget. </a:t>
            </a:r>
            <a:pPr indent="0" marL="0">
              <a:buNone/>
            </a:pPr>
            <a:r>
              <a:rPr lang="en-US" sz="1150" b="1" dirty="0">
                <a:solidFill>
                  <a:srgbClr val="2C5F2D"/>
                </a:solidFill>
                <a:latin typeface="Courier New" pitchFamily="34" charset="0"/>
                <a:ea typeface="Courier New" pitchFamily="34" charset="-122"/>
                <a:cs typeface="Courier New" pitchFamily="34" charset="-120"/>
              </a:rPr>
              <a:t>Plan a day-by-day itinerary with one outdoor highlight per day. </a:t>
            </a:r>
            <a:pPr indent="0" marL="0">
              <a:buNone/>
            </a:pPr>
            <a:r>
              <a:rPr lang="en-US" sz="1150" dirty="0">
                <a:solidFill>
                  <a:srgbClr val="1F2A20"/>
                </a:solidFill>
                <a:latin typeface="Courier New" pitchFamily="34" charset="0"/>
                <a:ea typeface="Courier New" pitchFamily="34" charset="-122"/>
                <a:cs typeface="Courier New" pitchFamily="34" charset="-120"/>
              </a:rPr>
              <a:t>Present it as a simple table.</a:t>
            </a:r>
            <a:endParaRPr lang="en-US" sz="1150" dirty="0"/>
          </a:p>
        </p:txBody>
      </p:sp>
      <p:sp>
        <p:nvSpPr>
          <p:cNvPr id="19" name="Text 17"/>
          <p:cNvSpPr/>
          <p:nvPr/>
        </p:nvSpPr>
        <p:spPr>
          <a:xfrm>
            <a:off x="548640" y="4434840"/>
            <a:ext cx="8046720" cy="274320"/>
          </a:xfrm>
          <a:prstGeom prst="rect">
            <a:avLst/>
          </a:prstGeom>
          <a:noFill/>
          <a:ln/>
        </p:spPr>
        <p:txBody>
          <a:bodyPr wrap="square" lIns="0" tIns="0" rIns="0" bIns="0" rtlCol="0" anchor="ctr"/>
          <a:lstStyle/>
          <a:p>
            <a:pPr indent="0" marL="0">
              <a:buNone/>
            </a:pPr>
            <a:r>
              <a:rPr lang="en-US" sz="1050" i="1" dirty="0">
                <a:solidFill>
                  <a:srgbClr val="5C6B5A"/>
                </a:solidFill>
                <a:latin typeface="Calibri" pitchFamily="34" charset="0"/>
                <a:ea typeface="Calibri" pitchFamily="34" charset="-122"/>
                <a:cs typeface="Calibri" pitchFamily="34" charset="-120"/>
              </a:rPr>
              <a:t>Role and task in green, context and format in black. Course 02 goes deep on this next week.</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046720" cy="274320"/>
          </a:xfrm>
          <a:prstGeom prst="rect">
            <a:avLst/>
          </a:prstGeom>
          <a:noFill/>
          <a:ln/>
        </p:spPr>
        <p:txBody>
          <a:bodyPr wrap="square" lIns="0" tIns="0" rIns="0" bIns="0" rtlCol="0" anchor="ctr"/>
          <a:lstStyle/>
          <a:p>
            <a:pPr indent="0" marL="0">
              <a:buNone/>
            </a:pPr>
            <a:r>
              <a:rPr lang="en-US" sz="1150" b="1" spc="300" kern="0" dirty="0">
                <a:solidFill>
                  <a:srgbClr val="6E9648"/>
                </a:solidFill>
                <a:latin typeface="Calibri" pitchFamily="34" charset="0"/>
                <a:ea typeface="Calibri" pitchFamily="34" charset="-122"/>
                <a:cs typeface="Calibri" pitchFamily="34" charset="-120"/>
              </a:rPr>
              <a:t>MODULE 6 · KEEP GOING, FREE</a:t>
            </a:r>
            <a:endParaRPr lang="en-US" sz="1150" dirty="0"/>
          </a:p>
        </p:txBody>
      </p:sp>
      <p:sp>
        <p:nvSpPr>
          <p:cNvPr id="3" name="Text 1"/>
          <p:cNvSpPr/>
          <p:nvPr/>
        </p:nvSpPr>
        <p:spPr>
          <a:xfrm>
            <a:off x="548640" y="585216"/>
            <a:ext cx="8046720" cy="777240"/>
          </a:xfrm>
          <a:prstGeom prst="rect">
            <a:avLst/>
          </a:prstGeom>
          <a:noFill/>
          <a:ln/>
        </p:spPr>
        <p:txBody>
          <a:bodyPr wrap="square" lIns="0" tIns="0" rIns="0" bIns="0" rtlCol="0" anchor="t"/>
          <a:lstStyle/>
          <a:p>
            <a:pPr indent="0" marL="0">
              <a:buNone/>
            </a:pPr>
            <a:r>
              <a:rPr lang="en-US" sz="3100" b="1" dirty="0">
                <a:solidFill>
                  <a:srgbClr val="1F2A20"/>
                </a:solidFill>
                <a:latin typeface="Cambria" pitchFamily="34" charset="0"/>
                <a:ea typeface="Cambria" pitchFamily="34" charset="-122"/>
                <a:cs typeface="Cambria" pitchFamily="34" charset="-120"/>
              </a:rPr>
              <a:t>Hand-verified free resources</a:t>
            </a:r>
            <a:endParaRPr lang="en-US" sz="3100" dirty="0"/>
          </a:p>
        </p:txBody>
      </p:sp>
      <p:sp>
        <p:nvSpPr>
          <p:cNvPr id="4" name="Shape 2"/>
          <p:cNvSpPr/>
          <p:nvPr/>
        </p:nvSpPr>
        <p:spPr>
          <a:xfrm>
            <a:off x="548640" y="1481328"/>
            <a:ext cx="420624" cy="420624"/>
          </a:xfrm>
          <a:prstGeom prst="ellipse">
            <a:avLst/>
          </a:prstGeom>
          <a:solidFill>
            <a:srgbClr val="F0F5EC"/>
          </a:solidFill>
          <a:ln/>
        </p:spPr>
      </p:sp>
      <p:pic>
        <p:nvPicPr>
          <p:cNvPr id="5" name="Image 0" descr="preencoded.png">    </p:cNvPr>
          <p:cNvPicPr>
            <a:picLocks noChangeAspect="1"/>
          </p:cNvPicPr>
          <p:nvPr/>
        </p:nvPicPr>
        <p:blipFill>
          <a:blip r:embed="rId1"/>
          <a:stretch>
            <a:fillRect/>
          </a:stretch>
        </p:blipFill>
        <p:spPr>
          <a:xfrm>
            <a:off x="658002" y="1590690"/>
            <a:ext cx="201900" cy="201900"/>
          </a:xfrm>
          <a:prstGeom prst="rect">
            <a:avLst/>
          </a:prstGeom>
        </p:spPr>
      </p:pic>
      <p:sp>
        <p:nvSpPr>
          <p:cNvPr id="6" name="Text 3"/>
          <p:cNvSpPr/>
          <p:nvPr/>
        </p:nvSpPr>
        <p:spPr>
          <a:xfrm>
            <a:off x="1115568" y="1408176"/>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How Machines Learn, CGP Grey</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The best 5-minute mental model on YouTube</a:t>
            </a:r>
            <a:endParaRPr lang="en-US" sz="1350" dirty="0"/>
          </a:p>
        </p:txBody>
      </p:sp>
      <p:sp>
        <p:nvSpPr>
          <p:cNvPr id="7" name="Shape 4"/>
          <p:cNvSpPr/>
          <p:nvPr/>
        </p:nvSpPr>
        <p:spPr>
          <a:xfrm>
            <a:off x="548640" y="2084832"/>
            <a:ext cx="420624" cy="420624"/>
          </a:xfrm>
          <a:prstGeom prst="ellipse">
            <a:avLst/>
          </a:prstGeom>
          <a:solidFill>
            <a:srgbClr val="F0F5EC"/>
          </a:solidFill>
          <a:ln/>
        </p:spPr>
      </p:sp>
      <p:pic>
        <p:nvPicPr>
          <p:cNvPr id="8" name="Image 1" descr="preencoded.png">    </p:cNvPr>
          <p:cNvPicPr>
            <a:picLocks noChangeAspect="1"/>
          </p:cNvPicPr>
          <p:nvPr/>
        </p:nvPicPr>
        <p:blipFill>
          <a:blip r:embed="rId2"/>
          <a:stretch>
            <a:fillRect/>
          </a:stretch>
        </p:blipFill>
        <p:spPr>
          <a:xfrm>
            <a:off x="658002" y="2194194"/>
            <a:ext cx="201900" cy="201900"/>
          </a:xfrm>
          <a:prstGeom prst="rect">
            <a:avLst/>
          </a:prstGeom>
        </p:spPr>
      </p:pic>
      <p:sp>
        <p:nvSpPr>
          <p:cNvPr id="9" name="Text 5"/>
          <p:cNvSpPr/>
          <p:nvPr/>
        </p:nvSpPr>
        <p:spPr>
          <a:xfrm>
            <a:off x="1115568" y="2011680"/>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Intro to Large Language Models, Andrej Karpathy</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A legendary 1-hour talk by a top AI researcher</a:t>
            </a:r>
            <a:endParaRPr lang="en-US" sz="1350" dirty="0"/>
          </a:p>
        </p:txBody>
      </p:sp>
      <p:sp>
        <p:nvSpPr>
          <p:cNvPr id="10" name="Shape 6"/>
          <p:cNvSpPr/>
          <p:nvPr/>
        </p:nvSpPr>
        <p:spPr>
          <a:xfrm>
            <a:off x="548640" y="2688336"/>
            <a:ext cx="420624" cy="420624"/>
          </a:xfrm>
          <a:prstGeom prst="ellipse">
            <a:avLst/>
          </a:prstGeom>
          <a:solidFill>
            <a:srgbClr val="F0F5EC"/>
          </a:solidFill>
          <a:ln/>
        </p:spPr>
      </p:sp>
      <p:pic>
        <p:nvPicPr>
          <p:cNvPr id="11" name="Image 2" descr="preencoded.png">    </p:cNvPr>
          <p:cNvPicPr>
            <a:picLocks noChangeAspect="1"/>
          </p:cNvPicPr>
          <p:nvPr/>
        </p:nvPicPr>
        <p:blipFill>
          <a:blip r:embed="rId3"/>
          <a:stretch>
            <a:fillRect/>
          </a:stretch>
        </p:blipFill>
        <p:spPr>
          <a:xfrm>
            <a:off x="658002" y="2797698"/>
            <a:ext cx="201900" cy="201900"/>
          </a:xfrm>
          <a:prstGeom prst="rect">
            <a:avLst/>
          </a:prstGeom>
        </p:spPr>
      </p:pic>
      <p:sp>
        <p:nvSpPr>
          <p:cNvPr id="12" name="Text 7"/>
          <p:cNvSpPr/>
          <p:nvPr/>
        </p:nvSpPr>
        <p:spPr>
          <a:xfrm>
            <a:off x="1115568" y="2615184"/>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Neural Networks, 3Blue1Brown</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Beautiful visual series on what is inside the box</a:t>
            </a:r>
            <a:endParaRPr lang="en-US" sz="1350" dirty="0"/>
          </a:p>
        </p:txBody>
      </p:sp>
      <p:sp>
        <p:nvSpPr>
          <p:cNvPr id="13" name="Shape 8"/>
          <p:cNvSpPr/>
          <p:nvPr/>
        </p:nvSpPr>
        <p:spPr>
          <a:xfrm>
            <a:off x="548640" y="3291840"/>
            <a:ext cx="420624" cy="420624"/>
          </a:xfrm>
          <a:prstGeom prst="ellipse">
            <a:avLst/>
          </a:prstGeom>
          <a:solidFill>
            <a:srgbClr val="F0F5EC"/>
          </a:solidFill>
          <a:ln/>
        </p:spPr>
      </p:sp>
      <p:pic>
        <p:nvPicPr>
          <p:cNvPr id="14" name="Image 3" descr="preencoded.png">    </p:cNvPr>
          <p:cNvPicPr>
            <a:picLocks noChangeAspect="1"/>
          </p:cNvPicPr>
          <p:nvPr/>
        </p:nvPicPr>
        <p:blipFill>
          <a:blip r:embed="rId4"/>
          <a:stretch>
            <a:fillRect/>
          </a:stretch>
        </p:blipFill>
        <p:spPr>
          <a:xfrm>
            <a:off x="658002" y="3401202"/>
            <a:ext cx="201900" cy="201900"/>
          </a:xfrm>
          <a:prstGeom prst="rect">
            <a:avLst/>
          </a:prstGeom>
        </p:spPr>
      </p:pic>
      <p:sp>
        <p:nvSpPr>
          <p:cNvPr id="15" name="Text 9"/>
          <p:cNvSpPr/>
          <p:nvPr/>
        </p:nvSpPr>
        <p:spPr>
          <a:xfrm>
            <a:off x="1115568" y="3218688"/>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Elements of AI, University of Helsinki</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The classic free intro course, 2M+ learners</a:t>
            </a:r>
            <a:endParaRPr lang="en-US" sz="1350" dirty="0"/>
          </a:p>
        </p:txBody>
      </p:sp>
      <p:sp>
        <p:nvSpPr>
          <p:cNvPr id="16" name="Shape 10"/>
          <p:cNvSpPr/>
          <p:nvPr/>
        </p:nvSpPr>
        <p:spPr>
          <a:xfrm>
            <a:off x="548640" y="3895344"/>
            <a:ext cx="420624" cy="420624"/>
          </a:xfrm>
          <a:prstGeom prst="ellipse">
            <a:avLst/>
          </a:prstGeom>
          <a:solidFill>
            <a:srgbClr val="F0F5EC"/>
          </a:solidFill>
          <a:ln/>
        </p:spPr>
      </p:sp>
      <p:pic>
        <p:nvPicPr>
          <p:cNvPr id="17" name="Image 4" descr="preencoded.png">    </p:cNvPr>
          <p:cNvPicPr>
            <a:picLocks noChangeAspect="1"/>
          </p:cNvPicPr>
          <p:nvPr/>
        </p:nvPicPr>
        <p:blipFill>
          <a:blip r:embed="rId5"/>
          <a:stretch>
            <a:fillRect/>
          </a:stretch>
        </p:blipFill>
        <p:spPr>
          <a:xfrm>
            <a:off x="658002" y="4004706"/>
            <a:ext cx="201900" cy="201900"/>
          </a:xfrm>
          <a:prstGeom prst="rect">
            <a:avLst/>
          </a:prstGeom>
        </p:spPr>
      </p:pic>
      <p:sp>
        <p:nvSpPr>
          <p:cNvPr id="18" name="Text 11"/>
          <p:cNvSpPr/>
          <p:nvPr/>
        </p:nvSpPr>
        <p:spPr>
          <a:xfrm>
            <a:off x="1115568" y="3822192"/>
            <a:ext cx="7571232" cy="658368"/>
          </a:xfrm>
          <a:prstGeom prst="rect">
            <a:avLst/>
          </a:prstGeom>
          <a:noFill/>
          <a:ln/>
        </p:spPr>
        <p:txBody>
          <a:bodyPr wrap="square" lIns="0" tIns="0" rIns="0" bIns="0" rtlCol="0" anchor="t"/>
          <a:lstStyle/>
          <a:p>
            <a:pPr indent="0" marL="0">
              <a:buNone/>
            </a:pPr>
            <a:r>
              <a:rPr lang="en-US" sz="1350" b="1" dirty="0">
                <a:solidFill>
                  <a:srgbClr val="1F2A20"/>
                </a:solidFill>
                <a:latin typeface="Calibri" pitchFamily="34" charset="0"/>
                <a:ea typeface="Calibri" pitchFamily="34" charset="-122"/>
                <a:cs typeface="Calibri" pitchFamily="34" charset="-120"/>
              </a:rPr>
              <a:t>AI for Everyone, Andrew Ng</a:t>
            </a:r>
            <a:endParaRPr lang="en-US" sz="1350" dirty="0"/>
          </a:p>
          <a:p>
            <a:pPr indent="0" marL="0">
              <a:buNone/>
            </a:pPr>
            <a:r>
              <a:rPr lang="en-US" sz="1150" dirty="0">
                <a:solidFill>
                  <a:srgbClr val="5C6B5A"/>
                </a:solidFill>
                <a:latin typeface="Calibri" pitchFamily="34" charset="0"/>
                <a:ea typeface="Calibri" pitchFamily="34" charset="-122"/>
                <a:cs typeface="Calibri" pitchFamily="34" charset="-120"/>
              </a:rPr>
              <a:t>Free-to-audit course made for non-engineers</a:t>
            </a:r>
            <a:endParaRPr lang="en-US" sz="1350" dirty="0"/>
          </a:p>
        </p:txBody>
      </p:sp>
      <p:sp>
        <p:nvSpPr>
          <p:cNvPr id="19" name="Shape 12"/>
          <p:cNvSpPr/>
          <p:nvPr/>
        </p:nvSpPr>
        <p:spPr>
          <a:xfrm>
            <a:off x="548640" y="4526280"/>
            <a:ext cx="8046720" cy="384048"/>
          </a:xfrm>
          <a:prstGeom prst="roundRect">
            <a:avLst>
              <a:gd name="adj" fmla="val 16667"/>
            </a:avLst>
          </a:prstGeom>
          <a:solidFill>
            <a:srgbClr val="F0F5EC"/>
          </a:solidFill>
          <a:ln w="12700">
            <a:solidFill>
              <a:srgbClr val="DFE9D8"/>
            </a:solidFill>
            <a:prstDash val="solid"/>
          </a:ln>
        </p:spPr>
      </p:sp>
      <p:sp>
        <p:nvSpPr>
          <p:cNvPr id="20" name="Text 13"/>
          <p:cNvSpPr/>
          <p:nvPr/>
        </p:nvSpPr>
        <p:spPr>
          <a:xfrm>
            <a:off x="822960" y="4581144"/>
            <a:ext cx="7498080" cy="274320"/>
          </a:xfrm>
          <a:prstGeom prst="rect">
            <a:avLst/>
          </a:prstGeom>
          <a:noFill/>
          <a:ln/>
        </p:spPr>
        <p:txBody>
          <a:bodyPr wrap="square" lIns="0" tIns="0" rIns="0" bIns="0" rtlCol="0" anchor="ctr"/>
          <a:lstStyle/>
          <a:p>
            <a:pPr indent="0" marL="0">
              <a:buNone/>
            </a:pPr>
            <a:r>
              <a:rPr lang="en-US" sz="1050" dirty="0">
                <a:solidFill>
                  <a:srgbClr val="1F2A20"/>
                </a:solidFill>
                <a:latin typeface="Calibri" pitchFamily="34" charset="0"/>
                <a:ea typeface="Calibri" pitchFamily="34" charset="-122"/>
                <a:cs typeface="Calibri" pitchFamily="34" charset="-120"/>
              </a:rPr>
              <a:t>Every link, with time estimates and levels, lives on the course resources page. Each one was verified live in July 2026.</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F3D24"/>
        </a:solidFill>
      </p:bgPr>
    </p:bg>
    <p:spTree>
      <p:nvGrpSpPr>
        <p:cNvPr id="1" name=""/>
        <p:cNvGrpSpPr/>
        <p:nvPr/>
      </p:nvGrpSpPr>
      <p:grpSpPr>
        <a:xfrm>
          <a:off x="0" y="0"/>
          <a:ext cx="0" cy="0"/>
          <a:chOff x="0" y="0"/>
          <a:chExt cx="0" cy="0"/>
        </a:xfrm>
      </p:grpSpPr>
      <p:sp>
        <p:nvSpPr>
          <p:cNvPr id="2" name="Text 0"/>
          <p:cNvSpPr/>
          <p:nvPr/>
        </p:nvSpPr>
        <p:spPr>
          <a:xfrm>
            <a:off x="548640" y="1051560"/>
            <a:ext cx="8046720" cy="320040"/>
          </a:xfrm>
          <a:prstGeom prst="rect">
            <a:avLst/>
          </a:prstGeom>
          <a:noFill/>
          <a:ln/>
        </p:spPr>
        <p:txBody>
          <a:bodyPr wrap="square" lIns="0" tIns="0" rIns="0" bIns="0" rtlCol="0" anchor="ctr"/>
          <a:lstStyle/>
          <a:p>
            <a:pPr indent="0" marL="0">
              <a:buNone/>
            </a:pPr>
            <a:r>
              <a:rPr lang="en-US" sz="1300" b="1" spc="400" kern="0" dirty="0">
                <a:solidFill>
                  <a:srgbClr val="97BC62"/>
                </a:solidFill>
                <a:latin typeface="Calibri" pitchFamily="34" charset="0"/>
                <a:ea typeface="Calibri" pitchFamily="34" charset="-122"/>
                <a:cs typeface="Calibri" pitchFamily="34" charset="-120"/>
              </a:rPr>
              <a:t>YOUR TURN</a:t>
            </a:r>
            <a:endParaRPr lang="en-US" sz="1300" dirty="0"/>
          </a:p>
        </p:txBody>
      </p:sp>
      <p:sp>
        <p:nvSpPr>
          <p:cNvPr id="3" name="Shape 1"/>
          <p:cNvSpPr/>
          <p:nvPr/>
        </p:nvSpPr>
        <p:spPr>
          <a:xfrm>
            <a:off x="7772400" y="777240"/>
            <a:ext cx="868680" cy="868680"/>
          </a:xfrm>
          <a:prstGeom prst="ellipse">
            <a:avLst/>
          </a:prstGeom>
          <a:solidFill>
            <a:srgbClr val="FFFFFF"/>
          </a:solidFill>
          <a:ln/>
        </p:spPr>
      </p:sp>
      <p:pic>
        <p:nvPicPr>
          <p:cNvPr id="4" name="Image 0" descr="/sessions/jolly-optimistic-euler/build/logo-mark.png">    </p:cNvPr>
          <p:cNvPicPr>
            <a:picLocks noChangeAspect="1"/>
          </p:cNvPicPr>
          <p:nvPr/>
        </p:nvPicPr>
        <p:blipFill>
          <a:blip r:embed="rId1"/>
          <a:stretch>
            <a:fillRect/>
          </a:stretch>
        </p:blipFill>
        <p:spPr>
          <a:xfrm>
            <a:off x="7827264" y="832104"/>
            <a:ext cx="758952" cy="758952"/>
          </a:xfrm>
          <a:prstGeom prst="rect">
            <a:avLst/>
          </a:prstGeom>
        </p:spPr>
      </p:pic>
      <p:sp>
        <p:nvSpPr>
          <p:cNvPr id="5" name="Text 2"/>
          <p:cNvSpPr/>
          <p:nvPr/>
        </p:nvSpPr>
        <p:spPr>
          <a:xfrm>
            <a:off x="548640" y="1417320"/>
            <a:ext cx="8046720" cy="12801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Take the quiz. Earn your certificate.</a:t>
            </a:r>
            <a:endParaRPr lang="en-US" sz="3800" dirty="0"/>
          </a:p>
        </p:txBody>
      </p:sp>
      <p:sp>
        <p:nvSpPr>
          <p:cNvPr id="6" name="Shape 3"/>
          <p:cNvSpPr/>
          <p:nvPr/>
        </p:nvSpPr>
        <p:spPr>
          <a:xfrm>
            <a:off x="548640" y="2651760"/>
            <a:ext cx="402336" cy="402336"/>
          </a:xfrm>
          <a:prstGeom prst="ellipse">
            <a:avLst/>
          </a:prstGeom>
          <a:solidFill>
            <a:srgbClr val="2C5F2D"/>
          </a:solidFill>
          <a:ln/>
        </p:spPr>
      </p:sp>
      <p:pic>
        <p:nvPicPr>
          <p:cNvPr id="7" name="Image 1" descr="preencoded.png">    </p:cNvPr>
          <p:cNvPicPr>
            <a:picLocks noChangeAspect="1"/>
          </p:cNvPicPr>
          <p:nvPr/>
        </p:nvPicPr>
        <p:blipFill>
          <a:blip r:embed="rId2"/>
          <a:stretch>
            <a:fillRect/>
          </a:stretch>
        </p:blipFill>
        <p:spPr>
          <a:xfrm>
            <a:off x="653247" y="2756367"/>
            <a:ext cx="193121" cy="193121"/>
          </a:xfrm>
          <a:prstGeom prst="rect">
            <a:avLst/>
          </a:prstGeom>
        </p:spPr>
      </p:pic>
      <p:sp>
        <p:nvSpPr>
          <p:cNvPr id="8" name="Text 4"/>
          <p:cNvSpPr/>
          <p:nvPr/>
        </p:nvSpPr>
        <p:spPr>
          <a:xfrm>
            <a:off x="1143000" y="2697480"/>
            <a:ext cx="6858000" cy="365760"/>
          </a:xfrm>
          <a:prstGeom prst="rect">
            <a:avLst/>
          </a:prstGeom>
          <a:noFill/>
          <a:ln/>
        </p:spPr>
        <p:txBody>
          <a:bodyPr wrap="square" lIns="0" tIns="0" rIns="0" bIns="0" rtlCol="0" anchor="ctr"/>
          <a:lstStyle/>
          <a:p>
            <a:pPr indent="0" marL="0">
              <a:buNone/>
            </a:pPr>
            <a:r>
              <a:rPr lang="en-US" sz="1400" dirty="0">
                <a:solidFill>
                  <a:srgbClr val="E8F2DE"/>
                </a:solidFill>
                <a:latin typeface="Calibri" pitchFamily="34" charset="0"/>
                <a:ea typeface="Calibri" pitchFamily="34" charset="-122"/>
                <a:cs typeface="Calibri" pitchFamily="34" charset="-120"/>
              </a:rPr>
              <a:t>20 questions, all covered in these slides</a:t>
            </a:r>
            <a:endParaRPr lang="en-US" sz="1400" dirty="0"/>
          </a:p>
        </p:txBody>
      </p:sp>
      <p:sp>
        <p:nvSpPr>
          <p:cNvPr id="9" name="Shape 5"/>
          <p:cNvSpPr/>
          <p:nvPr/>
        </p:nvSpPr>
        <p:spPr>
          <a:xfrm>
            <a:off x="548640" y="3218688"/>
            <a:ext cx="402336" cy="402336"/>
          </a:xfrm>
          <a:prstGeom prst="ellipse">
            <a:avLst/>
          </a:prstGeom>
          <a:solidFill>
            <a:srgbClr val="2C5F2D"/>
          </a:solidFill>
          <a:ln/>
        </p:spPr>
      </p:sp>
      <p:pic>
        <p:nvPicPr>
          <p:cNvPr id="10" name="Image 2" descr="preencoded.png">    </p:cNvPr>
          <p:cNvPicPr>
            <a:picLocks noChangeAspect="1"/>
          </p:cNvPicPr>
          <p:nvPr/>
        </p:nvPicPr>
        <p:blipFill>
          <a:blip r:embed="rId3"/>
          <a:stretch>
            <a:fillRect/>
          </a:stretch>
        </p:blipFill>
        <p:spPr>
          <a:xfrm>
            <a:off x="653247" y="3323295"/>
            <a:ext cx="193121" cy="193121"/>
          </a:xfrm>
          <a:prstGeom prst="rect">
            <a:avLst/>
          </a:prstGeom>
        </p:spPr>
      </p:pic>
      <p:sp>
        <p:nvSpPr>
          <p:cNvPr id="11" name="Text 6"/>
          <p:cNvSpPr/>
          <p:nvPr/>
        </p:nvSpPr>
        <p:spPr>
          <a:xfrm>
            <a:off x="1143000" y="3264408"/>
            <a:ext cx="6858000" cy="365760"/>
          </a:xfrm>
          <a:prstGeom prst="rect">
            <a:avLst/>
          </a:prstGeom>
          <a:noFill/>
          <a:ln/>
        </p:spPr>
        <p:txBody>
          <a:bodyPr wrap="square" lIns="0" tIns="0" rIns="0" bIns="0" rtlCol="0" anchor="ctr"/>
          <a:lstStyle/>
          <a:p>
            <a:pPr indent="0" marL="0">
              <a:buNone/>
            </a:pPr>
            <a:r>
              <a:rPr lang="en-US" sz="1400" dirty="0">
                <a:solidFill>
                  <a:srgbClr val="E8F2DE"/>
                </a:solidFill>
                <a:latin typeface="Calibri" pitchFamily="34" charset="0"/>
                <a:ea typeface="Calibri" pitchFamily="34" charset="-122"/>
                <a:cs typeface="Calibri" pitchFamily="34" charset="-120"/>
              </a:rPr>
              <a:t>Score 70% or better to pass</a:t>
            </a:r>
            <a:endParaRPr lang="en-US" sz="1400" dirty="0"/>
          </a:p>
        </p:txBody>
      </p:sp>
      <p:sp>
        <p:nvSpPr>
          <p:cNvPr id="12" name="Shape 7"/>
          <p:cNvSpPr/>
          <p:nvPr/>
        </p:nvSpPr>
        <p:spPr>
          <a:xfrm>
            <a:off x="548640" y="3785616"/>
            <a:ext cx="402336" cy="402336"/>
          </a:xfrm>
          <a:prstGeom prst="ellipse">
            <a:avLst/>
          </a:prstGeom>
          <a:solidFill>
            <a:srgbClr val="2C5F2D"/>
          </a:solidFill>
          <a:ln/>
        </p:spPr>
      </p:sp>
      <p:pic>
        <p:nvPicPr>
          <p:cNvPr id="13" name="Image 3" descr="preencoded.png">    </p:cNvPr>
          <p:cNvPicPr>
            <a:picLocks noChangeAspect="1"/>
          </p:cNvPicPr>
          <p:nvPr/>
        </p:nvPicPr>
        <p:blipFill>
          <a:blip r:embed="rId4"/>
          <a:stretch>
            <a:fillRect/>
          </a:stretch>
        </p:blipFill>
        <p:spPr>
          <a:xfrm>
            <a:off x="653247" y="3890223"/>
            <a:ext cx="193121" cy="193121"/>
          </a:xfrm>
          <a:prstGeom prst="rect">
            <a:avLst/>
          </a:prstGeom>
        </p:spPr>
      </p:pic>
      <p:sp>
        <p:nvSpPr>
          <p:cNvPr id="14" name="Text 8"/>
          <p:cNvSpPr/>
          <p:nvPr/>
        </p:nvSpPr>
        <p:spPr>
          <a:xfrm>
            <a:off x="1143000" y="3831336"/>
            <a:ext cx="6858000" cy="365760"/>
          </a:xfrm>
          <a:prstGeom prst="rect">
            <a:avLst/>
          </a:prstGeom>
          <a:noFill/>
          <a:ln/>
        </p:spPr>
        <p:txBody>
          <a:bodyPr wrap="square" lIns="0" tIns="0" rIns="0" bIns="0" rtlCol="0" anchor="ctr"/>
          <a:lstStyle/>
          <a:p>
            <a:pPr indent="0" marL="0">
              <a:buNone/>
            </a:pPr>
            <a:r>
              <a:rPr lang="en-US" sz="1400" dirty="0">
                <a:solidFill>
                  <a:srgbClr val="E8F2DE"/>
                </a:solidFill>
                <a:latin typeface="Calibri" pitchFamily="34" charset="0"/>
                <a:ea typeface="Calibri" pitchFamily="34" charset="-122"/>
                <a:cs typeface="Calibri" pitchFamily="34" charset="-120"/>
              </a:rPr>
              <a:t>Print your Cambium Academy certificate on the spot</a:t>
            </a:r>
            <a:endParaRPr lang="en-US" sz="1400" dirty="0"/>
          </a:p>
        </p:txBody>
      </p:sp>
      <p:sp>
        <p:nvSpPr>
          <p:cNvPr id="15" name="Text 9"/>
          <p:cNvSpPr/>
          <p:nvPr/>
        </p:nvSpPr>
        <p:spPr>
          <a:xfrm>
            <a:off x="548640" y="4434840"/>
            <a:ext cx="8046720" cy="548640"/>
          </a:xfrm>
          <a:prstGeom prst="rect">
            <a:avLst/>
          </a:prstGeom>
          <a:noFill/>
          <a:ln/>
        </p:spPr>
        <p:txBody>
          <a:bodyPr wrap="square" lIns="0" tIns="0" rIns="0" bIns="0" rtlCol="0" anchor="ctr"/>
          <a:lstStyle/>
          <a:p>
            <a:pPr indent="0" marL="0">
              <a:buNone/>
            </a:pPr>
            <a:r>
              <a:rPr lang="en-US" sz="1300" b="1" dirty="0">
                <a:solidFill>
                  <a:srgbClr val="97BC62"/>
                </a:solidFill>
                <a:latin typeface="Calibri" pitchFamily="34" charset="0"/>
                <a:ea typeface="Calibri" pitchFamily="34" charset="-122"/>
                <a:cs typeface="Calibri" pitchFamily="34" charset="-120"/>
              </a:rPr>
              <a:t>Next week · Course 02: Prompting Essentials</a:t>
            </a:r>
            <a:endParaRPr lang="en-US" sz="1300" dirty="0"/>
          </a:p>
          <a:p>
            <a:pPr indent="0" marL="0">
              <a:buNone/>
            </a:pPr>
            <a:r>
              <a:rPr lang="en-US" sz="1100" dirty="0">
                <a:solidFill>
                  <a:srgbClr val="7FA06F"/>
                </a:solidFill>
                <a:latin typeface="Calibri" pitchFamily="34" charset="0"/>
                <a:ea typeface="Calibri" pitchFamily="34" charset="-122"/>
                <a:cs typeface="Calibri" pitchFamily="34" charset="-120"/>
              </a:rPr>
              <a:t>Cambium Academy · free forever · new course every week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AI - Cambium Academy Course 01</dc:title>
  <dc:subject>PptxGenJS Presentation</dc:subject>
  <dc:creator>Cambium Institute</dc:creator>
  <cp:lastModifiedBy>Cambium Institute</cp:lastModifiedBy>
  <cp:revision>1</cp:revision>
  <dcterms:created xsi:type="dcterms:W3CDTF">2026-07-09T01:11:06Z</dcterms:created>
  <dcterms:modified xsi:type="dcterms:W3CDTF">2026-07-09T01:11:06Z</dcterms:modified>
</cp:coreProperties>
</file>